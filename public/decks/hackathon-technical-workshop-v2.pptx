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workshop covers the full technical side of a hackathon: choosing and validating a problem, scoping an MVP, picking a stack, building a prototype, integrating AI, testing, security, deployment, and how judges score it. Slides carry short anchors and visuals; I explain everything verbally. Pitching and slide design are out of scope — this is the engineering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Part 1: what a hackathon is and how to pick a problem worth solving. Part 2: from raw idea to a concrete plan — ideation, MVP scoping, stack selection and the thin engineering workflow. Part 3 is a hands-on workshop on AI whiteboarding and prompt engineering for diagrams. Part 4 is the build itself: prototype workflow, Git, APIs, AI integration, testing, security, deployment. Part 5: how judges score engineering, the patterns that impress them, and the classic mistakes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hackathon is a time-boxed event — usually 24, 36 or 48 hours — where small teams build a working software prototype for a theme, starting from little or no pre-written code. Hack means rapid building, marathon means fixed endurance. A prototype is intentionally incomplete: it does the one important thing well and ignores the rest. Hackathons exist because they compress validation, learning and talent discovery into one weekend — and API sponsors want developers building on their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mindset shift matters more than any tool. Traditional development optimizes for production reliability over weeks and months. A hackathon optimizes for one convincing prototype in 24–48 hours: one magic feature done well, targeted manual testing on the critical path only, and whatever tech ships tonight. Success is simply: does the demo work and impress the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category shapes your stack, your APIs and what judges reward. AI events weight novelty of AI use; Web3 weights contract correctness and security; IoT means hardware integration. Every domain carries non-negotiables: Healthcare demands data privacy, FinTech demands careful money and secret handling, IoT means planning for unreliable hardware. Choose tools that respect the domain's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view of the whole event, register to submit, compressed to the ten moves that matter. Points to stress: read the rubric first — it tells you where the points are, so reading it is a technical act, not admin. Build the core feature first — the one thing everything depends on. Test the critical path, not everything — only the demo journey must be flawless. And deploy to a public URL so judges can actually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prize table: you compress the entire product lifecycle into one weekend, and you leave with a deployed project and a clean repo — portfolio artifacts that beat grades as proof of ability. You signal that you can ship under pressure and work in a team, you meet mentors, sponsors and future co-founders, and many startups literally began as hackathon prototypes. Finishing something real changes how you attack big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losing projects fail before a single line of code — they solve a problem nobody has, or one too big to finish in the time box. That makes problem choice the highest-leverage decision of the whole event. Keep problem and solution separate: 'people waste time finding parking' is a problem; 'a parking-map app' is already a solution, and naming it too early locks you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statement answers who, what, when-where, and why it matters. Use the template literally. The nurse example works because every bracket is filled with something specific and observable — you can picture the user and the pain. 'Hospitals need better software' fails every test: no user, no concrete pain, and nothing you could build in a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every candidate problem through this five-row check. One specific persona, a concrete observable pain, scope that fits the time box, evidence from a real observation, and framing that describes pain rather than naming a solution prematurely. If a row lands in the right-hand column, sharpen or swap the problem before investing the weekend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of real pain: your own friction from this week — you are the user, which is instant validation. Watching someone work and noting where they sigh or hack a workaround. Community complaints in forums and one-star reviews — raw pain plus frequency. Domain experts' most annoying repetitive task. And open data revealing structural gaps. Then validate: ask three target users — zero yeses means pick another problem. Score frequency times severity. And remember: existing workarounds are proof the pain is real enough that people already pay time or money to reduce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checking two things fast, not writing a business plan. First: does a solution already exist, and why is it insufficient? If strong ones exist, your edge is a specific gap they miss — a niche user, context or feature. Second: what can you borrow? Existing tools show the expected features and UX; reuse those patterns so your innovation budget goes only into your differentiator. Gap analysis: compare what tools do versus what users need — the missing piece is your project. The best opportunities are specific, under-served and buildable.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Ideation is deliberately generating and refining possible solutions to a validated problem — it is not picking your first thought. The shape is divergent-then-convergent: first generate many options without judging, then narrow to the strongest. Five methods that work under time pressure: a timed classic brainstorm where quantity beats quality; brainwriting, where everyone writes silently first so loud voices don't dominate; Crazy 8s — eight sketched directions in eight minutes; SCAMPER to transform an existing idea; and 'How Might We' to reframe the problem as an open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AI to widen the option space, not to decide. Ask for fifteen distinct approaches with different tech and curate the list. Have it draft personas and jobs-to-be-done for the team to react to. Ask it to surface assumptions — what must be true for this to work — and to sanity-check feasibility by listing the main components and their difficulty, which you verify rather than trust. The rule: AI widens and drafts; humans make the final call against the validated problem. AI hallucinates confidently — never let it choose your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 mapping plots each assumption on importance — does the idea die if it's false? — versus certainty — do we have evidence? Test the important-but-uncertain ones first. A risk is anything that could stop you finishing or break the demo: an unfamiliar API, a hard algorithm, hardware, an unconfirmed data source. The spike is the tool: a tiny throwaway experiment answering one risky question, like 'can we get a token from this API?'. Spend the first hour spiking your scariest risk. The feasibility check: list core components, name a tool for each, identify unknowns, spike each unknown for 15–30 minutes, and only then commit the team. A failed spike costs 30 minutes, not 20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in miniature. Validated problem: flatmates lose track of shared expenses. Diverge: eight approaches, from a chat bot to OCR receipts to NFC. Converge with MoSCoW: Musts are add expense, auto-compute balances, show who-owes-whom; Should is receipt photo; Could is OCR; Won't is bank integration. De-risk with two spikes — balance logic in ten minutes, auth and API in fifteen — both pass. Result: a minimal tap-to-split app with the Musts plus one delighter, a clean settle-up animation. Buildable, focused, demonstrable.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the smallest version that delivers the core value and can be demonstrated — minimum means as little as possible, viable means it actually works. In a hackathon the MVP is your submission. The transport analogy: the MVP is a working skateboard, not one car wheel — it must move a person, even if humbly. The magic moment is the single interaction that makes someone go 'oh, that's useful'; everything in the MVP exists to deliver it. Why MVPs win: finishable, demonstrable in minutes, fewer things break live, one strong feature is memorable. Feature creep — 'wouldn't it be cool if' — is the number-one reason teams don't finish. Write a Won't-do list and defend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slice: build one complete path end-to-end — UI to back-end to database and back to the screen — before adding breadth. A working slice is a working demo. Walking skeleton: a minimal end-to-end system with all layers connected but almost no features; prove the pipes connect early, then add features into a system that already runs. Time-boxing: give each task a hard time budget — when it's up, stop and move on with what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24-hour sprint: freeze scope and spike in the first two hours, build the vertical slice until hour 12, add one API or AI feature and the delighter until 18, test and deploy by 21, and keep a buffer — sleep an hour, it prevents 3 AM disasters. The 36-hour version adds a walking-skeleton phase, a second core feature with overnight rest in shifts, and a polish block. The 48-hour version: day one is validate, design, skeleton and first feature with real sleep; day two morning is the second feature and integrations, afternoon is polish, full critical-path testing and deploy, and the final block is code freeze, README and submission. Universal rule: feature freeze at roughly 80% of the time — the rest is only fixing, deploying, documenting, rehearsing.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tech stack is the combined set of technologies: front-end — what users see; back-end — server logic; database — stored data; plus auth, hosting, external APIs and AI. The golden rule: choose the tools your team can build with fastest tonight — usually what you already know. Optimize for development speed and finishing, not hypothetical scale. The meta-rule: familiarity beats better-but-unknown; a tool you know beats a superior tool you must learn during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is what runs in the user's browser. Plain HTML/CSS/JS has zero setup for simple demos; React has the biggest ecosystem and the most tutorials and AI help — the default if anyone knows it; Vue is gentler for beginners; Svelte is fast with little boilerplate; Next.js gives front plus back in one deployable app; no-code builders are fastest for non-core UI. Back-end runs logic and exposes APIs: Node with Express for JS teams, Next.js API routes for full-stack JS on Vercel, FastAPI for AI and Python work, Flask for small services — and Firebase or Supabase as Backend-as-a-Service, a hosted platform giving database, auth and storage so you write little or no server code. Defaults: JS team → React or Next.js; AI/Python → FastAPI; minimal backend → BaaS.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React Native gives one codebase for iOS and Android reusing JS skills; Expo makes setup instant with QR-code preview; Flutter is fast and pretty if the team knows Dart; a PWA is a website that installs like an app. Tip: unless the demo genuinely needs a phone — camera, sensors, on-the-go — a responsive web app or PWA is faster and easier for judges to open from a link. Databases: SQL means tables with enforced relationships — Postgres, MySQL, SQLite; NoSQL is flexible and document-based — MongoDB, Firestore. Structured data with relations: Postgres or MySQL. Zero-setup tiny: SQLite, a file with no server. Flexible and fast-changing: MongoDB. Realtime with minimal backend: Firestore. SQL plus BaaS convenience: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verifies who a user is; authorization decides what they may do. Don't build auth from scratch — Firebase Auth for the fastest social login, Supabase Auth, Auth0 or Clerk for production-grade speed, NextAuth for Next.js; pick the one matching your stack and move on. Hosting quick map: static front-ends → Vercel, Netlify, Cloudflare Pages; Next.js full-stack → Vercel; Node or Python backends → Render, Railway, Fly.io; BaaS apps deploy with Firebase or Supabase. APIs and SDKs: an API is a defined way for one program to request services from another; an SDK wraps that API in your language so you call functions instead of raw requests — prefer the official SDK. Rule: anything that isn't your core innovation — auth, payments, email, maps, AI — integrate, don't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AI and hardware building blocks: for anything smart, call pre-trained LLM, vision or speech APIs — don't train models; for IoT, Arduino or ESP32 with an MQTT broker, and always build a software fallback for flaky hardware. Then the one-slide answer to 'what should we use': a JavaScript team goes React or Next.js, Next.js API routes or Express, Firestore or Supabase, on Vercel. A Python team pairs a simple front with FastAPI or Flask, Supabase or SQLite, on Render or Railway. Little coding experience: no-code plus Firebase as the whole backend. By duration: 24 hours means maximize BaaS with minimal custom backend; 36 allows one custom service; 48 allows richer architecture but still freeze scope early. By judging emphasis: AI novelty → spend budget on the AI integration; UX → invest in the front-end with BaaS behind; technical depth → showcase one hard component, keep the rest minimal.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engineering workflow professionals use — run fast and thin. In a hackathon each step takes minutes, not days: quick requirements, a couple of user stories, wireframes on paper, a small ER sketch, an API plan, then build modularly, integrate and test. Skipping these steps entirely is what causes mismatched pieces that don't connect at 2 AM. Do the thin version and the pieces meet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functional requirement is what the system does — 'user can add an expense'. A non-functional requirement is how well — 'balances update in under a second', 'passwords never stored in plaintext'. List three to seven functional requirements — your Musts — and two or three NFRs that matter for the demo. A user story frames a requirement from the user's view: as a flatmate, I want to add a shared expense, so balances update automatically. Acceptance criteria make it testable: given I'm logged in, when I enter amount and payer, the expense saves and balances recompute; zero or negative amounts are rejected. They double as your manual test cases and they end 'is it finished'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wireframe is a rough layout sketch — boxes and labels — answering 'what goes where' fast. Low-fidelity is rough and non-clickable, for aligning the team quickly; high-fidelity is polished and clickable — skip it, your running app becomes the high-fidelity artifact. UI is the visual surface; UX is how it feels. Principles: clarity over cleverness, one primary action per screen, feedback for every action, forgiveness — validate inputs with helpful errors — and consistency through reused components. Keep information architecture shallow. And map the demo path — the exact clicks you'll show judges — and make it flawless.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ER diagram is a picture of your data: entities like User and Expense as boxes, their attributes, and relationships — a User has many Expenses. List the nouns, give each a few fields, draw the relationships; the diagram maps almost directly to your tables. For the API: an endpoint is a URL plus method the back-end exposes. REST acts on resources with GET, POST, PUT and DELETE — simple, universal, the default. GraphQL lets the client ask for exactly what it wants but is more setup — usually overkill. Agree a tiny API contract before coding, so front-end and back-end build in parallel and meet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monolith is one codebase containing everything — the hackathon default. Microservices are powerful at scale and almost always wrong for a hackathon — too much plumbing. MVC and layered patterns organize routes, business logic and data access; event-driven is only for genuinely real-time cores. Default: a monolith with light layered structure. Modular development splits code into self-contained modules so teammates don't collide; agree the folder structure in the first 30 minutes. The 30-minute design pass on the expense app: requirements, stories, two wireframes, ER sketch, two-endpoint API plan, Next.js monolith with Supabase, repo agreed — then front-end codes against the contract while back-end implements it, and they meet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collaborative whiteboard is a shared infinite canvas where several people draw, add sticky notes and diagram together in real time — brainstorming, wireframes, flowcharts, architecture, ER diagrams, story mapping, sprint planning. AI whiteboarding is the newer generation: the board generates diagrams, flowcharts and mind-maps from a text prompt, collapsing draw-it-by-hand into prompt-then-refine. Two payoffs in a hackathon: they align a distributed team in minutes, and they produce the architecture and ER diagrams that make your engineering visible to judges. Pricing and AI features change fast — re-verify before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 table: for collaborative brainstorming and workshops, Miro or FigJam. For free unlimited sketching, Excalidraw or Microsoft Whiteboard. For precise technical diagrams, Lucidchart, Eraser AI or draw.io. Developer-embeddable canvas: tldraw — its make-real turns a sketch into UI. Structured product planning: Whimsical. Pricing signals change fast — verify each vendor's page before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job to the tool. Diagram and flowchart generation: Miro, FigJam, Whimsical, Lucidchart, Eraser AI. System architecture, UML and API docs: Eraser AI, Lucidchart, draw.io — Eraser's diagram-as-code is very fast. ER and database diagrams: Lucidchart, draw.io, Eraser. Mind mapping and story or journey mapping: Miro, FigJam, Whimsical. Sprint boards: Miro, FigJam. Wireframes: Whimsical, FigJam, Excalidraw — or tldraw's make-real to jump from sketch to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the text instruction you give an AI tool; prompt engineering is writing prompts that reliably produce what you want. For AI whiteboards a good prompt turns a sentence into a usable diagram and saves enormous manual drawing. Every good diagram prompt has five parts: the artifact type — flowchart, ER, sequence; the subject and context; the elements to include; the relationships or order; and constraints — direction, grouping, level of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a user-login flowchart. Beginner: 'make a flowchart of a user logging in' — you get something generic. Intermediate adds direction and branches: top-to-bottom, validate, check credentials, valid goes to dashboard, invalid shows an error and returns, plus a forgot-password branch. Advanced names the mechanism: token-based auth, client validation, POST /auth/login, access token on success or 401 on failure, decision diamonds for validations, separate client and server lanes. The rule of the ladder: more detail in, closer first draft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templates to keep on hand — swap the brackets and go. Architecture: components, data flow client to server to database, calls to external services, grouped by layer. ER: entities with key fields, relationships, primary keys and cardinality. Sequence: participants and ordered messages — request, validation, DB write, external call, response. User flow: entry point, each screen and decision, success end state, main error branches. Logic flowchart: ordered steps, decision diamonds on conditions, top-to-bottom. RAG pipeline: query → embedding → vector search → retrieved chunks → prompt with context → answer. The full handbook adds roadmap, persona, sprint-plan, cloud-infrastructure and API-docs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expect the first generation to be final. Iterate: generate, inspect, then send correction prompts — add an error branch, split backend and DB, reduce to 8 nodes. Optimize up front: be specific about elements and layout, cap the node count, specify direction and grouping, use your real component names. Debug by symptom: too generic means add concrete names and relationships; a missing case must be requested explicitly; too cluttered means cap nodes or split into two diagrams; wrong shape means restate the artifact type; wrong relationships mean spelling out the cardinality.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pipeline: repo and environment setup first, then a walking skeleton so all layers connect, then UI screens, backend endpoints, database, auth, API and AI integration, testing, deploy, iterate. Each stage builds on a system that already runs — that's the trick that keeps you demoable at every hour of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one path that delivers the magic moment end to end: the screens for the core action, the endpoints they call per your API contract, the table it reads and writes, and a visible round-trip UI to API to DB and back. Only after this slice works do you add breadth. Then layer integrations in priority order, testing each before the next: backend endpoints, database wiring, auth via a provider — only if the demo needs login, otherwise stub a user — external APIs, and finally the AI call powering your smart feature. Best practice: add one integration, test it in isolation, commit, move on. Never stack three unverified integrations and debug them together at 2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the critical path continuously as you build, not only at the end. Debug methodically: read the actual error, reproduce the smallest failing case, check logs, isolate the layer. Keep a basic health check and logs on the deployed app so you catch a broken deploy before the judges do. Deploy early and often so works-on-my-machine never becomes a demo-day disaster. Version-control throughout: commit small, push often, use branches. And for release: decide the demo build, freeze it, and tag the final commit so you can always return to the known-good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expense-splitter, hour by hour. Hour one: repo, Next.js scaffold, Supabase connected, and hello-world already live on Vercel. Hours two to three: walking skeleton — an empty add-expense form posting to a stub endpoint that writes a row. Hours three to eight: the vertical slice — real balance computation and the balances screen. Then the delighter — the settle-up animation. Auth via Supabase at hours ten to twelve, or a stub if time is tight. Hours twelve to fifteen: test the critical path, deploy, README. Anything extra happens on a branch only if stable time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records code changes over time so you can review history, undo mistakes and combine work from multiple people. Without it, teammates overwrite each other and one bad change destroys hours of work. Git is the tool running locally; GitHub hosts repos online for collaboration and backup — and your repo is itself a judging artifact: clean history plus a good README earn points. The picture: the repository holds the project's full history on main; a branch is an independent line of work; commits are saved snapshots; a pull request proposes merging back, reviewable before combining; merge combines it into main. Clone copies a repo, push uploads commits, pull downloads them. A merge conflict happens when two people change the same lines — you resolve it by choosing the correct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requests let a teammate catch bugs before they hit main — keep reviews to a quick sanity glance. An issue is a tracked task or bug; a project board is a Kanban of To-do, In-progress, Done built from issues — your live backlog, so anyone free pulls the next task. Best practice: turn your MoSCoW Musts into issues, put them on the board, assign owners. Conflicts: prevent them with small branches, frequent pulls and an agreed folder structure so people touch different files. When one happens, Git marks the conflicting lines; open the file, choose the correct combined code, delete the markers, commit. Talk to the teammate whose code you're merging — and stay calm: conflicts are normal, not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APIs authenticate you: an API key is a secret string identifying your app, sent with each request — simplest; keep it in an environment variable, never in code. OAuth lets users grant your app limited access to their account elsewhere — sign in with Google — without sharing their password; use a provider SDK. A bearer token or JWT is sent in the request header to prove you're authenticated. Rate limits cap how many calls you may make in a window — exceed them and you get 429 errors, so check limits before relying on an API in a live demo. Control cost and risk: cache responses, batch requests, pre-generate demo data so the live demo makes few real calls, and keep a fallback or mock in case the API fails mid-demo.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integrations by need. Login: Firebase or Supabase Auth, Auth0, Clerk — don't build auth. Payments: Stripe in test or sandbox mode — never real cards in a demo. Maps: Google Maps or Mapbox on free tiers — watch key restrictions. Email: Resend or SendGrid with a simple API-key send. SMS and notifications: Twilio with trial credit. Messaging and chat: Firebase, Ably, Pusher. File storage: Firebase or Supabase Storage, or S3. And AI — text, vision, speech — is Module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to know: LLM APIs for text understanding and generation — chat, summarize, extract. Vision APIs for labeling, OCR — reading text from images — and detection. Speech APIs for speech-to-text and text-to-speech. Translation APIs. And bundled cloud AI services from the major providers. The rule stays the same: if you need smart, call a pre-trained AI API — don't train a model in a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pre-trained model is a model already trained by a provider that you use via an API — send input, get output, no training. In a hackathon you call a pre-trained model; you don't train one, because training needs data, time and compute you don't have. An LLM — large language model — is an AI trained on vast text that understands and generates language: chat, summarize, extract, answer questions, analyze code. This one rule shapes every AI decision this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tiers. Frontier — GPT-5.x, Claude Opus 4.8, Gemini 3.x Pro — for the hardest reasoning, when AI is your differentiator, two to thirty dollars per million tokens. Mid-tier — Claude Sonnet 5, GPT-5 mid, Gemini Pro — the best quality-per-dollar for most features. Budget — Flash-Lite, DeepSeek, small models — for bulk simple tasks under a dollar. Open-weight — Llama 4, Qwen — free API cost but GPU hosting, for privacy or offline. Vocabulary: a token is about three-quarters of a word, billed on input plus output; the context window is the max tokens considered at once; a router like OpenRouter gives one API over many models. Grab free tiers early. Selection rule: default mid-tier, frontier only for hard reasoning, budget for bulk. Verify prices — they change every few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for reliable LLM features: be explicit about role, task and format — summarize in three bullets, return only the bullets. Few-shot: show one to three input-output examples. Constrain output: ask for JSON when code will parse it, then parse safely. Set boundaries: if the answer isn't in the context, say you don't know. Iterate against real inputs until reliable. Then the guardrails: hallucination is confident but false output — never trust it blindly. Ground answers with RAG, show sources, validate structured output, keep a human in the loop for anything consequential. Don't send secrets or personal data to third-party AI carelessly; be transparent that AI is used. Fine-tuning is rarely worth it here — prompting plus RAG is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instead of relying only on the model's built-in knowledge, you retrieve relevant documents and feed them into the prompt, so the model answers from your data — grounding answers and reducing made-up facts. The pipeline: embed the user's question, search the vector database for similar chunks, retrieve the top matches, build a prompt of question plus chunks, and the LLM generates a grounded answer with sources. Three definitions: an embedding is a numeric vector of text that captures meaning — similar meanings, similar vectors. A vector database stores embeddings and finds the most similar to a query — semantic search. Chunking splits documents into smaller pieces before embedding so retrieval returns focused passages.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one API call away: OCR to extract text from images and PDFs — receipts, documents. Speech recognition and text-to-speech for voice features. Computer vision to detect and label objects, faces, scenes. Recommendations from behaviour or similarity, and summarization — reliable and demo-friendly. A chatbot is a conversational UI over an LLM, optionally with RAG. An AI agent takes actions and uses tools for multi-step tasks — powerful but adds complexity, use it only if your core needs it; multimodal AI handles text, images and audio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copy-paste architectures. Chatbot over your docs: chat UI to backend, embed the query, vector DB retrieval, LLM answers grounded with sources. Document or receipt understanding: upload an image, OCR or vision extracts text, the LLM structures it as JSON, you store and display it. Voice feature: microphone to speech-to-text, LLM, text-to-speech reply. Summarizer: long text into an LLM with a strict three-bullet prompt, display the result. Pick the one closest to your feature and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test everything in 36 hours. The critical path is the exact sequence of actions in your demo — the one journey that must work flawlessly. Test it thoroughly and spot-check the rest: a demo that crashes on the main path is fatal; a bug in an unused corner is harmless. Priorities: high — manual click-throughs as your main method, functional checks of each Must, and integration where UI, API, DB and external services meet, because that's where things break. Medium — API testing with Postman, and usability: ask a stranger or another team. Low — performance beyond demo-speed, and automated unit tests except for genuinely tricky core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in order, then around again. Read the actual error message — it usually says what and where; don't guess. Reproduce the smallest case that triggers it. Isolate the layer: UI, API, database or external service. Inspect the data: log values in and out at the failure point. Fix one thing and retest — change one variable at a time. Commit the fix. And the rapid-fix rules: triage by impact — demo-path bugs first; timebox 20 to 30 minutes, then work around — disable the feature, mock it, hard-code a safe value; keep main green — fix on a branch, never debug the live demo build; and pair on nasty bugs — fresh eyes and rest beat 3 AM heroics.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records what your program does — values, steps, errors — so you can see inside it; add logs at integration points and tricky logic. Error handling anticipates failures — bad input, API down — and responds gracefully with a friendly message or fallback instead of crashing; wrap risky calls in try/catch so one failure doesn't take down the demo. Monitoring watches the deployed app's health via logs and uptime checks. Edge cases are unusual boundary inputs — empty, zero, negative, huge, missing field, no network — and judges love to try them. Input validation checks inputs before use — it prevents crashes and doubles as security. Resilience means the app keeps working or fails gracefully: API down → cached or mock data; bad input → clear error. Build it into the demo path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 especially in FinTech, Healthcare and Cybersecurity — notice basic security. A few habits prevent disasters like a leaked API key that gets abused or a trivially hackable login. You won't build bank-grade security in a weekend; you will avoid rookie mistakes. First distinction: authentication verifies who the user is — login. Authorization verifies what they're allowed to do — permissions. Use a provider for authentication, and check authorization on the server, never only in the UI. Hiding a button is not security — the endpoint itself must enforce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JWT: a compact signed token issued at login and sent on later requests to prove identity — tamper-proof but readable, so no secrets in the payload; store tokens in httpOnly cookies where possible, set expiries, never log them. OAuth: log in via Google or GitHub without ever seeing their password — use an SDK. Passwords: never store them in plaintext; providers handle this correctly, which is a strong reason to use one. Hashing converts a password into an irreversible fingerprint with bcrypt or argon2 — if you must handle passwords, hash them, never store raw or merely encrypted. Encryption: in transit always HTTPS — free on modern hosts; at rest, managed databases encrypt for you. You rarely implement it yourself — you use HTTPS and managed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classics. SQL injection: malicious database commands smuggled in via input fields; defense — parameterized queries or an ORM, never build SQL by pasting user input. XSS: injected scripts that run in other users' browsers; never insert raw user input as HTML — frameworks like React escape output by default. CSRF: tricking a logged-in browser into unwanted requests; anti-CSRF tokens and sameSite cookies — your auth library handles this. Validate and sanitize every input server-side — it prevents crashes and several attack classes at once. And the secrets rules from 13.7: never commit secrets — .env in .gitignore; read keys from environment variables, never hard-code; if a secret leaks, rotate and revoke immediately. Least privilege everywhere; don't expose databases publicly; use fake data in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means putting your app on the internet at a public URL so anyone — judges! — can use it. Works-on-my-machine is worthless if judges can't open it. Deploy a hello-world in hour one to prove the pipeline, then redeploy continuously. Concepts: hosting runs and serves your app; static hosting is for front-ends that are just files — fast and free; server hosting runs back-ends continuously; serverless runs code per request and scales to zero when idle — cheap for demos; a container bundles app plus dependencies to run identically anywhere — optional; CI/CD automates testing and deploying on each push — optional but pleasant.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you'll actually use: Vercel for front-ends and Next.js full-stack — git-push to live in minutes, the Next.js default. Netlify for static sites and serverless functions. Supabase as the Postgres BaaS backend to pair with a Vercel front-end. Firebase for hosting plus auth plus DB in one. Render for Node and Python backends and containers with a free tier. Railway for very easy backends and databases. Cloudflare Pages and Fly.io are fine alternatives; AWS, Azure and GCP can do everything but are usually overkill unless a teammate already knows them. Default combo: Vercel or Netlify front, Supabase or Firebase back and DB, Render or Railway for separate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front-end: Vercel, Netlify or Cloudflare Pages — connect the repo and every push auto-deploys. Next.js full-stack: Vercel serves front plus API routes together. Separate backend: Render, Railway or Fly.io, with env vars set in the dashboard. Mobile: distribute a test build via an Expo link or QR, or demo a PWA URL — app-store submission is far too slow for a weekend. AI apps deploy like any web app — the AI is just an API call; keep the key in the host's env vars. Databases: use a managed one — Supabase, Firebase or hosted Postgres; don't run your own database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judging rubric is the scoring sheet judges use — it tells you exactly where points come from. Treat it as a technical specification and invest engineering effort where the points are. If deployment is scored, deploy; if documentation is scored, polish the README; if AI novelty is weighted, put your budget there. Reading it early is an engineering act, not admin — it's the requirements document for winning.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thirteen recurring dimensions and the technical move that wins each: innovation — one genuinely novel element, your scary thing. Complexity — showcase the one hard component clearly. Implementation quality — a solid, tested critical path with no crashes. Architecture — clean diagrams and a sensible stack. Scalability — note realistically how it would grow. Usability — clear UX on the demo path. AI integration — purposeful and grounded, not gimmicky. Performance and robustness — handle edge cases, fail gracefully. Code quality — structure, naming, no dead code. Documentation — a strong README. Testing — evidence you tested the critical path. Deployment — a working public URL. Maintainability — modular code others could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pattern is a proven, reusable solution to a common software problem — know a few, don't over-apply them. Component-based UI: build screens from small reusable components, the default for modern front-ends. Layered or MVC back-end: separate routes, business logic, and data access. Light repository pattern: put all database access behind a small set of functions so the rest of the code never touches the DB directly — easy to swap or mock. Client-server: front-end talks to back-end through your API contract. And the adapter or wrapper: wrap each third-party API in your own small module so if it changes or fails you fix one place — and you can mock it. Excellent resilience for demo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README earns documentation points and helps judges and teammates. The skeleton: project name with a one-sentence description of what it does and for whom; the problem and who has it; the solution and its magic moment; the live demo URL near the top — judges click it; the tech stack; architecture with embedded diagrams; key features including the differentiator; how-it-works for the one hard technical problem; running locally — clone, install, env vars, run; and the team with roles. Comment rule: explain why, not what — the tricky bits, not the obvious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failure modes by stage. Choosing: solving an imaginary problem — validate with real users first; a problem too big — narrow to one persona, one pain; falling in love with the first idea — generate alternatives, then choose; feature creep — MoSCoW and defend the Won't list. Tech: learning a new framework mid-event — use known tools; building auth or payments from scratch — integrate providers; over-engineering — a simple monolith plus managed services. Building: no deploy until the end — hello-world in hour one; breadth before a working slice — vertical slice first; hard-coded secrets — env vars and gitignore; stacked unverified integrations — one at a time. Testing and demo: only localhost — test the deployed build on another device; no error handling — validate inputs; last-minute code changes — feature freeze and tag the build. Team: no version control — Git from minute one; everyone on one task — modules, owners, a board; no sleep — rest in shifts; no README — write it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from winning teams: scope tiny and finish — one polished, deployed feature plus one delighter. Deploy on day one and keep main always working. Integrate, don't reinvent. Attack the scariest risk first with a spike and pivot early if it fails. Document and diagram so the repo makes the engineering legible. Test the demo path relentlessly on the real deployed build. And rest — clear heads ship working software. Everything transfers to real-world engineering: version control and PRs, designing before building, API contracts enabling parallel work, env-var secret management, deploy-early culture, methodical debugging, and managed services to move fast. A hackathon is professional software work,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Recap the spine: validate the problem, scope an MVP, build one vertical slice, integrate rather than reinvent, test the demo path, deploy early, submit with a clean repo and README. Mentors are available during the build. A small finished thing beats a large broken one —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slideLayout" Target="../slideLayouts/slideLayout1.xml"/><Relationship Id="rId9"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slideLayout" Target="../slideLayouts/slideLayout1.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slideLayout" Target="../slideLayouts/slideLayout1.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slideLayout" Target="../slideLayouts/slideLayout1.xml"/><Relationship Id="rId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822960" y="868680"/>
            <a:ext cx="7772400" cy="320040"/>
          </a:xfrm>
          <a:prstGeom prst="rect">
            <a:avLst/>
          </a:prstGeom>
          <a:noFill/>
          <a:ln/>
        </p:spPr>
        <p:txBody>
          <a:bodyPr wrap="square" lIns="0" tIns="0" rIns="0" bIns="0" rtlCol="0" anchor="ctr"/>
          <a:lstStyle/>
          <a:p>
            <a:pPr indent="0" marL="0">
              <a:buNone/>
            </a:pPr>
            <a:r>
              <a:rPr lang="en-US" sz="1400" spc="400" kern="0" dirty="0">
                <a:solidFill>
                  <a:srgbClr val="7C8CA5"/>
                </a:solidFill>
                <a:latin typeface="Consolas" pitchFamily="34" charset="0"/>
                <a:ea typeface="Consolas" pitchFamily="34" charset="-122"/>
                <a:cs typeface="Consolas" pitchFamily="34" charset="-120"/>
              </a:rPr>
              <a:t>MENTOR WORKSHOP · TECHNICAL TRACK</a:t>
            </a:r>
            <a:endParaRPr lang="en-US" sz="1400" dirty="0"/>
          </a:p>
        </p:txBody>
      </p:sp>
      <p:sp>
        <p:nvSpPr>
          <p:cNvPr id="4" name="Text 1"/>
          <p:cNvSpPr/>
          <p:nvPr/>
        </p:nvSpPr>
        <p:spPr>
          <a:xfrm>
            <a:off x="822960" y="1234440"/>
            <a:ext cx="10607040" cy="2103120"/>
          </a:xfrm>
          <a:prstGeom prst="rect">
            <a:avLst/>
          </a:prstGeom>
          <a:noFill/>
          <a:ln/>
        </p:spPr>
        <p:txBody>
          <a:bodyPr wrap="square" lIns="0" tIns="0" rIns="0" bIns="0" rtlCol="0" anchor="ctr"/>
          <a:lstStyle/>
          <a:p>
            <a:pPr indent="0" marL="0">
              <a:lnSpc>
                <a:spcPct val="102000"/>
              </a:lnSpc>
              <a:buNone/>
            </a:pPr>
            <a:r>
              <a:rPr lang="en-US" sz="5400" dirty="0">
                <a:solidFill>
                  <a:srgbClr val="FFFFFF"/>
                </a:solidFill>
                <a:latin typeface="Arial Black" pitchFamily="34" charset="0"/>
                <a:ea typeface="Arial Black" pitchFamily="34" charset="-122"/>
                <a:cs typeface="Arial Black" pitchFamily="34" charset="-120"/>
              </a:rPr>
              <a:t>THE TECHNICAL
</a:t>
            </a:r>
            <a:pPr indent="0" marL="0">
              <a:lnSpc>
                <a:spcPct val="102000"/>
              </a:lnSpc>
              <a:buNone/>
            </a:pPr>
            <a:r>
              <a:rPr lang="en-US" sz="5400" dirty="0">
                <a:solidFill>
                  <a:srgbClr val="22D3EE"/>
                </a:solidFill>
                <a:latin typeface="Arial Black" pitchFamily="34" charset="0"/>
                <a:ea typeface="Arial Black" pitchFamily="34" charset="-122"/>
                <a:cs typeface="Arial Black" pitchFamily="34" charset="-120"/>
              </a:rPr>
              <a:t>HACKATHON PLAYBOOK</a:t>
            </a:r>
            <a:endParaRPr lang="en-US" sz="5400" dirty="0"/>
          </a:p>
        </p:txBody>
      </p:sp>
      <p:sp>
        <p:nvSpPr>
          <p:cNvPr id="5" name="Text 2"/>
          <p:cNvSpPr/>
          <p:nvPr/>
        </p:nvSpPr>
        <p:spPr>
          <a:xfrm>
            <a:off x="822960" y="3520440"/>
            <a:ext cx="9875520" cy="457200"/>
          </a:xfrm>
          <a:prstGeom prst="rect">
            <a:avLst/>
          </a:prstGeom>
          <a:noFill/>
          <a:ln/>
        </p:spPr>
        <p:txBody>
          <a:bodyPr wrap="square" lIns="0" tIns="0" rIns="0" bIns="0" rtlCol="0" anchor="ctr"/>
          <a:lstStyle/>
          <a:p>
            <a:pPr indent="0" marL="0">
              <a:buNone/>
            </a:pPr>
            <a:r>
              <a:rPr lang="en-US" sz="1800" dirty="0">
                <a:solidFill>
                  <a:srgbClr val="F1F5F9"/>
                </a:solidFill>
                <a:latin typeface="Calibri" pitchFamily="34" charset="0"/>
                <a:ea typeface="Calibri" pitchFamily="34" charset="-122"/>
                <a:cs typeface="Calibri" pitchFamily="34" charset="-120"/>
              </a:rPr>
              <a:t>Zero to confident: problem → validated idea → MVP → stack → build → AI → test → secure → deploy → judged.</a:t>
            </a:r>
            <a:endParaRPr lang="en-US" sz="1800" dirty="0"/>
          </a:p>
        </p:txBody>
      </p:sp>
      <p:sp>
        <p:nvSpPr>
          <p:cNvPr id="6" name="Shape 3"/>
          <p:cNvSpPr/>
          <p:nvPr/>
        </p:nvSpPr>
        <p:spPr>
          <a:xfrm>
            <a:off x="822960" y="4343400"/>
            <a:ext cx="6949440" cy="1828800"/>
          </a:xfrm>
          <a:prstGeom prst="roundRect">
            <a:avLst>
              <a:gd name="adj" fmla="val 6000"/>
            </a:avLst>
          </a:prstGeom>
          <a:solidFill>
            <a:srgbClr val="141E33"/>
          </a:solidFill>
          <a:ln/>
          <a:effectLst>
            <a:outerShdw sx="100000" sy="100000" kx="0" ky="0" algn="bl" rotWithShape="0" blurRad="114300" dist="38100" dir="5400000">
              <a:srgbClr val="000000">
                <a:alpha val="45000"/>
              </a:srgbClr>
            </a:outerShdw>
          </a:effectLst>
        </p:spPr>
      </p:sp>
      <p:sp>
        <p:nvSpPr>
          <p:cNvPr id="7" name="Shape 4"/>
          <p:cNvSpPr/>
          <p:nvPr/>
        </p:nvSpPr>
        <p:spPr>
          <a:xfrm>
            <a:off x="822960" y="4343400"/>
            <a:ext cx="6949440" cy="457200"/>
          </a:xfrm>
          <a:prstGeom prst="roundRect">
            <a:avLst>
              <a:gd name="adj" fmla="val 24000"/>
            </a:avLst>
          </a:prstGeom>
          <a:solidFill>
            <a:srgbClr val="1B2842"/>
          </a:solidFill>
          <a:ln/>
        </p:spPr>
      </p:sp>
      <p:sp>
        <p:nvSpPr>
          <p:cNvPr id="8" name="Shape 5"/>
          <p:cNvSpPr/>
          <p:nvPr/>
        </p:nvSpPr>
        <p:spPr>
          <a:xfrm>
            <a:off x="1097280" y="4507992"/>
            <a:ext cx="128016" cy="128016"/>
          </a:xfrm>
          <a:prstGeom prst="ellipse">
            <a:avLst/>
          </a:prstGeom>
          <a:solidFill>
            <a:srgbClr val="F59E0B"/>
          </a:solidFill>
          <a:ln/>
        </p:spPr>
      </p:sp>
      <p:sp>
        <p:nvSpPr>
          <p:cNvPr id="9" name="Shape 6"/>
          <p:cNvSpPr/>
          <p:nvPr/>
        </p:nvSpPr>
        <p:spPr>
          <a:xfrm>
            <a:off x="1371600" y="4507992"/>
            <a:ext cx="128016" cy="128016"/>
          </a:xfrm>
          <a:prstGeom prst="ellipse">
            <a:avLst/>
          </a:prstGeom>
          <a:solidFill>
            <a:srgbClr val="A3E635"/>
          </a:solidFill>
          <a:ln/>
        </p:spPr>
      </p:sp>
      <p:sp>
        <p:nvSpPr>
          <p:cNvPr id="10" name="Shape 7"/>
          <p:cNvSpPr/>
          <p:nvPr/>
        </p:nvSpPr>
        <p:spPr>
          <a:xfrm>
            <a:off x="1645920" y="4507992"/>
            <a:ext cx="128016" cy="128016"/>
          </a:xfrm>
          <a:prstGeom prst="ellipse">
            <a:avLst/>
          </a:prstGeom>
          <a:solidFill>
            <a:srgbClr val="22D3EE"/>
          </a:solidFill>
          <a:ln/>
        </p:spPr>
      </p:sp>
      <p:sp>
        <p:nvSpPr>
          <p:cNvPr id="11" name="Text 8"/>
          <p:cNvSpPr/>
          <p:nvPr/>
        </p:nvSpPr>
        <p:spPr>
          <a:xfrm>
            <a:off x="2011680" y="4343400"/>
            <a:ext cx="5029200" cy="457200"/>
          </a:xfrm>
          <a:prstGeom prst="rect">
            <a:avLst/>
          </a:prstGeom>
          <a:noFill/>
          <a:ln/>
        </p:spPr>
        <p:txBody>
          <a:bodyPr wrap="square" lIns="0" tIns="0" rIns="0" bIns="0" rtlCol="0" anchor="ctr"/>
          <a:lstStyle/>
          <a:p>
            <a:pPr indent="0" marL="0">
              <a:buNone/>
            </a:pPr>
            <a:r>
              <a:rPr lang="en-US" sz="1200" dirty="0">
                <a:solidFill>
                  <a:srgbClr val="7C8CA5"/>
                </a:solidFill>
                <a:latin typeface="Consolas" pitchFamily="34" charset="0"/>
                <a:ea typeface="Consolas" pitchFamily="34" charset="-122"/>
                <a:cs typeface="Consolas" pitchFamily="34" charset="-120"/>
              </a:rPr>
              <a:t>mentor@hackathon: ~/workshop</a:t>
            </a:r>
            <a:endParaRPr lang="en-US" sz="1200" dirty="0"/>
          </a:p>
        </p:txBody>
      </p:sp>
      <p:sp>
        <p:nvSpPr>
          <p:cNvPr id="12" name="Text 9"/>
          <p:cNvSpPr/>
          <p:nvPr/>
        </p:nvSpPr>
        <p:spPr>
          <a:xfrm>
            <a:off x="1143000" y="4983480"/>
            <a:ext cx="6309360" cy="457200"/>
          </a:xfrm>
          <a:prstGeom prst="rect">
            <a:avLst/>
          </a:prstGeom>
          <a:noFill/>
          <a:ln/>
        </p:spPr>
        <p:txBody>
          <a:bodyPr wrap="square" lIns="0" tIns="0" rIns="0" bIns="0" rtlCol="0" anchor="ctr"/>
          <a:lstStyle/>
          <a:p>
            <a:pPr indent="0" marL="0">
              <a:buNone/>
            </a:pPr>
            <a:r>
              <a:rPr lang="en-US" sz="2000" dirty="0">
                <a:solidFill>
                  <a:srgbClr val="22D3EE"/>
                </a:solidFill>
                <a:latin typeface="Consolas" pitchFamily="34" charset="0"/>
                <a:ea typeface="Consolas" pitchFamily="34" charset="-122"/>
                <a:cs typeface="Consolas" pitchFamily="34" charset="-120"/>
              </a:rPr>
              <a:t>&gt; </a:t>
            </a:r>
            <a:pPr indent="0" marL="0">
              <a:buNone/>
            </a:pPr>
            <a:r>
              <a:rPr lang="en-US" sz="2000" dirty="0">
                <a:solidFill>
                  <a:srgbClr val="A3E635"/>
                </a:solidFill>
                <a:latin typeface="Consolas" pitchFamily="34" charset="0"/>
                <a:ea typeface="Consolas" pitchFamily="34" charset="-122"/>
                <a:cs typeface="Consolas" pitchFamily="34" charset="-120"/>
              </a:rPr>
              <a:t>build. test. ship._</a:t>
            </a:r>
            <a:endParaRPr lang="en-US" sz="2000" dirty="0"/>
          </a:p>
        </p:txBody>
      </p:sp>
      <p:sp>
        <p:nvSpPr>
          <p:cNvPr id="13" name="Text 10"/>
          <p:cNvSpPr/>
          <p:nvPr/>
        </p:nvSpPr>
        <p:spPr>
          <a:xfrm>
            <a:off x="1143000" y="5532120"/>
            <a:ext cx="6309360" cy="365760"/>
          </a:xfrm>
          <a:prstGeom prst="rect">
            <a:avLst/>
          </a:prstGeom>
          <a:noFill/>
          <a:ln/>
        </p:spPr>
        <p:txBody>
          <a:bodyPr wrap="square" lIns="0" tIns="0" rIns="0" bIns="0" rtlCol="0" anchor="ctr"/>
          <a:lstStyle/>
          <a:p>
            <a:pPr indent="0" marL="0">
              <a:buNone/>
            </a:pPr>
            <a:r>
              <a:rPr lang="en-US" sz="1300" dirty="0">
                <a:solidFill>
                  <a:srgbClr val="7C8CA5"/>
                </a:solidFill>
                <a:latin typeface="Consolas" pitchFamily="34" charset="0"/>
                <a:ea typeface="Consolas" pitchFamily="34" charset="-122"/>
                <a:cs typeface="Consolas" pitchFamily="34" charset="-120"/>
              </a:rPr>
              <a:t>18 modules · one weekend · one working prototype</a:t>
            </a:r>
            <a:endParaRPr lang="en-US" sz="1300" dirty="0"/>
          </a:p>
        </p:txBody>
      </p:sp>
      <p:sp>
        <p:nvSpPr>
          <p:cNvPr id="14" name="Shape 11"/>
          <p:cNvSpPr/>
          <p:nvPr/>
        </p:nvSpPr>
        <p:spPr>
          <a:xfrm>
            <a:off x="8778240" y="4709160"/>
            <a:ext cx="1051560" cy="1051560"/>
          </a:xfrm>
          <a:prstGeom prst="ellipse">
            <a:avLst/>
          </a:prstGeom>
          <a:solidFill>
            <a:srgbClr val="1B2842"/>
          </a:solidFill>
          <a:ln/>
        </p:spPr>
      </p:sp>
      <p:pic>
        <p:nvPicPr>
          <p:cNvPr id="15" name="Image 1" descr="C:\Users\User\AppData\Local\Temp\claude\C--Users-User-OneDrive-Music-Hackathon\67e3d9e6-0718-4380-8c09-13d83fcd8fa7\scratchpad\pptbuild\v2\assets\icons\rocket-cyan.png">    </p:cNvPr>
          <p:cNvPicPr>
            <a:picLocks noChangeAspect="1"/>
          </p:cNvPicPr>
          <p:nvPr/>
        </p:nvPicPr>
        <p:blipFill>
          <a:blip r:embed="rId2"/>
          <a:stretch>
            <a:fillRect/>
          </a:stretch>
        </p:blipFill>
        <p:spPr>
          <a:xfrm>
            <a:off x="9030614" y="4961534"/>
            <a:ext cx="546811" cy="546811"/>
          </a:xfrm>
          <a:prstGeom prst="rect">
            <a:avLst/>
          </a:prstGeom>
        </p:spPr>
      </p:pic>
      <p:sp>
        <p:nvSpPr>
          <p:cNvPr id="16" name="Text 1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Journey — 5 Parts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a:t>
            </a:r>
            <a:endParaRPr lang="en-US" sz="1000" dirty="0"/>
          </a:p>
        </p:txBody>
      </p:sp>
      <p:sp>
        <p:nvSpPr>
          <p:cNvPr id="5" name="Shape 2"/>
          <p:cNvSpPr/>
          <p:nvPr/>
        </p:nvSpPr>
        <p:spPr>
          <a:xfrm>
            <a:off x="1234440" y="2514600"/>
            <a:ext cx="9692640" cy="0"/>
          </a:xfrm>
          <a:prstGeom prst="line">
            <a:avLst/>
          </a:prstGeom>
          <a:noFill/>
          <a:ln w="31750">
            <a:solidFill>
              <a:srgbClr val="22D3EE"/>
            </a:solidFill>
            <a:prstDash val="solid"/>
          </a:ln>
        </p:spPr>
      </p:sp>
      <p:sp>
        <p:nvSpPr>
          <p:cNvPr id="6" name="Shape 3"/>
          <p:cNvSpPr/>
          <p:nvPr/>
        </p:nvSpPr>
        <p:spPr>
          <a:xfrm>
            <a:off x="1280160" y="2212848"/>
            <a:ext cx="603504" cy="603504"/>
          </a:xfrm>
          <a:prstGeom prst="ellipse">
            <a:avLst/>
          </a:prstGeom>
          <a:solidFill>
            <a:srgbClr val="22D3EE"/>
          </a:solidFill>
          <a:ln/>
        </p:spPr>
      </p:sp>
      <p:sp>
        <p:nvSpPr>
          <p:cNvPr id="7" name="Text 4"/>
          <p:cNvSpPr/>
          <p:nvPr/>
        </p:nvSpPr>
        <p:spPr>
          <a:xfrm>
            <a:off x="1280160" y="2194560"/>
            <a:ext cx="603504" cy="603504"/>
          </a:xfrm>
          <a:prstGeom prst="rect">
            <a:avLst/>
          </a:prstGeom>
          <a:noFill/>
          <a:ln/>
        </p:spPr>
        <p:txBody>
          <a:bodyPr wrap="square" lIns="0" tIns="0" rIns="0" bIns="0" rtlCol="0" anchor="ctr"/>
          <a:lstStyle/>
          <a:p>
            <a:pPr algn="ctr" indent="0" marL="0">
              <a:buNone/>
            </a:pPr>
            <a:r>
              <a:rPr lang="en-US" sz="2400" dirty="0">
                <a:solidFill>
                  <a:srgbClr val="0B1220"/>
                </a:solidFill>
                <a:latin typeface="Arial Black" pitchFamily="34" charset="0"/>
                <a:ea typeface="Arial Black" pitchFamily="34" charset="-122"/>
                <a:cs typeface="Arial Black" pitchFamily="34" charset="-120"/>
              </a:rPr>
              <a:t>1</a:t>
            </a:r>
            <a:endParaRPr lang="en-US" sz="2400" dirty="0"/>
          </a:p>
        </p:txBody>
      </p:sp>
      <p:sp>
        <p:nvSpPr>
          <p:cNvPr id="8" name="Shape 5"/>
          <p:cNvSpPr/>
          <p:nvPr/>
        </p:nvSpPr>
        <p:spPr>
          <a:xfrm>
            <a:off x="548640" y="3063240"/>
            <a:ext cx="2066544" cy="2514600"/>
          </a:xfrm>
          <a:prstGeom prst="roundRect">
            <a:avLst>
              <a:gd name="adj" fmla="val 3982"/>
            </a:avLst>
          </a:prstGeom>
          <a:solidFill>
            <a:srgbClr val="141E33"/>
          </a:solidFill>
          <a:ln/>
          <a:effectLst>
            <a:outerShdw sx="100000" sy="100000" kx="0" ky="0" algn="bl" rotWithShape="0" blurRad="114300" dist="38100" dir="5400000">
              <a:srgbClr val="000000">
                <a:alpha val="45000"/>
              </a:srgbClr>
            </a:outerShdw>
          </a:effectLst>
        </p:spPr>
      </p:sp>
      <p:sp>
        <p:nvSpPr>
          <p:cNvPr id="9" name="Shape 6"/>
          <p:cNvSpPr/>
          <p:nvPr/>
        </p:nvSpPr>
        <p:spPr>
          <a:xfrm>
            <a:off x="1280160" y="3310128"/>
            <a:ext cx="603504" cy="603504"/>
          </a:xfrm>
          <a:prstGeom prst="ellipse">
            <a:avLst/>
          </a:prstGeom>
          <a:solidFill>
            <a:srgbClr val="1B2842"/>
          </a:solidFill>
          <a:ln/>
        </p:spPr>
      </p:sp>
      <p:pic>
        <p:nvPicPr>
          <p:cNvPr id="10" name="Image 0" descr="C:\Users\User\AppData\Local\Temp\claude\C--Users-User-OneDrive-Music-Hackathon\67e3d9e6-0718-4380-8c09-13d83fcd8fa7\scratchpad\pptbuild\v2\assets\icons\compass-cyan.png">    </p:cNvPr>
          <p:cNvPicPr>
            <a:picLocks noChangeAspect="1"/>
          </p:cNvPicPr>
          <p:nvPr/>
        </p:nvPicPr>
        <p:blipFill>
          <a:blip r:embed="rId1"/>
          <a:stretch>
            <a:fillRect/>
          </a:stretch>
        </p:blipFill>
        <p:spPr>
          <a:xfrm>
            <a:off x="1425001" y="3454969"/>
            <a:ext cx="313822" cy="313822"/>
          </a:xfrm>
          <a:prstGeom prst="rect">
            <a:avLst/>
          </a:prstGeom>
        </p:spPr>
      </p:pic>
      <p:sp>
        <p:nvSpPr>
          <p:cNvPr id="11" name="Text 7"/>
          <p:cNvSpPr/>
          <p:nvPr/>
        </p:nvSpPr>
        <p:spPr>
          <a:xfrm>
            <a:off x="640080" y="4041648"/>
            <a:ext cx="1883664" cy="566928"/>
          </a:xfrm>
          <a:prstGeom prst="rect">
            <a:avLst/>
          </a:prstGeom>
          <a:noFill/>
          <a:ln/>
        </p:spPr>
        <p:txBody>
          <a:bodyPr wrap="square" lIns="0" tIns="0" rIns="0" bIns="0" rtlCol="0" anchor="ctr"/>
          <a:lstStyle/>
          <a:p>
            <a:pPr algn="ctr" indent="0" marL="0">
              <a:lnSpc>
                <a:spcPct val="95000"/>
              </a:lnSpc>
              <a:buNone/>
            </a:pPr>
            <a:r>
              <a:rPr lang="en-US" sz="1450" dirty="0">
                <a:solidFill>
                  <a:srgbClr val="FFFFFF"/>
                </a:solidFill>
                <a:latin typeface="Arial Black" pitchFamily="34" charset="0"/>
                <a:ea typeface="Arial Black" pitchFamily="34" charset="-122"/>
                <a:cs typeface="Arial Black" pitchFamily="34" charset="-120"/>
              </a:rPr>
              <a:t>FOUNDATIONS</a:t>
            </a:r>
            <a:endParaRPr lang="en-US" sz="1450" dirty="0"/>
          </a:p>
        </p:txBody>
      </p:sp>
      <p:sp>
        <p:nvSpPr>
          <p:cNvPr id="12" name="Text 8"/>
          <p:cNvSpPr/>
          <p:nvPr/>
        </p:nvSpPr>
        <p:spPr>
          <a:xfrm>
            <a:off x="640080" y="4608576"/>
            <a:ext cx="1883664" cy="274320"/>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M0–M1</a:t>
            </a:r>
            <a:endParaRPr lang="en-US" sz="1250" dirty="0"/>
          </a:p>
        </p:txBody>
      </p:sp>
      <p:sp>
        <p:nvSpPr>
          <p:cNvPr id="13" name="Text 9"/>
          <p:cNvSpPr/>
          <p:nvPr/>
        </p:nvSpPr>
        <p:spPr>
          <a:xfrm>
            <a:off x="694944" y="4919472"/>
            <a:ext cx="1773936" cy="566928"/>
          </a:xfrm>
          <a:prstGeom prst="rect">
            <a:avLst/>
          </a:prstGeom>
          <a:noFill/>
          <a:ln/>
        </p:spPr>
        <p:txBody>
          <a:bodyPr wrap="square" lIns="0" tIns="0" rIns="0" bIns="0" rtlCol="0" anchor="ctr"/>
          <a:lstStyle/>
          <a:p>
            <a:pPr algn="ctr" indent="0" marL="0">
              <a:lnSpc>
                <a:spcPct val="102000"/>
              </a:lnSpc>
              <a:buNone/>
            </a:pPr>
            <a:r>
              <a:rPr lang="en-US" sz="1200" dirty="0">
                <a:solidFill>
                  <a:srgbClr val="7C8CA5"/>
                </a:solidFill>
                <a:latin typeface="Calibri" pitchFamily="34" charset="0"/>
                <a:ea typeface="Calibri" pitchFamily="34" charset="-122"/>
                <a:cs typeface="Calibri" pitchFamily="34" charset="-120"/>
              </a:rPr>
              <a:t>What a hackathon is · picking the problem</a:t>
            </a:r>
            <a:endParaRPr lang="en-US" sz="1200" dirty="0"/>
          </a:p>
        </p:txBody>
      </p:sp>
      <p:sp>
        <p:nvSpPr>
          <p:cNvPr id="14" name="Shape 10"/>
          <p:cNvSpPr/>
          <p:nvPr/>
        </p:nvSpPr>
        <p:spPr>
          <a:xfrm>
            <a:off x="3538728" y="2212848"/>
            <a:ext cx="603504" cy="603504"/>
          </a:xfrm>
          <a:prstGeom prst="ellipse">
            <a:avLst/>
          </a:prstGeom>
          <a:solidFill>
            <a:srgbClr val="22D3EE"/>
          </a:solidFill>
          <a:ln/>
        </p:spPr>
      </p:sp>
      <p:sp>
        <p:nvSpPr>
          <p:cNvPr id="15" name="Text 11"/>
          <p:cNvSpPr/>
          <p:nvPr/>
        </p:nvSpPr>
        <p:spPr>
          <a:xfrm>
            <a:off x="3538728" y="2194560"/>
            <a:ext cx="603504" cy="603504"/>
          </a:xfrm>
          <a:prstGeom prst="rect">
            <a:avLst/>
          </a:prstGeom>
          <a:noFill/>
          <a:ln/>
        </p:spPr>
        <p:txBody>
          <a:bodyPr wrap="square" lIns="0" tIns="0" rIns="0" bIns="0" rtlCol="0" anchor="ctr"/>
          <a:lstStyle/>
          <a:p>
            <a:pPr algn="ctr" indent="0" marL="0">
              <a:buNone/>
            </a:pPr>
            <a:r>
              <a:rPr lang="en-US" sz="2400" dirty="0">
                <a:solidFill>
                  <a:srgbClr val="0B1220"/>
                </a:solidFill>
                <a:latin typeface="Arial Black" pitchFamily="34" charset="0"/>
                <a:ea typeface="Arial Black" pitchFamily="34" charset="-122"/>
                <a:cs typeface="Arial Black" pitchFamily="34" charset="-120"/>
              </a:rPr>
              <a:t>2</a:t>
            </a:r>
            <a:endParaRPr lang="en-US" sz="2400" dirty="0"/>
          </a:p>
        </p:txBody>
      </p:sp>
      <p:sp>
        <p:nvSpPr>
          <p:cNvPr id="16" name="Shape 12"/>
          <p:cNvSpPr/>
          <p:nvPr/>
        </p:nvSpPr>
        <p:spPr>
          <a:xfrm>
            <a:off x="2807208" y="3063240"/>
            <a:ext cx="2066544" cy="2514600"/>
          </a:xfrm>
          <a:prstGeom prst="roundRect">
            <a:avLst>
              <a:gd name="adj" fmla="val 3982"/>
            </a:avLst>
          </a:prstGeom>
          <a:solidFill>
            <a:srgbClr val="141E33"/>
          </a:solidFill>
          <a:ln/>
          <a:effectLst>
            <a:outerShdw sx="100000" sy="100000" kx="0" ky="0" algn="bl" rotWithShape="0" blurRad="114300" dist="38100" dir="5400000">
              <a:srgbClr val="000000">
                <a:alpha val="45000"/>
              </a:srgbClr>
            </a:outerShdw>
          </a:effectLst>
        </p:spPr>
      </p:sp>
      <p:sp>
        <p:nvSpPr>
          <p:cNvPr id="17" name="Shape 13"/>
          <p:cNvSpPr/>
          <p:nvPr/>
        </p:nvSpPr>
        <p:spPr>
          <a:xfrm>
            <a:off x="3538728" y="3310128"/>
            <a:ext cx="603504" cy="603504"/>
          </a:xfrm>
          <a:prstGeom prst="ellipse">
            <a:avLst/>
          </a:prstGeom>
          <a:solidFill>
            <a:srgbClr val="1B2842"/>
          </a:solidFill>
          <a:ln/>
        </p:spPr>
      </p:sp>
      <p:pic>
        <p:nvPicPr>
          <p:cNvPr id="18" name="Image 1" descr="C:\Users\User\AppData\Local\Temp\claude\C--Users-User-OneDrive-Music-Hackathon\67e3d9e6-0718-4380-8c09-13d83fcd8fa7\scratchpad\pptbuild\v2\assets\icons\lightbulb-cyan.png">    </p:cNvPr>
          <p:cNvPicPr>
            <a:picLocks noChangeAspect="1"/>
          </p:cNvPicPr>
          <p:nvPr/>
        </p:nvPicPr>
        <p:blipFill>
          <a:blip r:embed="rId2"/>
          <a:stretch>
            <a:fillRect/>
          </a:stretch>
        </p:blipFill>
        <p:spPr>
          <a:xfrm>
            <a:off x="3683569" y="3454969"/>
            <a:ext cx="313822" cy="313822"/>
          </a:xfrm>
          <a:prstGeom prst="rect">
            <a:avLst/>
          </a:prstGeom>
        </p:spPr>
      </p:pic>
      <p:sp>
        <p:nvSpPr>
          <p:cNvPr id="19" name="Text 14"/>
          <p:cNvSpPr/>
          <p:nvPr/>
        </p:nvSpPr>
        <p:spPr>
          <a:xfrm>
            <a:off x="2898648" y="4041648"/>
            <a:ext cx="1883664" cy="566928"/>
          </a:xfrm>
          <a:prstGeom prst="rect">
            <a:avLst/>
          </a:prstGeom>
          <a:noFill/>
          <a:ln/>
        </p:spPr>
        <p:txBody>
          <a:bodyPr wrap="square" lIns="0" tIns="0" rIns="0" bIns="0" rtlCol="0" anchor="ctr"/>
          <a:lstStyle/>
          <a:p>
            <a:pPr algn="ctr" indent="0" marL="0">
              <a:lnSpc>
                <a:spcPct val="95000"/>
              </a:lnSpc>
              <a:buNone/>
            </a:pPr>
            <a:r>
              <a:rPr lang="en-US" sz="1450" dirty="0">
                <a:solidFill>
                  <a:srgbClr val="FFFFFF"/>
                </a:solidFill>
                <a:latin typeface="Arial Black" pitchFamily="34" charset="0"/>
                <a:ea typeface="Arial Black" pitchFamily="34" charset="-122"/>
                <a:cs typeface="Arial Black" pitchFamily="34" charset="-120"/>
              </a:rPr>
              <a:t>IDEA → PLAN</a:t>
            </a:r>
            <a:endParaRPr lang="en-US" sz="1450" dirty="0"/>
          </a:p>
        </p:txBody>
      </p:sp>
      <p:sp>
        <p:nvSpPr>
          <p:cNvPr id="20" name="Text 15"/>
          <p:cNvSpPr/>
          <p:nvPr/>
        </p:nvSpPr>
        <p:spPr>
          <a:xfrm>
            <a:off x="2898648" y="4608576"/>
            <a:ext cx="1883664" cy="274320"/>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M2–M5</a:t>
            </a:r>
            <a:endParaRPr lang="en-US" sz="1250" dirty="0"/>
          </a:p>
        </p:txBody>
      </p:sp>
      <p:sp>
        <p:nvSpPr>
          <p:cNvPr id="21" name="Text 16"/>
          <p:cNvSpPr/>
          <p:nvPr/>
        </p:nvSpPr>
        <p:spPr>
          <a:xfrm>
            <a:off x="2953512" y="4919472"/>
            <a:ext cx="1773936" cy="566928"/>
          </a:xfrm>
          <a:prstGeom prst="rect">
            <a:avLst/>
          </a:prstGeom>
          <a:noFill/>
          <a:ln/>
        </p:spPr>
        <p:txBody>
          <a:bodyPr wrap="square" lIns="0" tIns="0" rIns="0" bIns="0" rtlCol="0" anchor="ctr"/>
          <a:lstStyle/>
          <a:p>
            <a:pPr algn="ctr" indent="0" marL="0">
              <a:lnSpc>
                <a:spcPct val="102000"/>
              </a:lnSpc>
              <a:buNone/>
            </a:pPr>
            <a:r>
              <a:rPr lang="en-US" sz="1200" dirty="0">
                <a:solidFill>
                  <a:srgbClr val="7C8CA5"/>
                </a:solidFill>
                <a:latin typeface="Calibri" pitchFamily="34" charset="0"/>
                <a:ea typeface="Calibri" pitchFamily="34" charset="-122"/>
                <a:cs typeface="Calibri" pitchFamily="34" charset="-120"/>
              </a:rPr>
              <a:t>Ideation · MVP · stack · workflow</a:t>
            </a:r>
            <a:endParaRPr lang="en-US" sz="1200" dirty="0"/>
          </a:p>
        </p:txBody>
      </p:sp>
      <p:sp>
        <p:nvSpPr>
          <p:cNvPr id="22" name="Shape 17"/>
          <p:cNvSpPr/>
          <p:nvPr/>
        </p:nvSpPr>
        <p:spPr>
          <a:xfrm>
            <a:off x="5797296" y="2212848"/>
            <a:ext cx="603504" cy="603504"/>
          </a:xfrm>
          <a:prstGeom prst="ellipse">
            <a:avLst/>
          </a:prstGeom>
          <a:solidFill>
            <a:srgbClr val="22D3EE"/>
          </a:solidFill>
          <a:ln/>
        </p:spPr>
      </p:sp>
      <p:sp>
        <p:nvSpPr>
          <p:cNvPr id="23" name="Text 18"/>
          <p:cNvSpPr/>
          <p:nvPr/>
        </p:nvSpPr>
        <p:spPr>
          <a:xfrm>
            <a:off x="5797296" y="2194560"/>
            <a:ext cx="603504" cy="603504"/>
          </a:xfrm>
          <a:prstGeom prst="rect">
            <a:avLst/>
          </a:prstGeom>
          <a:noFill/>
          <a:ln/>
        </p:spPr>
        <p:txBody>
          <a:bodyPr wrap="square" lIns="0" tIns="0" rIns="0" bIns="0" rtlCol="0" anchor="ctr"/>
          <a:lstStyle/>
          <a:p>
            <a:pPr algn="ctr" indent="0" marL="0">
              <a:buNone/>
            </a:pPr>
            <a:r>
              <a:rPr lang="en-US" sz="2400" dirty="0">
                <a:solidFill>
                  <a:srgbClr val="0B1220"/>
                </a:solidFill>
                <a:latin typeface="Arial Black" pitchFamily="34" charset="0"/>
                <a:ea typeface="Arial Black" pitchFamily="34" charset="-122"/>
                <a:cs typeface="Arial Black" pitchFamily="34" charset="-120"/>
              </a:rPr>
              <a:t>3</a:t>
            </a:r>
            <a:endParaRPr lang="en-US" sz="2400" dirty="0"/>
          </a:p>
        </p:txBody>
      </p:sp>
      <p:sp>
        <p:nvSpPr>
          <p:cNvPr id="24" name="Shape 19"/>
          <p:cNvSpPr/>
          <p:nvPr/>
        </p:nvSpPr>
        <p:spPr>
          <a:xfrm>
            <a:off x="5065776" y="3063240"/>
            <a:ext cx="2066544" cy="2514600"/>
          </a:xfrm>
          <a:prstGeom prst="roundRect">
            <a:avLst>
              <a:gd name="adj" fmla="val 3982"/>
            </a:avLst>
          </a:prstGeom>
          <a:solidFill>
            <a:srgbClr val="141E33"/>
          </a:solidFill>
          <a:ln/>
          <a:effectLst>
            <a:outerShdw sx="100000" sy="100000" kx="0" ky="0" algn="bl" rotWithShape="0" blurRad="114300" dist="38100" dir="5400000">
              <a:srgbClr val="000000">
                <a:alpha val="45000"/>
              </a:srgbClr>
            </a:outerShdw>
          </a:effectLst>
        </p:spPr>
      </p:sp>
      <p:sp>
        <p:nvSpPr>
          <p:cNvPr id="25" name="Shape 20"/>
          <p:cNvSpPr/>
          <p:nvPr/>
        </p:nvSpPr>
        <p:spPr>
          <a:xfrm>
            <a:off x="5797296" y="3310128"/>
            <a:ext cx="603504" cy="603504"/>
          </a:xfrm>
          <a:prstGeom prst="ellipse">
            <a:avLst/>
          </a:prstGeom>
          <a:solidFill>
            <a:srgbClr val="1B2842"/>
          </a:solidFill>
          <a:ln/>
        </p:spPr>
      </p:sp>
      <p:pic>
        <p:nvPicPr>
          <p:cNvPr id="26" name="Image 2" descr="C:\Users\User\AppData\Local\Temp\claude\C--Users-User-OneDrive-Music-Hackathon\67e3d9e6-0718-4380-8c09-13d83fcd8fa7\scratchpad\pptbuild\v2\assets\icons\pentool-cyan.png">    </p:cNvPr>
          <p:cNvPicPr>
            <a:picLocks noChangeAspect="1"/>
          </p:cNvPicPr>
          <p:nvPr/>
        </p:nvPicPr>
        <p:blipFill>
          <a:blip r:embed="rId3"/>
          <a:stretch>
            <a:fillRect/>
          </a:stretch>
        </p:blipFill>
        <p:spPr>
          <a:xfrm>
            <a:off x="5942137" y="3454969"/>
            <a:ext cx="313822" cy="313822"/>
          </a:xfrm>
          <a:prstGeom prst="rect">
            <a:avLst/>
          </a:prstGeom>
        </p:spPr>
      </p:pic>
      <p:sp>
        <p:nvSpPr>
          <p:cNvPr id="27" name="Text 21"/>
          <p:cNvSpPr/>
          <p:nvPr/>
        </p:nvSpPr>
        <p:spPr>
          <a:xfrm>
            <a:off x="5157216" y="4041648"/>
            <a:ext cx="1883664" cy="566928"/>
          </a:xfrm>
          <a:prstGeom prst="rect">
            <a:avLst/>
          </a:prstGeom>
          <a:noFill/>
          <a:ln/>
        </p:spPr>
        <p:txBody>
          <a:bodyPr wrap="square" lIns="0" tIns="0" rIns="0" bIns="0" rtlCol="0" anchor="ctr"/>
          <a:lstStyle/>
          <a:p>
            <a:pPr algn="ctr" indent="0" marL="0">
              <a:lnSpc>
                <a:spcPct val="95000"/>
              </a:lnSpc>
              <a:buNone/>
            </a:pPr>
            <a:r>
              <a:rPr lang="en-US" sz="1450" dirty="0">
                <a:solidFill>
                  <a:srgbClr val="FFFFFF"/>
                </a:solidFill>
                <a:latin typeface="Arial Black" pitchFamily="34" charset="0"/>
                <a:ea typeface="Arial Black" pitchFamily="34" charset="-122"/>
                <a:cs typeface="Arial Black" pitchFamily="34" charset="-120"/>
              </a:rPr>
              <a:t>AI WHITEBOARDING</a:t>
            </a:r>
            <a:endParaRPr lang="en-US" sz="1450" dirty="0"/>
          </a:p>
        </p:txBody>
      </p:sp>
      <p:sp>
        <p:nvSpPr>
          <p:cNvPr id="28" name="Text 22"/>
          <p:cNvSpPr/>
          <p:nvPr/>
        </p:nvSpPr>
        <p:spPr>
          <a:xfrm>
            <a:off x="5157216" y="4608576"/>
            <a:ext cx="1883664" cy="274320"/>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M6–M7</a:t>
            </a:r>
            <a:endParaRPr lang="en-US" sz="1250" dirty="0"/>
          </a:p>
        </p:txBody>
      </p:sp>
      <p:sp>
        <p:nvSpPr>
          <p:cNvPr id="29" name="Text 23"/>
          <p:cNvSpPr/>
          <p:nvPr/>
        </p:nvSpPr>
        <p:spPr>
          <a:xfrm>
            <a:off x="5212080" y="4919472"/>
            <a:ext cx="1773936" cy="566928"/>
          </a:xfrm>
          <a:prstGeom prst="rect">
            <a:avLst/>
          </a:prstGeom>
          <a:noFill/>
          <a:ln/>
        </p:spPr>
        <p:txBody>
          <a:bodyPr wrap="square" lIns="0" tIns="0" rIns="0" bIns="0" rtlCol="0" anchor="ctr"/>
          <a:lstStyle/>
          <a:p>
            <a:pPr algn="ctr" indent="0" marL="0">
              <a:lnSpc>
                <a:spcPct val="102000"/>
              </a:lnSpc>
              <a:buNone/>
            </a:pPr>
            <a:r>
              <a:rPr lang="en-US" sz="1200" dirty="0">
                <a:solidFill>
                  <a:srgbClr val="7C8CA5"/>
                </a:solidFill>
                <a:latin typeface="Calibri" pitchFamily="34" charset="0"/>
                <a:ea typeface="Calibri" pitchFamily="34" charset="-122"/>
                <a:cs typeface="Calibri" pitchFamily="34" charset="-120"/>
              </a:rPr>
              <a:t>Workshop: tools + diagram prompts</a:t>
            </a:r>
            <a:endParaRPr lang="en-US" sz="1200" dirty="0"/>
          </a:p>
        </p:txBody>
      </p:sp>
      <p:sp>
        <p:nvSpPr>
          <p:cNvPr id="30" name="Shape 24"/>
          <p:cNvSpPr/>
          <p:nvPr/>
        </p:nvSpPr>
        <p:spPr>
          <a:xfrm>
            <a:off x="8055864" y="2212848"/>
            <a:ext cx="603504" cy="603504"/>
          </a:xfrm>
          <a:prstGeom prst="ellipse">
            <a:avLst/>
          </a:prstGeom>
          <a:solidFill>
            <a:srgbClr val="22D3EE"/>
          </a:solidFill>
          <a:ln/>
        </p:spPr>
      </p:sp>
      <p:sp>
        <p:nvSpPr>
          <p:cNvPr id="31" name="Text 25"/>
          <p:cNvSpPr/>
          <p:nvPr/>
        </p:nvSpPr>
        <p:spPr>
          <a:xfrm>
            <a:off x="8055864" y="2194560"/>
            <a:ext cx="603504" cy="603504"/>
          </a:xfrm>
          <a:prstGeom prst="rect">
            <a:avLst/>
          </a:prstGeom>
          <a:noFill/>
          <a:ln/>
        </p:spPr>
        <p:txBody>
          <a:bodyPr wrap="square" lIns="0" tIns="0" rIns="0" bIns="0" rtlCol="0" anchor="ctr"/>
          <a:lstStyle/>
          <a:p>
            <a:pPr algn="ctr" indent="0" marL="0">
              <a:buNone/>
            </a:pPr>
            <a:r>
              <a:rPr lang="en-US" sz="2400" dirty="0">
                <a:solidFill>
                  <a:srgbClr val="0B1220"/>
                </a:solidFill>
                <a:latin typeface="Arial Black" pitchFamily="34" charset="0"/>
                <a:ea typeface="Arial Black" pitchFamily="34" charset="-122"/>
                <a:cs typeface="Arial Black" pitchFamily="34" charset="-120"/>
              </a:rPr>
              <a:t>4</a:t>
            </a:r>
            <a:endParaRPr lang="en-US" sz="2400" dirty="0"/>
          </a:p>
        </p:txBody>
      </p:sp>
      <p:sp>
        <p:nvSpPr>
          <p:cNvPr id="32" name="Shape 26"/>
          <p:cNvSpPr/>
          <p:nvPr/>
        </p:nvSpPr>
        <p:spPr>
          <a:xfrm>
            <a:off x="7324344" y="3063240"/>
            <a:ext cx="2066544" cy="2514600"/>
          </a:xfrm>
          <a:prstGeom prst="roundRect">
            <a:avLst>
              <a:gd name="adj" fmla="val 3982"/>
            </a:avLst>
          </a:prstGeom>
          <a:solidFill>
            <a:srgbClr val="141E33"/>
          </a:solidFill>
          <a:ln/>
          <a:effectLst>
            <a:outerShdw sx="100000" sy="100000" kx="0" ky="0" algn="bl" rotWithShape="0" blurRad="114300" dist="38100" dir="5400000">
              <a:srgbClr val="000000">
                <a:alpha val="45000"/>
              </a:srgbClr>
            </a:outerShdw>
          </a:effectLst>
        </p:spPr>
      </p:sp>
      <p:sp>
        <p:nvSpPr>
          <p:cNvPr id="33" name="Shape 27"/>
          <p:cNvSpPr/>
          <p:nvPr/>
        </p:nvSpPr>
        <p:spPr>
          <a:xfrm>
            <a:off x="8055864" y="3310128"/>
            <a:ext cx="603504" cy="603504"/>
          </a:xfrm>
          <a:prstGeom prst="ellipse">
            <a:avLst/>
          </a:prstGeom>
          <a:solidFill>
            <a:srgbClr val="1B2842"/>
          </a:solidFill>
          <a:ln/>
        </p:spPr>
      </p:sp>
      <p:pic>
        <p:nvPicPr>
          <p:cNvPr id="34" name="Image 3" descr="C:\Users\User\AppData\Local\Temp\claude\C--Users-User-OneDrive-Music-Hackathon\67e3d9e6-0718-4380-8c09-13d83fcd8fa7\scratchpad\pptbuild\v2\assets\icons\hammer-cyan.png">    </p:cNvPr>
          <p:cNvPicPr>
            <a:picLocks noChangeAspect="1"/>
          </p:cNvPicPr>
          <p:nvPr/>
        </p:nvPicPr>
        <p:blipFill>
          <a:blip r:embed="rId4"/>
          <a:stretch>
            <a:fillRect/>
          </a:stretch>
        </p:blipFill>
        <p:spPr>
          <a:xfrm>
            <a:off x="8200705" y="3454969"/>
            <a:ext cx="313822" cy="313822"/>
          </a:xfrm>
          <a:prstGeom prst="rect">
            <a:avLst/>
          </a:prstGeom>
        </p:spPr>
      </p:pic>
      <p:sp>
        <p:nvSpPr>
          <p:cNvPr id="35" name="Text 28"/>
          <p:cNvSpPr/>
          <p:nvPr/>
        </p:nvSpPr>
        <p:spPr>
          <a:xfrm>
            <a:off x="7415784" y="4041648"/>
            <a:ext cx="1883664" cy="566928"/>
          </a:xfrm>
          <a:prstGeom prst="rect">
            <a:avLst/>
          </a:prstGeom>
          <a:noFill/>
          <a:ln/>
        </p:spPr>
        <p:txBody>
          <a:bodyPr wrap="square" lIns="0" tIns="0" rIns="0" bIns="0" rtlCol="0" anchor="ctr"/>
          <a:lstStyle/>
          <a:p>
            <a:pPr algn="ctr" indent="0" marL="0">
              <a:lnSpc>
                <a:spcPct val="95000"/>
              </a:lnSpc>
              <a:buNone/>
            </a:pPr>
            <a:r>
              <a:rPr lang="en-US" sz="1450" dirty="0">
                <a:solidFill>
                  <a:srgbClr val="FFFFFF"/>
                </a:solidFill>
                <a:latin typeface="Arial Black" pitchFamily="34" charset="0"/>
                <a:ea typeface="Arial Black" pitchFamily="34" charset="-122"/>
                <a:cs typeface="Arial Black" pitchFamily="34" charset="-120"/>
              </a:rPr>
              <a:t>THE BUILD</a:t>
            </a:r>
            <a:endParaRPr lang="en-US" sz="1450" dirty="0"/>
          </a:p>
        </p:txBody>
      </p:sp>
      <p:sp>
        <p:nvSpPr>
          <p:cNvPr id="36" name="Text 29"/>
          <p:cNvSpPr/>
          <p:nvPr/>
        </p:nvSpPr>
        <p:spPr>
          <a:xfrm>
            <a:off x="7415784" y="4608576"/>
            <a:ext cx="1883664" cy="274320"/>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M8–M14</a:t>
            </a:r>
            <a:endParaRPr lang="en-US" sz="1250" dirty="0"/>
          </a:p>
        </p:txBody>
      </p:sp>
      <p:sp>
        <p:nvSpPr>
          <p:cNvPr id="37" name="Text 30"/>
          <p:cNvSpPr/>
          <p:nvPr/>
        </p:nvSpPr>
        <p:spPr>
          <a:xfrm>
            <a:off x="7470648" y="4919472"/>
            <a:ext cx="1773936" cy="566928"/>
          </a:xfrm>
          <a:prstGeom prst="rect">
            <a:avLst/>
          </a:prstGeom>
          <a:noFill/>
          <a:ln/>
        </p:spPr>
        <p:txBody>
          <a:bodyPr wrap="square" lIns="0" tIns="0" rIns="0" bIns="0" rtlCol="0" anchor="ctr"/>
          <a:lstStyle/>
          <a:p>
            <a:pPr algn="ctr" indent="0" marL="0">
              <a:lnSpc>
                <a:spcPct val="102000"/>
              </a:lnSpc>
              <a:buNone/>
            </a:pPr>
            <a:r>
              <a:rPr lang="en-US" sz="1200" dirty="0">
                <a:solidFill>
                  <a:srgbClr val="7C8CA5"/>
                </a:solidFill>
                <a:latin typeface="Calibri" pitchFamily="34" charset="0"/>
                <a:ea typeface="Calibri" pitchFamily="34" charset="-122"/>
                <a:cs typeface="Calibri" pitchFamily="34" charset="-120"/>
              </a:rPr>
              <a:t>Build · Git · APIs · AI · test · ship</a:t>
            </a:r>
            <a:endParaRPr lang="en-US" sz="1200" dirty="0"/>
          </a:p>
        </p:txBody>
      </p:sp>
      <p:sp>
        <p:nvSpPr>
          <p:cNvPr id="38" name="Shape 31"/>
          <p:cNvSpPr/>
          <p:nvPr/>
        </p:nvSpPr>
        <p:spPr>
          <a:xfrm>
            <a:off x="10314432" y="2212848"/>
            <a:ext cx="603504" cy="603504"/>
          </a:xfrm>
          <a:prstGeom prst="ellipse">
            <a:avLst/>
          </a:prstGeom>
          <a:solidFill>
            <a:srgbClr val="22D3EE"/>
          </a:solidFill>
          <a:ln/>
        </p:spPr>
      </p:sp>
      <p:sp>
        <p:nvSpPr>
          <p:cNvPr id="39" name="Text 32"/>
          <p:cNvSpPr/>
          <p:nvPr/>
        </p:nvSpPr>
        <p:spPr>
          <a:xfrm>
            <a:off x="10314432" y="2194560"/>
            <a:ext cx="603504" cy="603504"/>
          </a:xfrm>
          <a:prstGeom prst="rect">
            <a:avLst/>
          </a:prstGeom>
          <a:noFill/>
          <a:ln/>
        </p:spPr>
        <p:txBody>
          <a:bodyPr wrap="square" lIns="0" tIns="0" rIns="0" bIns="0" rtlCol="0" anchor="ctr"/>
          <a:lstStyle/>
          <a:p>
            <a:pPr algn="ctr" indent="0" marL="0">
              <a:buNone/>
            </a:pPr>
            <a:r>
              <a:rPr lang="en-US" sz="2400" dirty="0">
                <a:solidFill>
                  <a:srgbClr val="0B1220"/>
                </a:solidFill>
                <a:latin typeface="Arial Black" pitchFamily="34" charset="0"/>
                <a:ea typeface="Arial Black" pitchFamily="34" charset="-122"/>
                <a:cs typeface="Arial Black" pitchFamily="34" charset="-120"/>
              </a:rPr>
              <a:t>5</a:t>
            </a:r>
            <a:endParaRPr lang="en-US" sz="2400" dirty="0"/>
          </a:p>
        </p:txBody>
      </p:sp>
      <p:sp>
        <p:nvSpPr>
          <p:cNvPr id="40" name="Shape 33"/>
          <p:cNvSpPr/>
          <p:nvPr/>
        </p:nvSpPr>
        <p:spPr>
          <a:xfrm>
            <a:off x="9582912" y="3063240"/>
            <a:ext cx="2066544" cy="2514600"/>
          </a:xfrm>
          <a:prstGeom prst="roundRect">
            <a:avLst>
              <a:gd name="adj" fmla="val 3982"/>
            </a:avLst>
          </a:prstGeom>
          <a:solidFill>
            <a:srgbClr val="141E33"/>
          </a:solidFill>
          <a:ln/>
          <a:effectLst>
            <a:outerShdw sx="100000" sy="100000" kx="0" ky="0" algn="bl" rotWithShape="0" blurRad="114300" dist="38100" dir="5400000">
              <a:srgbClr val="000000">
                <a:alpha val="45000"/>
              </a:srgbClr>
            </a:outerShdw>
          </a:effectLst>
        </p:spPr>
      </p:sp>
      <p:sp>
        <p:nvSpPr>
          <p:cNvPr id="41" name="Shape 34"/>
          <p:cNvSpPr/>
          <p:nvPr/>
        </p:nvSpPr>
        <p:spPr>
          <a:xfrm>
            <a:off x="10314432" y="3310128"/>
            <a:ext cx="603504" cy="603504"/>
          </a:xfrm>
          <a:prstGeom prst="ellipse">
            <a:avLst/>
          </a:prstGeom>
          <a:solidFill>
            <a:srgbClr val="1B2842"/>
          </a:solidFill>
          <a:ln/>
        </p:spPr>
      </p:sp>
      <p:pic>
        <p:nvPicPr>
          <p:cNvPr id="42" name="Image 4" descr="C:\Users\User\AppData\Local\Temp\claude\C--Users-User-OneDrive-Music-Hackathon\67e3d9e6-0718-4380-8c09-13d83fcd8fa7\scratchpad\pptbuild\v2\assets\icons\award-cyan.png">    </p:cNvPr>
          <p:cNvPicPr>
            <a:picLocks noChangeAspect="1"/>
          </p:cNvPicPr>
          <p:nvPr/>
        </p:nvPicPr>
        <p:blipFill>
          <a:blip r:embed="rId5"/>
          <a:stretch>
            <a:fillRect/>
          </a:stretch>
        </p:blipFill>
        <p:spPr>
          <a:xfrm>
            <a:off x="10459273" y="3454969"/>
            <a:ext cx="313822" cy="313822"/>
          </a:xfrm>
          <a:prstGeom prst="rect">
            <a:avLst/>
          </a:prstGeom>
        </p:spPr>
      </p:pic>
      <p:sp>
        <p:nvSpPr>
          <p:cNvPr id="43" name="Text 35"/>
          <p:cNvSpPr/>
          <p:nvPr/>
        </p:nvSpPr>
        <p:spPr>
          <a:xfrm>
            <a:off x="9674352" y="4041648"/>
            <a:ext cx="1883664" cy="566928"/>
          </a:xfrm>
          <a:prstGeom prst="rect">
            <a:avLst/>
          </a:prstGeom>
          <a:noFill/>
          <a:ln/>
        </p:spPr>
        <p:txBody>
          <a:bodyPr wrap="square" lIns="0" tIns="0" rIns="0" bIns="0" rtlCol="0" anchor="ctr"/>
          <a:lstStyle/>
          <a:p>
            <a:pPr algn="ctr" indent="0" marL="0">
              <a:lnSpc>
                <a:spcPct val="95000"/>
              </a:lnSpc>
              <a:buNone/>
            </a:pPr>
            <a:r>
              <a:rPr lang="en-US" sz="1450" dirty="0">
                <a:solidFill>
                  <a:srgbClr val="FFFFFF"/>
                </a:solidFill>
                <a:latin typeface="Arial Black" pitchFamily="34" charset="0"/>
                <a:ea typeface="Arial Black" pitchFamily="34" charset="-122"/>
                <a:cs typeface="Arial Black" pitchFamily="34" charset="-120"/>
              </a:rPr>
              <a:t>WINNING</a:t>
            </a:r>
            <a:endParaRPr lang="en-US" sz="1450" dirty="0"/>
          </a:p>
        </p:txBody>
      </p:sp>
      <p:sp>
        <p:nvSpPr>
          <p:cNvPr id="44" name="Text 36"/>
          <p:cNvSpPr/>
          <p:nvPr/>
        </p:nvSpPr>
        <p:spPr>
          <a:xfrm>
            <a:off x="9674352" y="4608576"/>
            <a:ext cx="1883664" cy="274320"/>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M15–M17</a:t>
            </a:r>
            <a:endParaRPr lang="en-US" sz="1250" dirty="0"/>
          </a:p>
        </p:txBody>
      </p:sp>
      <p:sp>
        <p:nvSpPr>
          <p:cNvPr id="45" name="Text 37"/>
          <p:cNvSpPr/>
          <p:nvPr/>
        </p:nvSpPr>
        <p:spPr>
          <a:xfrm>
            <a:off x="9729216" y="4919472"/>
            <a:ext cx="1773936" cy="566928"/>
          </a:xfrm>
          <a:prstGeom prst="rect">
            <a:avLst/>
          </a:prstGeom>
          <a:noFill/>
          <a:ln/>
        </p:spPr>
        <p:txBody>
          <a:bodyPr wrap="square" lIns="0" tIns="0" rIns="0" bIns="0" rtlCol="0" anchor="ctr"/>
          <a:lstStyle/>
          <a:p>
            <a:pPr algn="ctr" indent="0" marL="0">
              <a:lnSpc>
                <a:spcPct val="102000"/>
              </a:lnSpc>
              <a:buNone/>
            </a:pPr>
            <a:r>
              <a:rPr lang="en-US" sz="1200" dirty="0">
                <a:solidFill>
                  <a:srgbClr val="7C8CA5"/>
                </a:solidFill>
                <a:latin typeface="Calibri" pitchFamily="34" charset="0"/>
                <a:ea typeface="Calibri" pitchFamily="34" charset="-122"/>
                <a:cs typeface="Calibri" pitchFamily="34" charset="-120"/>
              </a:rPr>
              <a:t>Judging · patterns · mistakes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98080" y="1097280"/>
            <a:ext cx="4663440" cy="4663440"/>
          </a:xfrm>
          <a:prstGeom prst="rect">
            <a:avLst/>
          </a:prstGeom>
          <a:noFill/>
          <a:ln/>
        </p:spPr>
        <p:txBody>
          <a:bodyPr wrap="square" lIns="0" tIns="0" rIns="0" bIns="0" rtlCol="0" anchor="ctr"/>
          <a:lstStyle/>
          <a:p>
            <a:pPr algn="r" indent="0" marL="0">
              <a:buNone/>
            </a:pPr>
            <a:r>
              <a:rPr lang="en-US" sz="30000" dirty="0">
                <a:solidFill>
                  <a:srgbClr val="0E2A3B"/>
                </a:solidFill>
                <a:latin typeface="Arial Black" pitchFamily="34" charset="0"/>
                <a:ea typeface="Arial Black" pitchFamily="34" charset="-122"/>
                <a:cs typeface="Arial Black" pitchFamily="34" charset="-120"/>
              </a:rPr>
              <a:t>1</a:t>
            </a:r>
            <a:endParaRPr lang="en-US" sz="30000" dirty="0"/>
          </a:p>
        </p:txBody>
      </p:sp>
      <p:sp>
        <p:nvSpPr>
          <p:cNvPr id="4" name="Text 1"/>
          <p:cNvSpPr/>
          <p:nvPr/>
        </p:nvSpPr>
        <p:spPr>
          <a:xfrm>
            <a:off x="822960" y="2148840"/>
            <a:ext cx="7315200" cy="329184"/>
          </a:xfrm>
          <a:prstGeom prst="rect">
            <a:avLst/>
          </a:prstGeom>
          <a:noFill/>
          <a:ln/>
        </p:spPr>
        <p:txBody>
          <a:bodyPr wrap="square" lIns="0" tIns="0" rIns="0" bIns="0" rtlCol="0" anchor="ctr"/>
          <a:lstStyle/>
          <a:p>
            <a:pPr indent="0" marL="0">
              <a:buNone/>
            </a:pPr>
            <a:r>
              <a:rPr lang="en-US" sz="1500" spc="500" kern="0" dirty="0">
                <a:solidFill>
                  <a:srgbClr val="22D3EE"/>
                </a:solidFill>
                <a:latin typeface="Consolas" pitchFamily="34" charset="0"/>
                <a:ea typeface="Consolas" pitchFamily="34" charset="-122"/>
                <a:cs typeface="Consolas" pitchFamily="34" charset="-120"/>
              </a:rPr>
              <a:t>PART 1 OF 5</a:t>
            </a:r>
            <a:endParaRPr lang="en-US" sz="1500" dirty="0"/>
          </a:p>
        </p:txBody>
      </p:sp>
      <p:sp>
        <p:nvSpPr>
          <p:cNvPr id="5" name="Text 2"/>
          <p:cNvSpPr/>
          <p:nvPr/>
        </p:nvSpPr>
        <p:spPr>
          <a:xfrm>
            <a:off x="822960" y="2514600"/>
            <a:ext cx="9692640" cy="1554480"/>
          </a:xfrm>
          <a:prstGeom prst="rect">
            <a:avLst/>
          </a:prstGeom>
          <a:noFill/>
          <a:ln/>
        </p:spPr>
        <p:txBody>
          <a:bodyPr wrap="square" lIns="0" tIns="0" rIns="0" bIns="0" rtlCol="0" anchor="ctr"/>
          <a:lstStyle/>
          <a:p>
            <a:pPr indent="0" marL="0">
              <a:buNone/>
            </a:pPr>
            <a:r>
              <a:rPr lang="en-US" sz="4600" dirty="0">
                <a:solidFill>
                  <a:srgbClr val="FFFFFF"/>
                </a:solidFill>
                <a:latin typeface="Arial Black" pitchFamily="34" charset="0"/>
                <a:ea typeface="Arial Black" pitchFamily="34" charset="-122"/>
                <a:cs typeface="Arial Black" pitchFamily="34" charset="-120"/>
              </a:rPr>
              <a:t>Foundations</a:t>
            </a:r>
            <a:endParaRPr lang="en-US" sz="4600" dirty="0"/>
          </a:p>
        </p:txBody>
      </p:sp>
      <p:sp>
        <p:nvSpPr>
          <p:cNvPr id="6" name="Text 3"/>
          <p:cNvSpPr/>
          <p:nvPr/>
        </p:nvSpPr>
        <p:spPr>
          <a:xfrm>
            <a:off x="822960" y="4160520"/>
            <a:ext cx="9144000" cy="38404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What a hackathon really is — and how to choose a problem worth the weekend.</a:t>
            </a:r>
            <a:endParaRPr lang="en-US" sz="1700" dirty="0"/>
          </a:p>
        </p:txBody>
      </p:sp>
      <p:sp>
        <p:nvSpPr>
          <p:cNvPr id="7" name="Shape 4"/>
          <p:cNvSpPr/>
          <p:nvPr/>
        </p:nvSpPr>
        <p:spPr>
          <a:xfrm>
            <a:off x="822960" y="4892040"/>
            <a:ext cx="1732788" cy="402336"/>
          </a:xfrm>
          <a:prstGeom prst="roundRect">
            <a:avLst>
              <a:gd name="adj" fmla="val 15909"/>
            </a:avLst>
          </a:prstGeom>
          <a:solidFill>
            <a:srgbClr val="141E33"/>
          </a:solidFill>
          <a:ln/>
        </p:spPr>
      </p:sp>
      <p:sp>
        <p:nvSpPr>
          <p:cNvPr id="8" name="Text 5"/>
          <p:cNvSpPr/>
          <p:nvPr/>
        </p:nvSpPr>
        <p:spPr>
          <a:xfrm>
            <a:off x="877824" y="4892040"/>
            <a:ext cx="1623060"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M00 foundations</a:t>
            </a:r>
            <a:endParaRPr lang="en-US" sz="1250" dirty="0"/>
          </a:p>
        </p:txBody>
      </p:sp>
      <p:sp>
        <p:nvSpPr>
          <p:cNvPr id="9" name="Shape 6"/>
          <p:cNvSpPr/>
          <p:nvPr/>
        </p:nvSpPr>
        <p:spPr>
          <a:xfrm>
            <a:off x="2784348" y="4892040"/>
            <a:ext cx="2596896" cy="402336"/>
          </a:xfrm>
          <a:prstGeom prst="roundRect">
            <a:avLst>
              <a:gd name="adj" fmla="val 15909"/>
            </a:avLst>
          </a:prstGeom>
          <a:solidFill>
            <a:srgbClr val="141E33"/>
          </a:solidFill>
          <a:ln/>
        </p:spPr>
      </p:sp>
      <p:sp>
        <p:nvSpPr>
          <p:cNvPr id="10" name="Text 7"/>
          <p:cNvSpPr/>
          <p:nvPr/>
        </p:nvSpPr>
        <p:spPr>
          <a:xfrm>
            <a:off x="2839212" y="4892040"/>
            <a:ext cx="2487168"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M01 problem &amp; validation</a:t>
            </a:r>
            <a:endParaRPr lang="en-US" sz="1250" dirty="0"/>
          </a:p>
        </p:txBody>
      </p:sp>
      <p:sp>
        <p:nvSpPr>
          <p:cNvPr id="11" name="Text 8"/>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00 — FOUNDATIONS</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What a Hackathon Is — and Why</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a:t>
            </a:r>
            <a:endParaRPr lang="en-US" sz="1000" dirty="0"/>
          </a:p>
        </p:txBody>
      </p:sp>
      <p:sp>
        <p:nvSpPr>
          <p:cNvPr id="6" name="Shape 3"/>
          <p:cNvSpPr/>
          <p:nvPr/>
        </p:nvSpPr>
        <p:spPr>
          <a:xfrm>
            <a:off x="548640" y="1417320"/>
            <a:ext cx="5577840" cy="1965960"/>
          </a:xfrm>
          <a:prstGeom prst="roundRect">
            <a:avLst>
              <a:gd name="adj" fmla="val 4186"/>
            </a:avLst>
          </a:prstGeom>
          <a:solidFill>
            <a:srgbClr val="141E33"/>
          </a:solidFill>
          <a:ln/>
          <a:effectLst>
            <a:outerShdw sx="100000" sy="100000" kx="0" ky="0" algn="bl" rotWithShape="0" blurRad="114300" dist="38100" dir="5400000">
              <a:srgbClr val="000000">
                <a:alpha val="45000"/>
              </a:srgbClr>
            </a:outerShdw>
          </a:effectLst>
        </p:spPr>
      </p:sp>
      <p:sp>
        <p:nvSpPr>
          <p:cNvPr id="7" name="Text 4"/>
          <p:cNvSpPr/>
          <p:nvPr/>
        </p:nvSpPr>
        <p:spPr>
          <a:xfrm>
            <a:off x="822960" y="1417320"/>
            <a:ext cx="5029200" cy="1965960"/>
          </a:xfrm>
          <a:prstGeom prst="rect">
            <a:avLst/>
          </a:prstGeom>
          <a:noFill/>
          <a:ln/>
        </p:spPr>
        <p:txBody>
          <a:bodyPr wrap="square" lIns="0" tIns="0" rIns="0" bIns="0" rtlCol="0" anchor="ctr"/>
          <a:lstStyle/>
          <a:p>
            <a:pPr indent="0" marL="0">
              <a:spcAft>
                <a:spcPts val="600"/>
              </a:spcAft>
              <a:buNone/>
            </a:pPr>
            <a:r>
              <a:rPr lang="en-US" sz="1900" b="1" dirty="0">
                <a:solidFill>
                  <a:srgbClr val="22D3EE"/>
                </a:solidFill>
                <a:latin typeface="Calibri" pitchFamily="34" charset="0"/>
                <a:ea typeface="Calibri" pitchFamily="34" charset="-122"/>
                <a:cs typeface="Calibri" pitchFamily="34" charset="-120"/>
              </a:rPr>
              <a:t>Hackathon</a:t>
            </a:r>
            <a:endParaRPr lang="en-US" sz="1900" dirty="0"/>
          </a:p>
          <a:p>
            <a:pPr indent="0" marL="0">
              <a:spcAft>
                <a:spcPts val="400"/>
              </a:spcAft>
              <a:buNone/>
            </a:pPr>
            <a:r>
              <a:rPr lang="en-US" sz="1550" dirty="0">
                <a:solidFill>
                  <a:srgbClr val="F1F5F9"/>
                </a:solidFill>
                <a:latin typeface="Calibri" pitchFamily="34" charset="0"/>
                <a:ea typeface="Calibri" pitchFamily="34" charset="-122"/>
                <a:cs typeface="Calibri" pitchFamily="34" charset="-120"/>
              </a:rPr>
              <a:t>Time-boxed event (24/36/48h): small teams build a working prototype for a theme.</a:t>
            </a:r>
            <a:endParaRPr lang="en-US" sz="1900" dirty="0"/>
          </a:p>
          <a:p>
            <a:pPr indent="0" marL="0">
              <a:buNone/>
            </a:pPr>
            <a:r>
              <a:rPr lang="en-US" sz="1250" dirty="0">
                <a:solidFill>
                  <a:srgbClr val="7C8CA5"/>
                </a:solidFill>
                <a:latin typeface="Consolas" pitchFamily="34" charset="0"/>
                <a:ea typeface="Consolas" pitchFamily="34" charset="-122"/>
                <a:cs typeface="Consolas" pitchFamily="34" charset="-120"/>
              </a:rPr>
              <a:t>hack = rapid building · marathon = endurance</a:t>
            </a:r>
            <a:endParaRPr lang="en-US" sz="1900" dirty="0"/>
          </a:p>
        </p:txBody>
      </p:sp>
      <p:sp>
        <p:nvSpPr>
          <p:cNvPr id="8" name="Shape 5"/>
          <p:cNvSpPr/>
          <p:nvPr/>
        </p:nvSpPr>
        <p:spPr>
          <a:xfrm>
            <a:off x="548640" y="3566160"/>
            <a:ext cx="5577840" cy="1965960"/>
          </a:xfrm>
          <a:prstGeom prst="roundRect">
            <a:avLst>
              <a:gd name="adj" fmla="val 4186"/>
            </a:avLst>
          </a:prstGeom>
          <a:solidFill>
            <a:srgbClr val="141E33"/>
          </a:solidFill>
          <a:ln/>
          <a:effectLst>
            <a:outerShdw sx="100000" sy="100000" kx="0" ky="0" algn="bl" rotWithShape="0" blurRad="114300" dist="38100" dir="5400000">
              <a:srgbClr val="000000">
                <a:alpha val="45000"/>
              </a:srgbClr>
            </a:outerShdw>
          </a:effectLst>
        </p:spPr>
      </p:sp>
      <p:sp>
        <p:nvSpPr>
          <p:cNvPr id="9" name="Text 6"/>
          <p:cNvSpPr/>
          <p:nvPr/>
        </p:nvSpPr>
        <p:spPr>
          <a:xfrm>
            <a:off x="822960" y="3566160"/>
            <a:ext cx="5029200" cy="1965960"/>
          </a:xfrm>
          <a:prstGeom prst="rect">
            <a:avLst/>
          </a:prstGeom>
          <a:noFill/>
          <a:ln/>
        </p:spPr>
        <p:txBody>
          <a:bodyPr wrap="square" lIns="0" tIns="0" rIns="0" bIns="0" rtlCol="0" anchor="ctr"/>
          <a:lstStyle/>
          <a:p>
            <a:pPr indent="0" marL="0">
              <a:spcAft>
                <a:spcPts val="600"/>
              </a:spcAft>
              <a:buNone/>
            </a:pPr>
            <a:r>
              <a:rPr lang="en-US" sz="1900" b="1" dirty="0">
                <a:solidFill>
                  <a:srgbClr val="22D3EE"/>
                </a:solidFill>
                <a:latin typeface="Calibri" pitchFamily="34" charset="0"/>
                <a:ea typeface="Calibri" pitchFamily="34" charset="-122"/>
                <a:cs typeface="Calibri" pitchFamily="34" charset="-120"/>
              </a:rPr>
              <a:t>Prototype</a:t>
            </a:r>
            <a:endParaRPr lang="en-US" sz="1900" dirty="0"/>
          </a:p>
          <a:p>
            <a:pPr indent="0" marL="0">
              <a:spcAft>
                <a:spcPts val="400"/>
              </a:spcAft>
              <a:buNone/>
            </a:pPr>
            <a:r>
              <a:rPr lang="en-US" sz="1550" dirty="0">
                <a:solidFill>
                  <a:srgbClr val="F1F5F9"/>
                </a:solidFill>
                <a:latin typeface="Calibri" pitchFamily="34" charset="0"/>
                <a:ea typeface="Calibri" pitchFamily="34" charset="-122"/>
                <a:cs typeface="Calibri" pitchFamily="34" charset="-120"/>
              </a:rPr>
              <a:t>Early, functional version that proves the core idea works.</a:t>
            </a:r>
            <a:endParaRPr lang="en-US" sz="1900" dirty="0"/>
          </a:p>
          <a:p>
            <a:pPr indent="0" marL="0">
              <a:buNone/>
            </a:pPr>
            <a:r>
              <a:rPr lang="en-US" sz="1250" dirty="0">
                <a:solidFill>
                  <a:srgbClr val="7C8CA5"/>
                </a:solidFill>
                <a:latin typeface="Consolas" pitchFamily="34" charset="0"/>
                <a:ea typeface="Consolas" pitchFamily="34" charset="-122"/>
                <a:cs typeface="Consolas" pitchFamily="34" charset="-120"/>
              </a:rPr>
              <a:t>intentionally incomplete — one thing done well</a:t>
            </a:r>
            <a:endParaRPr lang="en-US" sz="1900" dirty="0"/>
          </a:p>
        </p:txBody>
      </p:sp>
      <p:sp>
        <p:nvSpPr>
          <p:cNvPr id="10" name="Text 7"/>
          <p:cNvSpPr/>
          <p:nvPr/>
        </p:nvSpPr>
        <p:spPr>
          <a:xfrm>
            <a:off x="548640" y="5760720"/>
            <a:ext cx="5577840" cy="365760"/>
          </a:xfrm>
          <a:prstGeom prst="rect">
            <a:avLst/>
          </a:prstGeom>
          <a:noFill/>
          <a:ln/>
        </p:spPr>
        <p:txBody>
          <a:bodyPr wrap="square" lIns="0" tIns="0" rIns="0" bIns="0" rtlCol="0" anchor="ctr"/>
          <a:lstStyle/>
          <a:p>
            <a:pPr indent="0" marL="0">
              <a:buNone/>
            </a:pPr>
            <a:r>
              <a:rPr lang="en-US" sz="1500" b="1" dirty="0">
                <a:solidFill>
                  <a:srgbClr val="22D3EE"/>
                </a:solidFill>
                <a:latin typeface="Consolas" pitchFamily="34" charset="0"/>
                <a:ea typeface="Consolas" pitchFamily="34" charset="-122"/>
                <a:cs typeface="Consolas" pitchFamily="34" charset="-120"/>
              </a:rPr>
              <a:t>&gt; </a:t>
            </a:r>
            <a:pPr indent="0" marL="0">
              <a:buNone/>
            </a:pPr>
            <a:r>
              <a:rPr lang="en-US" sz="1500" dirty="0">
                <a:solidFill>
                  <a:srgbClr val="A3E635"/>
                </a:solidFill>
                <a:latin typeface="Consolas" pitchFamily="34" charset="0"/>
                <a:ea typeface="Consolas" pitchFamily="34" charset="-122"/>
                <a:cs typeface="Consolas" pitchFamily="34" charset="-120"/>
              </a:rPr>
              <a:t>working demo  &gt;  perfect code</a:t>
            </a:r>
            <a:endParaRPr lang="en-US" sz="1500" dirty="0"/>
          </a:p>
        </p:txBody>
      </p:sp>
      <p:sp>
        <p:nvSpPr>
          <p:cNvPr id="11" name="Text 8"/>
          <p:cNvSpPr/>
          <p:nvPr/>
        </p:nvSpPr>
        <p:spPr>
          <a:xfrm>
            <a:off x="6629400" y="1371600"/>
            <a:ext cx="49377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WHY HACKATHONS EXIST</a:t>
            </a:r>
            <a:endParaRPr lang="en-US" sz="1400" dirty="0"/>
          </a:p>
        </p:txBody>
      </p:sp>
      <p:sp>
        <p:nvSpPr>
          <p:cNvPr id="12" name="Shape 9"/>
          <p:cNvSpPr/>
          <p:nvPr/>
        </p:nvSpPr>
        <p:spPr>
          <a:xfrm>
            <a:off x="6629400" y="1929384"/>
            <a:ext cx="548640" cy="548640"/>
          </a:xfrm>
          <a:prstGeom prst="ellipse">
            <a:avLst/>
          </a:prstGeom>
          <a:solidFill>
            <a:srgbClr val="1B2842"/>
          </a:solidFill>
          <a:ln/>
        </p:spPr>
      </p:sp>
      <p:pic>
        <p:nvPicPr>
          <p:cNvPr id="13" name="Image 0" descr="C:\Users\User\AppData\Local\Temp\claude\C--Users-User-OneDrive-Music-Hackathon\67e3d9e6-0718-4380-8c09-13d83fcd8fa7\scratchpad\pptbuild\v2\assets\icons\zap-cyan.png">    </p:cNvPr>
          <p:cNvPicPr>
            <a:picLocks noChangeAspect="1"/>
          </p:cNvPicPr>
          <p:nvPr/>
        </p:nvPicPr>
        <p:blipFill>
          <a:blip r:embed="rId1"/>
          <a:stretch>
            <a:fillRect/>
          </a:stretch>
        </p:blipFill>
        <p:spPr>
          <a:xfrm>
            <a:off x="6761074" y="2061058"/>
            <a:ext cx="285293" cy="285293"/>
          </a:xfrm>
          <a:prstGeom prst="rect">
            <a:avLst/>
          </a:prstGeom>
        </p:spPr>
      </p:pic>
      <p:sp>
        <p:nvSpPr>
          <p:cNvPr id="14" name="Text 10"/>
          <p:cNvSpPr/>
          <p:nvPr/>
        </p:nvSpPr>
        <p:spPr>
          <a:xfrm>
            <a:off x="7406640" y="1783080"/>
            <a:ext cx="4206240" cy="841248"/>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Rapid validation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buildable in a weekend, not a quarter</a:t>
            </a:r>
            <a:endParaRPr lang="en-US" sz="1500" dirty="0"/>
          </a:p>
        </p:txBody>
      </p:sp>
      <p:sp>
        <p:nvSpPr>
          <p:cNvPr id="15" name="Shape 11"/>
          <p:cNvSpPr/>
          <p:nvPr/>
        </p:nvSpPr>
        <p:spPr>
          <a:xfrm>
            <a:off x="6629400" y="2770632"/>
            <a:ext cx="548640" cy="548640"/>
          </a:xfrm>
          <a:prstGeom prst="ellipse">
            <a:avLst/>
          </a:prstGeom>
          <a:solidFill>
            <a:srgbClr val="1B2842"/>
          </a:solidFill>
          <a:ln/>
        </p:spPr>
      </p:sp>
      <p:pic>
        <p:nvPicPr>
          <p:cNvPr id="16" name="Image 1" descr="C:\Users\User\AppData\Local\Temp\claude\C--Users-User-OneDrive-Music-Hackathon\67e3d9e6-0718-4380-8c09-13d83fcd8fa7\scratchpad\pptbuild\v2\assets\icons\usercheck-cyan.png">    </p:cNvPr>
          <p:cNvPicPr>
            <a:picLocks noChangeAspect="1"/>
          </p:cNvPicPr>
          <p:nvPr/>
        </p:nvPicPr>
        <p:blipFill>
          <a:blip r:embed="rId2"/>
          <a:stretch>
            <a:fillRect/>
          </a:stretch>
        </p:blipFill>
        <p:spPr>
          <a:xfrm>
            <a:off x="6761074" y="2902306"/>
            <a:ext cx="285293" cy="285293"/>
          </a:xfrm>
          <a:prstGeom prst="rect">
            <a:avLst/>
          </a:prstGeom>
        </p:spPr>
      </p:pic>
      <p:sp>
        <p:nvSpPr>
          <p:cNvPr id="17" name="Text 12"/>
          <p:cNvSpPr/>
          <p:nvPr/>
        </p:nvSpPr>
        <p:spPr>
          <a:xfrm>
            <a:off x="7406640" y="2624328"/>
            <a:ext cx="4206240" cy="841248"/>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Talent discovery</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a working build beats a résumé</a:t>
            </a:r>
            <a:endParaRPr lang="en-US" sz="1500" dirty="0"/>
          </a:p>
        </p:txBody>
      </p:sp>
      <p:sp>
        <p:nvSpPr>
          <p:cNvPr id="18" name="Shape 13"/>
          <p:cNvSpPr/>
          <p:nvPr/>
        </p:nvSpPr>
        <p:spPr>
          <a:xfrm>
            <a:off x="6629400" y="3611880"/>
            <a:ext cx="548640" cy="548640"/>
          </a:xfrm>
          <a:prstGeom prst="ellipse">
            <a:avLst/>
          </a:prstGeom>
          <a:solidFill>
            <a:srgbClr val="1B2842"/>
          </a:solidFill>
          <a:ln/>
        </p:spPr>
      </p:sp>
      <p:pic>
        <p:nvPicPr>
          <p:cNvPr id="19" name="Image 2" descr="C:\Users\User\AppData\Local\Temp\claude\C--Users-User-OneDrive-Music-Hackathon\67e3d9e6-0718-4380-8c09-13d83fcd8fa7\scratchpad\pptbuild\v2\assets\icons\lightbulb-cyan.png">    </p:cNvPr>
          <p:cNvPicPr>
            <a:picLocks noChangeAspect="1"/>
          </p:cNvPicPr>
          <p:nvPr/>
        </p:nvPicPr>
        <p:blipFill>
          <a:blip r:embed="rId3"/>
          <a:stretch>
            <a:fillRect/>
          </a:stretch>
        </p:blipFill>
        <p:spPr>
          <a:xfrm>
            <a:off x="6761074" y="3743554"/>
            <a:ext cx="285293" cy="285293"/>
          </a:xfrm>
          <a:prstGeom prst="rect">
            <a:avLst/>
          </a:prstGeom>
        </p:spPr>
      </p:pic>
      <p:sp>
        <p:nvSpPr>
          <p:cNvPr id="20" name="Text 14"/>
          <p:cNvSpPr/>
          <p:nvPr/>
        </p:nvSpPr>
        <p:spPr>
          <a:xfrm>
            <a:off x="7406640" y="3465576"/>
            <a:ext cx="4206240" cy="841248"/>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Innovation sourcing</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fresh solutions, cheaply</a:t>
            </a:r>
            <a:endParaRPr lang="en-US" sz="1500" dirty="0"/>
          </a:p>
        </p:txBody>
      </p:sp>
      <p:sp>
        <p:nvSpPr>
          <p:cNvPr id="21" name="Shape 15"/>
          <p:cNvSpPr/>
          <p:nvPr/>
        </p:nvSpPr>
        <p:spPr>
          <a:xfrm>
            <a:off x="6629400" y="4453128"/>
            <a:ext cx="548640" cy="548640"/>
          </a:xfrm>
          <a:prstGeom prst="ellipse">
            <a:avLst/>
          </a:prstGeom>
          <a:solidFill>
            <a:srgbClr val="1B2842"/>
          </a:solidFill>
          <a:ln/>
        </p:spPr>
      </p:sp>
      <p:pic>
        <p:nvPicPr>
          <p:cNvPr id="22" name="Image 3" descr="C:\Users\User\AppData\Local\Temp\claude\C--Users-User-OneDrive-Music-Hackathon\67e3d9e6-0718-4380-8c09-13d83fcd8fa7\scratchpad\pptbuild\v2\assets\icons\trending-cyan.png">    </p:cNvPr>
          <p:cNvPicPr>
            <a:picLocks noChangeAspect="1"/>
          </p:cNvPicPr>
          <p:nvPr/>
        </p:nvPicPr>
        <p:blipFill>
          <a:blip r:embed="rId4"/>
          <a:stretch>
            <a:fillRect/>
          </a:stretch>
        </p:blipFill>
        <p:spPr>
          <a:xfrm>
            <a:off x="6761074" y="4584802"/>
            <a:ext cx="285293" cy="285293"/>
          </a:xfrm>
          <a:prstGeom prst="rect">
            <a:avLst/>
          </a:prstGeom>
        </p:spPr>
      </p:pic>
      <p:sp>
        <p:nvSpPr>
          <p:cNvPr id="23" name="Text 16"/>
          <p:cNvSpPr/>
          <p:nvPr/>
        </p:nvSpPr>
        <p:spPr>
          <a:xfrm>
            <a:off x="7406640" y="4306824"/>
            <a:ext cx="4206240" cy="841248"/>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Compressed learning</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36 focused hours &gt; weeks of study</a:t>
            </a:r>
            <a:endParaRPr lang="en-US" sz="1500" dirty="0"/>
          </a:p>
        </p:txBody>
      </p:sp>
      <p:sp>
        <p:nvSpPr>
          <p:cNvPr id="24" name="Shape 17"/>
          <p:cNvSpPr/>
          <p:nvPr/>
        </p:nvSpPr>
        <p:spPr>
          <a:xfrm>
            <a:off x="6629400" y="5294376"/>
            <a:ext cx="548640" cy="548640"/>
          </a:xfrm>
          <a:prstGeom prst="ellipse">
            <a:avLst/>
          </a:prstGeom>
          <a:solidFill>
            <a:srgbClr val="1B2842"/>
          </a:solidFill>
          <a:ln/>
        </p:spPr>
      </p:sp>
      <p:pic>
        <p:nvPicPr>
          <p:cNvPr id="25" name="Image 4" descr="C:\Users\User\AppData\Local\Temp\claude\C--Users-User-OneDrive-Music-Hackathon\67e3d9e6-0718-4380-8c09-13d83fcd8fa7\scratchpad\pptbuild\v2\assets\icons\cloud-cyan.png">    </p:cNvPr>
          <p:cNvPicPr>
            <a:picLocks noChangeAspect="1"/>
          </p:cNvPicPr>
          <p:nvPr/>
        </p:nvPicPr>
        <p:blipFill>
          <a:blip r:embed="rId5"/>
          <a:stretch>
            <a:fillRect/>
          </a:stretch>
        </p:blipFill>
        <p:spPr>
          <a:xfrm>
            <a:off x="6761074" y="5426050"/>
            <a:ext cx="285293" cy="285293"/>
          </a:xfrm>
          <a:prstGeom prst="rect">
            <a:avLst/>
          </a:prstGeom>
        </p:spPr>
      </p:pic>
      <p:sp>
        <p:nvSpPr>
          <p:cNvPr id="26" name="Text 18"/>
          <p:cNvSpPr/>
          <p:nvPr/>
        </p:nvSpPr>
        <p:spPr>
          <a:xfrm>
            <a:off x="7406640" y="5148072"/>
            <a:ext cx="4206240" cy="841248"/>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Ecosystem growth</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sponsors want you on their APIs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Hackathon vs Traditional Dev</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468880"/>
                <a:gridCol w="4023360"/>
                <a:gridCol w="4599432"/>
              </a:tblGrid>
              <a:tr h="603504">
                <a:tc>
                  <a:txBody>
                    <a:bodyPr/>
                    <a:lstStyle/>
                    <a:p>
                      <a:pPr algn="l" indent="0" marL="0">
                        <a:buNone/>
                      </a:pPr>
                      <a:r>
                        <a:rPr lang="en-US" sz="1500" b="1" dirty="0">
                          <a:solidFill>
                            <a:srgbClr val="22D3EE"/>
                          </a:solidFill>
                          <a:latin typeface="Calibri" pitchFamily="34" charset="0"/>
                          <a:ea typeface="Calibri" pitchFamily="34" charset="-122"/>
                          <a:cs typeface="Calibri" pitchFamily="34" charset="-120"/>
                        </a:rPr>
                        <a:t>Dimension</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500" b="1" dirty="0">
                          <a:solidFill>
                            <a:srgbClr val="22D3EE"/>
                          </a:solidFill>
                          <a:latin typeface="Calibri" pitchFamily="34" charset="0"/>
                          <a:ea typeface="Calibri" pitchFamily="34" charset="-122"/>
                          <a:cs typeface="Calibri" pitchFamily="34" charset="-120"/>
                        </a:rPr>
                        <a:t>Traditional</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500" b="1" dirty="0">
                          <a:solidFill>
                            <a:srgbClr val="22D3EE"/>
                          </a:solidFill>
                          <a:latin typeface="Calibri" pitchFamily="34" charset="0"/>
                          <a:ea typeface="Calibri" pitchFamily="34" charset="-122"/>
                          <a:cs typeface="Calibri" pitchFamily="34" charset="-120"/>
                        </a:rPr>
                        <a:t>Hackathon</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603504">
                <a:tc>
                  <a:txBody>
                    <a:bodyPr/>
                    <a:lstStyle/>
                    <a:p>
                      <a:pPr algn="l" indent="0" marL="0">
                        <a:buNone/>
                      </a:pPr>
                      <a:r>
                        <a:rPr lang="en-US" sz="1500" b="1" dirty="0">
                          <a:solidFill>
                            <a:srgbClr val="F1F5F9"/>
                          </a:solidFill>
                          <a:latin typeface="Calibri" pitchFamily="34" charset="0"/>
                          <a:ea typeface="Calibri" pitchFamily="34" charset="-122"/>
                          <a:cs typeface="Calibri" pitchFamily="34" charset="-120"/>
                        </a:rPr>
                        <a:t>Timeframe</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Weeks – months</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00" b="1" dirty="0">
                          <a:solidFill>
                            <a:srgbClr val="22D3EE"/>
                          </a:solidFill>
                          <a:latin typeface="Calibri" pitchFamily="34" charset="0"/>
                          <a:ea typeface="Calibri" pitchFamily="34" charset="-122"/>
                          <a:cs typeface="Calibri" pitchFamily="34" charset="-120"/>
                        </a:rPr>
                        <a:t>24 – 48 hours</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603504">
                <a:tc>
                  <a:txBody>
                    <a:bodyPr/>
                    <a:lstStyle/>
                    <a:p>
                      <a:pPr algn="l" indent="0" marL="0">
                        <a:buNone/>
                      </a:pPr>
                      <a:r>
                        <a:rPr lang="en-US" sz="1500" b="1" dirty="0">
                          <a:solidFill>
                            <a:srgbClr val="F1F5F9"/>
                          </a:solidFill>
                          <a:latin typeface="Calibri" pitchFamily="34" charset="0"/>
                          <a:ea typeface="Calibri" pitchFamily="34" charset="-122"/>
                          <a:cs typeface="Calibri" pitchFamily="34" charset="-120"/>
                        </a:rPr>
                        <a:t>Goal</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Production-ready product</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Convincing prototype</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603504">
                <a:tc>
                  <a:txBody>
                    <a:bodyPr/>
                    <a:lstStyle/>
                    <a:p>
                      <a:pPr algn="l" indent="0" marL="0">
                        <a:buNone/>
                      </a:pPr>
                      <a:r>
                        <a:rPr lang="en-US" sz="1500" b="1" dirty="0">
                          <a:solidFill>
                            <a:srgbClr val="F1F5F9"/>
                          </a:solidFill>
                          <a:latin typeface="Calibri" pitchFamily="34" charset="0"/>
                          <a:ea typeface="Calibri" pitchFamily="34" charset="-122"/>
                          <a:cs typeface="Calibri" pitchFamily="34" charset="-120"/>
                        </a:rPr>
                        <a:t>Scope</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Full feature set</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One “magic” feature done well</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603504">
                <a:tc>
                  <a:txBody>
                    <a:bodyPr/>
                    <a:lstStyle/>
                    <a:p>
                      <a:pPr algn="l" indent="0" marL="0">
                        <a:buNone/>
                      </a:pPr>
                      <a:r>
                        <a:rPr lang="en-US" sz="1500" b="1" dirty="0">
                          <a:solidFill>
                            <a:srgbClr val="F1F5F9"/>
                          </a:solidFill>
                          <a:latin typeface="Calibri" pitchFamily="34" charset="0"/>
                          <a:ea typeface="Calibri" pitchFamily="34" charset="-122"/>
                          <a:cs typeface="Calibri" pitchFamily="34" charset="-120"/>
                        </a:rPr>
                        <a:t>Testing</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Comprehensive, automated</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Manual, on the critical path</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603504">
                <a:tc>
                  <a:txBody>
                    <a:bodyPr/>
                    <a:lstStyle/>
                    <a:p>
                      <a:pPr algn="l" indent="0" marL="0">
                        <a:buNone/>
                      </a:pPr>
                      <a:r>
                        <a:rPr lang="en-US" sz="1500" b="1" dirty="0">
                          <a:solidFill>
                            <a:srgbClr val="F1F5F9"/>
                          </a:solidFill>
                          <a:latin typeface="Calibri" pitchFamily="34" charset="0"/>
                          <a:ea typeface="Calibri" pitchFamily="34" charset="-122"/>
                          <a:cs typeface="Calibri" pitchFamily="34" charset="-120"/>
                        </a:rPr>
                        <a:t>Tech choices</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Long-term stack</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Whatever ships tonight</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603504">
                <a:tc>
                  <a:txBody>
                    <a:bodyPr/>
                    <a:lstStyle/>
                    <a:p>
                      <a:pPr algn="l" indent="0" marL="0">
                        <a:buNone/>
                      </a:pPr>
                      <a:r>
                        <a:rPr lang="en-US" sz="1500" b="1" dirty="0">
                          <a:solidFill>
                            <a:srgbClr val="F1F5F9"/>
                          </a:solidFill>
                          <a:latin typeface="Calibri" pitchFamily="34" charset="0"/>
                          <a:ea typeface="Calibri" pitchFamily="34" charset="-122"/>
                          <a:cs typeface="Calibri" pitchFamily="34" charset="-120"/>
                        </a:rPr>
                        <a:t>Success metric</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00" dirty="0">
                          <a:solidFill>
                            <a:srgbClr val="F1F5F9"/>
                          </a:solidFill>
                          <a:latin typeface="Calibri" pitchFamily="34" charset="0"/>
                          <a:ea typeface="Calibri" pitchFamily="34" charset="-122"/>
                          <a:cs typeface="Calibri" pitchFamily="34" charset="-120"/>
                        </a:rPr>
                        <a:t>Reliability in production</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00" b="1" dirty="0">
                          <a:solidFill>
                            <a:srgbClr val="22D3EE"/>
                          </a:solidFill>
                          <a:latin typeface="Calibri" pitchFamily="34" charset="0"/>
                          <a:ea typeface="Calibri" pitchFamily="34" charset="-122"/>
                          <a:cs typeface="Calibri" pitchFamily="34" charset="-120"/>
                        </a:rPr>
                        <a:t>Demo works + impresses judges</a:t>
                      </a:r>
                      <a:endParaRPr lang="en-US" sz="15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6" name="Text 2"/>
          <p:cNvSpPr/>
          <p:nvPr/>
        </p:nvSpPr>
        <p:spPr>
          <a:xfrm>
            <a:off x="548640" y="5806440"/>
            <a:ext cx="11091672" cy="365760"/>
          </a:xfrm>
          <a:prstGeom prst="rect">
            <a:avLst/>
          </a:prstGeom>
          <a:noFill/>
          <a:ln/>
        </p:spPr>
        <p:txBody>
          <a:bodyPr wrap="square" lIns="0" tIns="0" rIns="0" bIns="0" rtlCol="0" anchor="ctr"/>
          <a:lstStyle/>
          <a:p>
            <a:pPr algn="ctr" indent="0" marL="0">
              <a:buNone/>
            </a:pPr>
            <a:r>
              <a:rPr lang="en-US" sz="1500" i="1" dirty="0">
                <a:solidFill>
                  <a:srgbClr val="7C8CA5"/>
                </a:solidFill>
                <a:latin typeface="Calibri" pitchFamily="34" charset="0"/>
                <a:ea typeface="Calibri" pitchFamily="34" charset="-122"/>
                <a:cs typeface="Calibri" pitchFamily="34" charset="-120"/>
              </a:rPr>
              <a:t>Different game, different rules — optimize for the demo.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Categories of Hackathons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a:t>
            </a:r>
            <a:endParaRPr lang="en-US" sz="1000" dirty="0"/>
          </a:p>
        </p:txBody>
      </p:sp>
      <p:sp>
        <p:nvSpPr>
          <p:cNvPr id="5" name="Shape 2"/>
          <p:cNvSpPr/>
          <p:nvPr/>
        </p:nvSpPr>
        <p:spPr>
          <a:xfrm>
            <a:off x="548640" y="1371600"/>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694944" y="1604772"/>
            <a:ext cx="475488" cy="475488"/>
          </a:xfrm>
          <a:prstGeom prst="ellipse">
            <a:avLst/>
          </a:prstGeom>
          <a:solidFill>
            <a:srgbClr val="1B2842"/>
          </a:solidFill>
          <a:ln/>
        </p:spPr>
      </p:sp>
      <p:pic>
        <p:nvPicPr>
          <p:cNvPr id="7" name="Image 0" descr="C:\Users\User\AppData\Local\Temp\claude\C--Users-User-OneDrive-Music-Hackathon\67e3d9e6-0718-4380-8c09-13d83fcd8fa7\scratchpad\pptbuild\v2\assets\icons\brain-cyan.png">    </p:cNvPr>
          <p:cNvPicPr>
            <a:picLocks noChangeAspect="1"/>
          </p:cNvPicPr>
          <p:nvPr/>
        </p:nvPicPr>
        <p:blipFill>
          <a:blip r:embed="rId1"/>
          <a:stretch>
            <a:fillRect/>
          </a:stretch>
        </p:blipFill>
        <p:spPr>
          <a:xfrm>
            <a:off x="809061" y="1718889"/>
            <a:ext cx="247254" cy="247254"/>
          </a:xfrm>
          <a:prstGeom prst="rect">
            <a:avLst/>
          </a:prstGeom>
        </p:spPr>
      </p:pic>
      <p:sp>
        <p:nvSpPr>
          <p:cNvPr id="8" name="Text 4"/>
          <p:cNvSpPr/>
          <p:nvPr/>
        </p:nvSpPr>
        <p:spPr>
          <a:xfrm>
            <a:off x="1298448" y="1371600"/>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AI / ML</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AI novelty weighted</a:t>
            </a:r>
            <a:endParaRPr lang="en-US" sz="1450" dirty="0"/>
          </a:p>
        </p:txBody>
      </p:sp>
      <p:sp>
        <p:nvSpPr>
          <p:cNvPr id="9" name="Shape 5"/>
          <p:cNvSpPr/>
          <p:nvPr/>
        </p:nvSpPr>
        <p:spPr>
          <a:xfrm>
            <a:off x="3380994" y="1371600"/>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3527298" y="1604772"/>
            <a:ext cx="475488" cy="475488"/>
          </a:xfrm>
          <a:prstGeom prst="ellipse">
            <a:avLst/>
          </a:prstGeom>
          <a:solidFill>
            <a:srgbClr val="1B2842"/>
          </a:solidFill>
          <a:ln/>
        </p:spPr>
      </p:sp>
      <p:pic>
        <p:nvPicPr>
          <p:cNvPr id="11" name="Image 1" descr="C:\Users\User\AppData\Local\Temp\claude\C--Users-User-OneDrive-Music-Hackathon\67e3d9e6-0718-4380-8c09-13d83fcd8fa7\scratchpad\pptbuild\v2\assets\icons\globe-cyan.png">    </p:cNvPr>
          <p:cNvPicPr>
            <a:picLocks noChangeAspect="1"/>
          </p:cNvPicPr>
          <p:nvPr/>
        </p:nvPicPr>
        <p:blipFill>
          <a:blip r:embed="rId2"/>
          <a:stretch>
            <a:fillRect/>
          </a:stretch>
        </p:blipFill>
        <p:spPr>
          <a:xfrm>
            <a:off x="3641415" y="1718889"/>
            <a:ext cx="247254" cy="247254"/>
          </a:xfrm>
          <a:prstGeom prst="rect">
            <a:avLst/>
          </a:prstGeom>
        </p:spPr>
      </p:pic>
      <p:sp>
        <p:nvSpPr>
          <p:cNvPr id="12" name="Text 7"/>
          <p:cNvSpPr/>
          <p:nvPr/>
        </p:nvSpPr>
        <p:spPr>
          <a:xfrm>
            <a:off x="4130802" y="1371600"/>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Web</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front-end + full-stack</a:t>
            </a:r>
            <a:endParaRPr lang="en-US" sz="1450" dirty="0"/>
          </a:p>
        </p:txBody>
      </p:sp>
      <p:sp>
        <p:nvSpPr>
          <p:cNvPr id="13" name="Shape 8"/>
          <p:cNvSpPr/>
          <p:nvPr/>
        </p:nvSpPr>
        <p:spPr>
          <a:xfrm>
            <a:off x="6213348" y="1371600"/>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6359652" y="1604772"/>
            <a:ext cx="475488" cy="475488"/>
          </a:xfrm>
          <a:prstGeom prst="ellipse">
            <a:avLst/>
          </a:prstGeom>
          <a:solidFill>
            <a:srgbClr val="1B2842"/>
          </a:solidFill>
          <a:ln/>
        </p:spPr>
      </p:sp>
      <p:pic>
        <p:nvPicPr>
          <p:cNvPr id="15" name="Image 2" descr="C:\Users\User\AppData\Local\Temp\claude\C--Users-User-OneDrive-Music-Hackathon\67e3d9e6-0718-4380-8c09-13d83fcd8fa7\scratchpad\pptbuild\v2\assets\icons\smartphone-cyan.png">    </p:cNvPr>
          <p:cNvPicPr>
            <a:picLocks noChangeAspect="1"/>
          </p:cNvPicPr>
          <p:nvPr/>
        </p:nvPicPr>
        <p:blipFill>
          <a:blip r:embed="rId3"/>
          <a:stretch>
            <a:fillRect/>
          </a:stretch>
        </p:blipFill>
        <p:spPr>
          <a:xfrm>
            <a:off x="6473769" y="1718889"/>
            <a:ext cx="247254" cy="247254"/>
          </a:xfrm>
          <a:prstGeom prst="rect">
            <a:avLst/>
          </a:prstGeom>
        </p:spPr>
      </p:pic>
      <p:sp>
        <p:nvSpPr>
          <p:cNvPr id="16" name="Text 10"/>
          <p:cNvSpPr/>
          <p:nvPr/>
        </p:nvSpPr>
        <p:spPr>
          <a:xfrm>
            <a:off x="6963156" y="1371600"/>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Mobile</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on-device UX</a:t>
            </a:r>
            <a:endParaRPr lang="en-US" sz="1450" dirty="0"/>
          </a:p>
        </p:txBody>
      </p:sp>
      <p:sp>
        <p:nvSpPr>
          <p:cNvPr id="17" name="Shape 11"/>
          <p:cNvSpPr/>
          <p:nvPr/>
        </p:nvSpPr>
        <p:spPr>
          <a:xfrm>
            <a:off x="9045702" y="1371600"/>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9192006" y="1604772"/>
            <a:ext cx="475488" cy="475488"/>
          </a:xfrm>
          <a:prstGeom prst="ellipse">
            <a:avLst/>
          </a:prstGeom>
          <a:solidFill>
            <a:srgbClr val="1B2842"/>
          </a:solidFill>
          <a:ln/>
        </p:spPr>
      </p:sp>
      <p:pic>
        <p:nvPicPr>
          <p:cNvPr id="19" name="Image 3" descr="C:\Users\User\AppData\Local\Temp\claude\C--Users-User-OneDrive-Music-Hackathon\67e3d9e6-0718-4380-8c09-13d83fcd8fa7\scratchpad\pptbuild\v2\assets\icons\link-cyan.png">    </p:cNvPr>
          <p:cNvPicPr>
            <a:picLocks noChangeAspect="1"/>
          </p:cNvPicPr>
          <p:nvPr/>
        </p:nvPicPr>
        <p:blipFill>
          <a:blip r:embed="rId4"/>
          <a:stretch>
            <a:fillRect/>
          </a:stretch>
        </p:blipFill>
        <p:spPr>
          <a:xfrm>
            <a:off x="9306123" y="1718889"/>
            <a:ext cx="247254" cy="247254"/>
          </a:xfrm>
          <a:prstGeom prst="rect">
            <a:avLst/>
          </a:prstGeom>
        </p:spPr>
      </p:pic>
      <p:sp>
        <p:nvSpPr>
          <p:cNvPr id="20" name="Text 13"/>
          <p:cNvSpPr/>
          <p:nvPr/>
        </p:nvSpPr>
        <p:spPr>
          <a:xfrm>
            <a:off x="9795510" y="1371600"/>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Blockchain / Web3</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correctness + security</a:t>
            </a:r>
            <a:endParaRPr lang="en-US" sz="1450" dirty="0"/>
          </a:p>
        </p:txBody>
      </p:sp>
      <p:sp>
        <p:nvSpPr>
          <p:cNvPr id="21" name="Shape 14"/>
          <p:cNvSpPr/>
          <p:nvPr/>
        </p:nvSpPr>
        <p:spPr>
          <a:xfrm>
            <a:off x="548640" y="2551176"/>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694944" y="2784348"/>
            <a:ext cx="475488" cy="475488"/>
          </a:xfrm>
          <a:prstGeom prst="ellipse">
            <a:avLst/>
          </a:prstGeom>
          <a:solidFill>
            <a:srgbClr val="1B2842"/>
          </a:solidFill>
          <a:ln/>
        </p:spPr>
      </p:sp>
      <p:pic>
        <p:nvPicPr>
          <p:cNvPr id="23" name="Image 4" descr="C:\Users\User\AppData\Local\Temp\claude\C--Users-User-OneDrive-Music-Hackathon\67e3d9e6-0718-4380-8c09-13d83fcd8fa7\scratchpad\pptbuild\v2\assets\icons\wifi-cyan.png">    </p:cNvPr>
          <p:cNvPicPr>
            <a:picLocks noChangeAspect="1"/>
          </p:cNvPicPr>
          <p:nvPr/>
        </p:nvPicPr>
        <p:blipFill>
          <a:blip r:embed="rId5"/>
          <a:stretch>
            <a:fillRect/>
          </a:stretch>
        </p:blipFill>
        <p:spPr>
          <a:xfrm>
            <a:off x="809061" y="2898465"/>
            <a:ext cx="247254" cy="247254"/>
          </a:xfrm>
          <a:prstGeom prst="rect">
            <a:avLst/>
          </a:prstGeom>
        </p:spPr>
      </p:pic>
      <p:sp>
        <p:nvSpPr>
          <p:cNvPr id="24" name="Text 16"/>
          <p:cNvSpPr/>
          <p:nvPr/>
        </p:nvSpPr>
        <p:spPr>
          <a:xfrm>
            <a:off x="1298448" y="2551176"/>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IoT</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hardware integration</a:t>
            </a:r>
            <a:endParaRPr lang="en-US" sz="1450" dirty="0"/>
          </a:p>
        </p:txBody>
      </p:sp>
      <p:sp>
        <p:nvSpPr>
          <p:cNvPr id="25" name="Shape 17"/>
          <p:cNvSpPr/>
          <p:nvPr/>
        </p:nvSpPr>
        <p:spPr>
          <a:xfrm>
            <a:off x="3380994" y="2551176"/>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3527298" y="2784348"/>
            <a:ext cx="475488" cy="475488"/>
          </a:xfrm>
          <a:prstGeom prst="ellipse">
            <a:avLst/>
          </a:prstGeom>
          <a:solidFill>
            <a:srgbClr val="1B2842"/>
          </a:solidFill>
          <a:ln/>
        </p:spPr>
      </p:sp>
      <p:pic>
        <p:nvPicPr>
          <p:cNvPr id="27" name="Image 5" descr="C:\Users\User\AppData\Local\Temp\claude\C--Users-User-OneDrive-Music-Hackathon\67e3d9e6-0718-4380-8c09-13d83fcd8fa7\scratchpad\pptbuild\v2\assets\icons\shield-cyan.png">    </p:cNvPr>
          <p:cNvPicPr>
            <a:picLocks noChangeAspect="1"/>
          </p:cNvPicPr>
          <p:nvPr/>
        </p:nvPicPr>
        <p:blipFill>
          <a:blip r:embed="rId6"/>
          <a:stretch>
            <a:fillRect/>
          </a:stretch>
        </p:blipFill>
        <p:spPr>
          <a:xfrm>
            <a:off x="3641415" y="2898465"/>
            <a:ext cx="247254" cy="247254"/>
          </a:xfrm>
          <a:prstGeom prst="rect">
            <a:avLst/>
          </a:prstGeom>
        </p:spPr>
      </p:pic>
      <p:sp>
        <p:nvSpPr>
          <p:cNvPr id="28" name="Text 19"/>
          <p:cNvSpPr/>
          <p:nvPr/>
        </p:nvSpPr>
        <p:spPr>
          <a:xfrm>
            <a:off x="4130802" y="2551176"/>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Cybersecurity</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robustness</a:t>
            </a:r>
            <a:endParaRPr lang="en-US" sz="1450" dirty="0"/>
          </a:p>
        </p:txBody>
      </p:sp>
      <p:sp>
        <p:nvSpPr>
          <p:cNvPr id="29" name="Shape 20"/>
          <p:cNvSpPr/>
          <p:nvPr/>
        </p:nvSpPr>
        <p:spPr>
          <a:xfrm>
            <a:off x="6213348" y="2551176"/>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30" name="Shape 21"/>
          <p:cNvSpPr/>
          <p:nvPr/>
        </p:nvSpPr>
        <p:spPr>
          <a:xfrm>
            <a:off x="6359652" y="2784348"/>
            <a:ext cx="475488" cy="475488"/>
          </a:xfrm>
          <a:prstGeom prst="ellipse">
            <a:avLst/>
          </a:prstGeom>
          <a:solidFill>
            <a:srgbClr val="1B2842"/>
          </a:solidFill>
          <a:ln/>
        </p:spPr>
      </p:sp>
      <p:pic>
        <p:nvPicPr>
          <p:cNvPr id="31" name="Image 6" descr="C:\Users\User\AppData\Local\Temp\claude\C--Users-User-OneDrive-Music-Hackathon\67e3d9e6-0718-4380-8c09-13d83fcd8fa7\scratchpad\pptbuild\v2\assets\icons\glasses-cyan.png">    </p:cNvPr>
          <p:cNvPicPr>
            <a:picLocks noChangeAspect="1"/>
          </p:cNvPicPr>
          <p:nvPr/>
        </p:nvPicPr>
        <p:blipFill>
          <a:blip r:embed="rId7"/>
          <a:stretch>
            <a:fillRect/>
          </a:stretch>
        </p:blipFill>
        <p:spPr>
          <a:xfrm>
            <a:off x="6473769" y="2898465"/>
            <a:ext cx="247254" cy="247254"/>
          </a:xfrm>
          <a:prstGeom prst="rect">
            <a:avLst/>
          </a:prstGeom>
        </p:spPr>
      </p:pic>
      <p:sp>
        <p:nvSpPr>
          <p:cNvPr id="32" name="Text 22"/>
          <p:cNvSpPr/>
          <p:nvPr/>
        </p:nvSpPr>
        <p:spPr>
          <a:xfrm>
            <a:off x="6963156" y="2551176"/>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AR / VR / XR</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performance + interaction</a:t>
            </a:r>
            <a:endParaRPr lang="en-US" sz="1450" dirty="0"/>
          </a:p>
        </p:txBody>
      </p:sp>
      <p:sp>
        <p:nvSpPr>
          <p:cNvPr id="33" name="Shape 23"/>
          <p:cNvSpPr/>
          <p:nvPr/>
        </p:nvSpPr>
        <p:spPr>
          <a:xfrm>
            <a:off x="9045702" y="2551176"/>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34" name="Shape 24"/>
          <p:cNvSpPr/>
          <p:nvPr/>
        </p:nvSpPr>
        <p:spPr>
          <a:xfrm>
            <a:off x="9192006" y="2784348"/>
            <a:ext cx="475488" cy="475488"/>
          </a:xfrm>
          <a:prstGeom prst="ellipse">
            <a:avLst/>
          </a:prstGeom>
          <a:solidFill>
            <a:srgbClr val="1B2842"/>
          </a:solidFill>
          <a:ln/>
        </p:spPr>
      </p:sp>
      <p:pic>
        <p:nvPicPr>
          <p:cNvPr id="35" name="Image 7" descr="C:\Users\User\AppData\Local\Temp\claude\C--Users-User-OneDrive-Music-Hackathon\67e3d9e6-0718-4380-8c09-13d83fcd8fa7\scratchpad\pptbuild\v2\assets\icons\lightbulb-cyan.png">    </p:cNvPr>
          <p:cNvPicPr>
            <a:picLocks noChangeAspect="1"/>
          </p:cNvPicPr>
          <p:nvPr/>
        </p:nvPicPr>
        <p:blipFill>
          <a:blip r:embed="rId8"/>
          <a:stretch>
            <a:fillRect/>
          </a:stretch>
        </p:blipFill>
        <p:spPr>
          <a:xfrm>
            <a:off x="9306123" y="2898465"/>
            <a:ext cx="247254" cy="247254"/>
          </a:xfrm>
          <a:prstGeom prst="rect">
            <a:avLst/>
          </a:prstGeom>
        </p:spPr>
      </p:pic>
      <p:sp>
        <p:nvSpPr>
          <p:cNvPr id="36" name="Text 25"/>
          <p:cNvSpPr/>
          <p:nvPr/>
        </p:nvSpPr>
        <p:spPr>
          <a:xfrm>
            <a:off x="9795510" y="2551176"/>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Open Innovation</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you pick the problem</a:t>
            </a:r>
            <a:endParaRPr lang="en-US" sz="1450" dirty="0"/>
          </a:p>
        </p:txBody>
      </p:sp>
      <p:sp>
        <p:nvSpPr>
          <p:cNvPr id="37" name="Shape 26"/>
          <p:cNvSpPr/>
          <p:nvPr/>
        </p:nvSpPr>
        <p:spPr>
          <a:xfrm>
            <a:off x="548640" y="3730752"/>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38" name="Shape 27"/>
          <p:cNvSpPr/>
          <p:nvPr/>
        </p:nvSpPr>
        <p:spPr>
          <a:xfrm>
            <a:off x="694944" y="3963924"/>
            <a:ext cx="475488" cy="475488"/>
          </a:xfrm>
          <a:prstGeom prst="ellipse">
            <a:avLst/>
          </a:prstGeom>
          <a:solidFill>
            <a:srgbClr val="1B2842"/>
          </a:solidFill>
          <a:ln/>
        </p:spPr>
      </p:sp>
      <p:pic>
        <p:nvPicPr>
          <p:cNvPr id="39" name="Image 8" descr="C:\Users\User\AppData\Local\Temp\claude\C--Users-User-OneDrive-Music-Hackathon\67e3d9e6-0718-4380-8c09-13d83fcd8fa7\scratchpad\pptbuild\v2\assets\icons\building-cyan.png">    </p:cNvPr>
          <p:cNvPicPr>
            <a:picLocks noChangeAspect="1"/>
          </p:cNvPicPr>
          <p:nvPr/>
        </p:nvPicPr>
        <p:blipFill>
          <a:blip r:embed="rId9"/>
          <a:stretch>
            <a:fillRect/>
          </a:stretch>
        </p:blipFill>
        <p:spPr>
          <a:xfrm>
            <a:off x="809061" y="4078041"/>
            <a:ext cx="247254" cy="247254"/>
          </a:xfrm>
          <a:prstGeom prst="rect">
            <a:avLst/>
          </a:prstGeom>
        </p:spPr>
      </p:pic>
      <p:sp>
        <p:nvSpPr>
          <p:cNvPr id="40" name="Text 28"/>
          <p:cNvSpPr/>
          <p:nvPr/>
        </p:nvSpPr>
        <p:spPr>
          <a:xfrm>
            <a:off x="1298448" y="3730752"/>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Corporate</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sponsor's real problem</a:t>
            </a:r>
            <a:endParaRPr lang="en-US" sz="1450" dirty="0"/>
          </a:p>
        </p:txBody>
      </p:sp>
      <p:sp>
        <p:nvSpPr>
          <p:cNvPr id="41" name="Shape 29"/>
          <p:cNvSpPr/>
          <p:nvPr/>
        </p:nvSpPr>
        <p:spPr>
          <a:xfrm>
            <a:off x="3380994" y="3730752"/>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42" name="Shape 30"/>
          <p:cNvSpPr/>
          <p:nvPr/>
        </p:nvSpPr>
        <p:spPr>
          <a:xfrm>
            <a:off x="3527298" y="3963924"/>
            <a:ext cx="475488" cy="475488"/>
          </a:xfrm>
          <a:prstGeom prst="ellipse">
            <a:avLst/>
          </a:prstGeom>
          <a:solidFill>
            <a:srgbClr val="1B2842"/>
          </a:solidFill>
          <a:ln/>
        </p:spPr>
      </p:sp>
      <p:pic>
        <p:nvPicPr>
          <p:cNvPr id="43" name="Image 9" descr="C:\Users\User\AppData\Local\Temp\claude\C--Users-User-OneDrive-Music-Hackathon\67e3d9e6-0718-4380-8c09-13d83fcd8fa7\scratchpad\pptbuild\v2\assets\icons\landmark-cyan.png">    </p:cNvPr>
          <p:cNvPicPr>
            <a:picLocks noChangeAspect="1"/>
          </p:cNvPicPr>
          <p:nvPr/>
        </p:nvPicPr>
        <p:blipFill>
          <a:blip r:embed="rId10"/>
          <a:stretch>
            <a:fillRect/>
          </a:stretch>
        </p:blipFill>
        <p:spPr>
          <a:xfrm>
            <a:off x="3641415" y="4078041"/>
            <a:ext cx="247254" cy="247254"/>
          </a:xfrm>
          <a:prstGeom prst="rect">
            <a:avLst/>
          </a:prstGeom>
        </p:spPr>
      </p:pic>
      <p:sp>
        <p:nvSpPr>
          <p:cNvPr id="44" name="Text 31"/>
          <p:cNvSpPr/>
          <p:nvPr/>
        </p:nvSpPr>
        <p:spPr>
          <a:xfrm>
            <a:off x="4130802" y="3730752"/>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Gov / Civic</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open data · accessibility</a:t>
            </a:r>
            <a:endParaRPr lang="en-US" sz="1450" dirty="0"/>
          </a:p>
        </p:txBody>
      </p:sp>
      <p:sp>
        <p:nvSpPr>
          <p:cNvPr id="45" name="Shape 32"/>
          <p:cNvSpPr/>
          <p:nvPr/>
        </p:nvSpPr>
        <p:spPr>
          <a:xfrm>
            <a:off x="6213348" y="3730752"/>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46" name="Shape 33"/>
          <p:cNvSpPr/>
          <p:nvPr/>
        </p:nvSpPr>
        <p:spPr>
          <a:xfrm>
            <a:off x="6359652" y="3963924"/>
            <a:ext cx="475488" cy="475488"/>
          </a:xfrm>
          <a:prstGeom prst="ellipse">
            <a:avLst/>
          </a:prstGeom>
          <a:solidFill>
            <a:srgbClr val="1B2842"/>
          </a:solidFill>
          <a:ln/>
        </p:spPr>
      </p:sp>
      <p:pic>
        <p:nvPicPr>
          <p:cNvPr id="47" name="Image 10" descr="C:\Users\User\AppData\Local\Temp\claude\C--Users-User-OneDrive-Music-Hackathon\67e3d9e6-0718-4380-8c09-13d83fcd8fa7\scratchpad\pptbuild\v2\assets\icons\heartpulse-cyan.png">    </p:cNvPr>
          <p:cNvPicPr>
            <a:picLocks noChangeAspect="1"/>
          </p:cNvPicPr>
          <p:nvPr/>
        </p:nvPicPr>
        <p:blipFill>
          <a:blip r:embed="rId11"/>
          <a:stretch>
            <a:fillRect/>
          </a:stretch>
        </p:blipFill>
        <p:spPr>
          <a:xfrm>
            <a:off x="6473769" y="4078041"/>
            <a:ext cx="247254" cy="247254"/>
          </a:xfrm>
          <a:prstGeom prst="rect">
            <a:avLst/>
          </a:prstGeom>
        </p:spPr>
      </p:pic>
      <p:sp>
        <p:nvSpPr>
          <p:cNvPr id="48" name="Text 34"/>
          <p:cNvSpPr/>
          <p:nvPr/>
        </p:nvSpPr>
        <p:spPr>
          <a:xfrm>
            <a:off x="6963156" y="3730752"/>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Healthcare</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privacy + safety critical</a:t>
            </a:r>
            <a:endParaRPr lang="en-US" sz="1450" dirty="0"/>
          </a:p>
        </p:txBody>
      </p:sp>
      <p:sp>
        <p:nvSpPr>
          <p:cNvPr id="49" name="Shape 35"/>
          <p:cNvSpPr/>
          <p:nvPr/>
        </p:nvSpPr>
        <p:spPr>
          <a:xfrm>
            <a:off x="9045702" y="3730752"/>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50" name="Shape 36"/>
          <p:cNvSpPr/>
          <p:nvPr/>
        </p:nvSpPr>
        <p:spPr>
          <a:xfrm>
            <a:off x="9192006" y="3963924"/>
            <a:ext cx="475488" cy="475488"/>
          </a:xfrm>
          <a:prstGeom prst="ellipse">
            <a:avLst/>
          </a:prstGeom>
          <a:solidFill>
            <a:srgbClr val="1B2842"/>
          </a:solidFill>
          <a:ln/>
        </p:spPr>
      </p:sp>
      <p:pic>
        <p:nvPicPr>
          <p:cNvPr id="51" name="Image 11" descr="C:\Users\User\AppData\Local\Temp\claude\C--Users-User-OneDrive-Music-Hackathon\67e3d9e6-0718-4380-8c09-13d83fcd8fa7\scratchpad\pptbuild\v2\assets\icons\card-cyan.png">    </p:cNvPr>
          <p:cNvPicPr>
            <a:picLocks noChangeAspect="1"/>
          </p:cNvPicPr>
          <p:nvPr/>
        </p:nvPicPr>
        <p:blipFill>
          <a:blip r:embed="rId12"/>
          <a:stretch>
            <a:fillRect/>
          </a:stretch>
        </p:blipFill>
        <p:spPr>
          <a:xfrm>
            <a:off x="9306123" y="4078041"/>
            <a:ext cx="247254" cy="247254"/>
          </a:xfrm>
          <a:prstGeom prst="rect">
            <a:avLst/>
          </a:prstGeom>
        </p:spPr>
      </p:pic>
      <p:sp>
        <p:nvSpPr>
          <p:cNvPr id="52" name="Text 37"/>
          <p:cNvSpPr/>
          <p:nvPr/>
        </p:nvSpPr>
        <p:spPr>
          <a:xfrm>
            <a:off x="9795510" y="3730752"/>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FinTech</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security + correctness</a:t>
            </a:r>
            <a:endParaRPr lang="en-US" sz="1450" dirty="0"/>
          </a:p>
        </p:txBody>
      </p:sp>
      <p:sp>
        <p:nvSpPr>
          <p:cNvPr id="53" name="Shape 38"/>
          <p:cNvSpPr/>
          <p:nvPr/>
        </p:nvSpPr>
        <p:spPr>
          <a:xfrm>
            <a:off x="548640" y="4910328"/>
            <a:ext cx="2594610" cy="941832"/>
          </a:xfrm>
          <a:prstGeom prst="roundRect">
            <a:avLst>
              <a:gd name="adj" fmla="val 8738"/>
            </a:avLst>
          </a:prstGeom>
          <a:solidFill>
            <a:srgbClr val="141E33"/>
          </a:solidFill>
          <a:ln/>
          <a:effectLst>
            <a:outerShdw sx="100000" sy="100000" kx="0" ky="0" algn="bl" rotWithShape="0" blurRad="114300" dist="38100" dir="5400000">
              <a:srgbClr val="000000">
                <a:alpha val="45000"/>
              </a:srgbClr>
            </a:outerShdw>
          </a:effectLst>
        </p:spPr>
      </p:sp>
      <p:sp>
        <p:nvSpPr>
          <p:cNvPr id="54" name="Shape 39"/>
          <p:cNvSpPr/>
          <p:nvPr/>
        </p:nvSpPr>
        <p:spPr>
          <a:xfrm>
            <a:off x="694944" y="5143500"/>
            <a:ext cx="475488" cy="475488"/>
          </a:xfrm>
          <a:prstGeom prst="ellipse">
            <a:avLst/>
          </a:prstGeom>
          <a:solidFill>
            <a:srgbClr val="1B2842"/>
          </a:solidFill>
          <a:ln/>
        </p:spPr>
      </p:sp>
      <p:pic>
        <p:nvPicPr>
          <p:cNvPr id="55" name="Image 12" descr="C:\Users\User\AppData\Local\Temp\claude\C--Users-User-OneDrive-Music-Hackathon\67e3d9e6-0718-4380-8c09-13d83fcd8fa7\scratchpad\pptbuild\v2\assets\icons\leaf-cyan.png">    </p:cNvPr>
          <p:cNvPicPr>
            <a:picLocks noChangeAspect="1"/>
          </p:cNvPicPr>
          <p:nvPr/>
        </p:nvPicPr>
        <p:blipFill>
          <a:blip r:embed="rId13"/>
          <a:stretch>
            <a:fillRect/>
          </a:stretch>
        </p:blipFill>
        <p:spPr>
          <a:xfrm>
            <a:off x="809061" y="5257617"/>
            <a:ext cx="247254" cy="247254"/>
          </a:xfrm>
          <a:prstGeom prst="rect">
            <a:avLst/>
          </a:prstGeom>
        </p:spPr>
      </p:pic>
      <p:sp>
        <p:nvSpPr>
          <p:cNvPr id="56" name="Text 40"/>
          <p:cNvSpPr/>
          <p:nvPr/>
        </p:nvSpPr>
        <p:spPr>
          <a:xfrm>
            <a:off x="1298448" y="4910328"/>
            <a:ext cx="1725930" cy="941832"/>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1F5F9"/>
                </a:solidFill>
                <a:latin typeface="Calibri" pitchFamily="34" charset="0"/>
                <a:ea typeface="Calibri" pitchFamily="34" charset="-122"/>
                <a:cs typeface="Calibri" pitchFamily="34" charset="-120"/>
              </a:rPr>
              <a:t>Sustainability</a:t>
            </a:r>
            <a:endParaRPr lang="en-US" sz="1450" dirty="0"/>
          </a:p>
          <a:p>
            <a:pPr indent="0" marL="0">
              <a:lnSpc>
                <a:spcPct val="100000"/>
              </a:lnSpc>
              <a:buNone/>
            </a:pPr>
            <a:r>
              <a:rPr lang="en-US" sz="1150" dirty="0">
                <a:solidFill>
                  <a:srgbClr val="7C8CA5"/>
                </a:solidFill>
                <a:latin typeface="Calibri" pitchFamily="34" charset="0"/>
                <a:ea typeface="Calibri" pitchFamily="34" charset="-122"/>
                <a:cs typeface="Calibri" pitchFamily="34" charset="-120"/>
              </a:rPr>
              <a:t>measurable impact</a:t>
            </a:r>
            <a:endParaRPr lang="en-US" sz="1450" dirty="0"/>
          </a:p>
        </p:txBody>
      </p:sp>
      <p:sp>
        <p:nvSpPr>
          <p:cNvPr id="57" name="Shape 41"/>
          <p:cNvSpPr/>
          <p:nvPr/>
        </p:nvSpPr>
        <p:spPr>
          <a:xfrm>
            <a:off x="3566160" y="5961888"/>
            <a:ext cx="8074152" cy="713232"/>
          </a:xfrm>
          <a:prstGeom prst="roundRect">
            <a:avLst>
              <a:gd name="adj" fmla="val 11538"/>
            </a:avLst>
          </a:prstGeom>
          <a:solidFill>
            <a:srgbClr val="141E33"/>
          </a:solidFill>
          <a:ln/>
          <a:effectLst>
            <a:outerShdw sx="100000" sy="100000" kx="0" ky="0" algn="bl" rotWithShape="0" blurRad="114300" dist="38100" dir="5400000">
              <a:srgbClr val="000000">
                <a:alpha val="45000"/>
              </a:srgbClr>
            </a:outerShdw>
          </a:effectLst>
        </p:spPr>
      </p:sp>
      <p:sp>
        <p:nvSpPr>
          <p:cNvPr id="58" name="Shape 42"/>
          <p:cNvSpPr/>
          <p:nvPr/>
        </p:nvSpPr>
        <p:spPr>
          <a:xfrm>
            <a:off x="3749040" y="6071616"/>
            <a:ext cx="475488" cy="475488"/>
          </a:xfrm>
          <a:prstGeom prst="ellipse">
            <a:avLst/>
          </a:prstGeom>
          <a:solidFill>
            <a:srgbClr val="1B2842"/>
          </a:solidFill>
          <a:ln/>
        </p:spPr>
      </p:sp>
      <p:pic>
        <p:nvPicPr>
          <p:cNvPr id="59" name="Image 13" descr="C:\Users\User\AppData\Local\Temp\claude\C--Users-User-OneDrive-Music-Hackathon\67e3d9e6-0718-4380-8c09-13d83fcd8fa7\scratchpad\pptbuild\v2\assets\icons\alert-amber.png">    </p:cNvPr>
          <p:cNvPicPr>
            <a:picLocks noChangeAspect="1"/>
          </p:cNvPicPr>
          <p:nvPr/>
        </p:nvPicPr>
        <p:blipFill>
          <a:blip r:embed="rId14"/>
          <a:stretch>
            <a:fillRect/>
          </a:stretch>
        </p:blipFill>
        <p:spPr>
          <a:xfrm>
            <a:off x="3863157" y="6185733"/>
            <a:ext cx="247254" cy="247254"/>
          </a:xfrm>
          <a:prstGeom prst="rect">
            <a:avLst/>
          </a:prstGeom>
        </p:spPr>
      </p:pic>
      <p:sp>
        <p:nvSpPr>
          <p:cNvPr id="60" name="Text 43"/>
          <p:cNvSpPr/>
          <p:nvPr/>
        </p:nvSpPr>
        <p:spPr>
          <a:xfrm>
            <a:off x="4370832" y="5961888"/>
            <a:ext cx="7132320" cy="713232"/>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Domain constraints:  </a:t>
            </a:r>
            <a:pPr indent="0" marL="0">
              <a:buNone/>
            </a:pPr>
            <a:r>
              <a:rPr lang="en-US" sz="1400" dirty="0">
                <a:solidFill>
                  <a:srgbClr val="F1F5F9"/>
                </a:solidFill>
                <a:latin typeface="Calibri" pitchFamily="34" charset="0"/>
                <a:ea typeface="Calibri" pitchFamily="34" charset="-122"/>
                <a:cs typeface="Calibri" pitchFamily="34" charset="-120"/>
              </a:rPr>
              <a:t>Healthcare → privacy · FinTech → money &amp; secrets · IoT → flaky hardware.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Lifecycle of a Hackathon Project</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7</a:t>
            </a:r>
            <a:endParaRPr lang="en-US" sz="1000" dirty="0"/>
          </a:p>
        </p:txBody>
      </p:sp>
      <p:sp>
        <p:nvSpPr>
          <p:cNvPr id="5" name="Shape 2"/>
          <p:cNvSpPr/>
          <p:nvPr/>
        </p:nvSpPr>
        <p:spPr>
          <a:xfrm>
            <a:off x="548640" y="1490472"/>
            <a:ext cx="11091672" cy="1271016"/>
          </a:xfrm>
          <a:prstGeom prst="roundRect">
            <a:avLst>
              <a:gd name="adj" fmla="val 8633"/>
            </a:avLst>
          </a:prstGeom>
          <a:solidFill>
            <a:srgbClr val="0F1830"/>
          </a:solidFill>
          <a:ln/>
        </p:spPr>
      </p:sp>
      <p:sp>
        <p:nvSpPr>
          <p:cNvPr id="6" name="Text 3"/>
          <p:cNvSpPr/>
          <p:nvPr/>
        </p:nvSpPr>
        <p:spPr>
          <a:xfrm>
            <a:off x="749808" y="251460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PLAN</a:t>
            </a:r>
            <a:endParaRPr lang="en-US" sz="1050" dirty="0"/>
          </a:p>
        </p:txBody>
      </p:sp>
      <p:sp>
        <p:nvSpPr>
          <p:cNvPr id="7" name="Shape 4"/>
          <p:cNvSpPr/>
          <p:nvPr/>
        </p:nvSpPr>
        <p:spPr>
          <a:xfrm>
            <a:off x="548640" y="2953512"/>
            <a:ext cx="11091672" cy="1271016"/>
          </a:xfrm>
          <a:prstGeom prst="roundRect">
            <a:avLst>
              <a:gd name="adj" fmla="val 8633"/>
            </a:avLst>
          </a:prstGeom>
          <a:solidFill>
            <a:srgbClr val="0F1830"/>
          </a:solidFill>
          <a:ln/>
        </p:spPr>
      </p:sp>
      <p:sp>
        <p:nvSpPr>
          <p:cNvPr id="8" name="Text 5"/>
          <p:cNvSpPr/>
          <p:nvPr/>
        </p:nvSpPr>
        <p:spPr>
          <a:xfrm>
            <a:off x="749808" y="397764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BUILD</a:t>
            </a:r>
            <a:endParaRPr lang="en-US" sz="1050" dirty="0"/>
          </a:p>
        </p:txBody>
      </p:sp>
      <p:sp>
        <p:nvSpPr>
          <p:cNvPr id="9" name="Shape 6"/>
          <p:cNvSpPr/>
          <p:nvPr/>
        </p:nvSpPr>
        <p:spPr>
          <a:xfrm>
            <a:off x="548640" y="4416552"/>
            <a:ext cx="11091672" cy="1271016"/>
          </a:xfrm>
          <a:prstGeom prst="roundRect">
            <a:avLst>
              <a:gd name="adj" fmla="val 8633"/>
            </a:avLst>
          </a:prstGeom>
          <a:solidFill>
            <a:srgbClr val="0F1830"/>
          </a:solidFill>
          <a:ln/>
        </p:spPr>
      </p:sp>
      <p:sp>
        <p:nvSpPr>
          <p:cNvPr id="10" name="Text 7"/>
          <p:cNvSpPr/>
          <p:nvPr/>
        </p:nvSpPr>
        <p:spPr>
          <a:xfrm>
            <a:off x="749808" y="544068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SHIP</a:t>
            </a:r>
            <a:endParaRPr lang="en-US" sz="1050" dirty="0"/>
          </a:p>
        </p:txBody>
      </p:sp>
      <p:sp>
        <p:nvSpPr>
          <p:cNvPr id="11" name="Shape 8"/>
          <p:cNvSpPr/>
          <p:nvPr/>
        </p:nvSpPr>
        <p:spPr>
          <a:xfrm>
            <a:off x="3060954" y="2125980"/>
            <a:ext cx="457200" cy="0"/>
          </a:xfrm>
          <a:prstGeom prst="line">
            <a:avLst/>
          </a:prstGeom>
          <a:noFill/>
          <a:ln w="31750">
            <a:solidFill>
              <a:srgbClr val="22D3EE"/>
            </a:solidFill>
            <a:prstDash val="solid"/>
            <a:tailEnd type="triangle"/>
          </a:ln>
        </p:spPr>
      </p:sp>
      <p:sp>
        <p:nvSpPr>
          <p:cNvPr id="12" name="Shape 9"/>
          <p:cNvSpPr/>
          <p:nvPr/>
        </p:nvSpPr>
        <p:spPr>
          <a:xfrm>
            <a:off x="5865876" y="2125980"/>
            <a:ext cx="457200" cy="0"/>
          </a:xfrm>
          <a:prstGeom prst="line">
            <a:avLst/>
          </a:prstGeom>
          <a:noFill/>
          <a:ln w="31750">
            <a:solidFill>
              <a:srgbClr val="22D3EE"/>
            </a:solidFill>
            <a:prstDash val="solid"/>
            <a:tailEnd type="triangle"/>
          </a:ln>
        </p:spPr>
      </p:sp>
      <p:sp>
        <p:nvSpPr>
          <p:cNvPr id="13" name="Shape 10"/>
          <p:cNvSpPr/>
          <p:nvPr/>
        </p:nvSpPr>
        <p:spPr>
          <a:xfrm>
            <a:off x="8670798" y="2125980"/>
            <a:ext cx="457200" cy="0"/>
          </a:xfrm>
          <a:prstGeom prst="line">
            <a:avLst/>
          </a:prstGeom>
          <a:noFill/>
          <a:ln w="31750">
            <a:solidFill>
              <a:srgbClr val="22D3EE"/>
            </a:solidFill>
            <a:prstDash val="solid"/>
            <a:tailEnd type="triangle"/>
          </a:ln>
        </p:spPr>
      </p:sp>
      <p:sp>
        <p:nvSpPr>
          <p:cNvPr id="14" name="Shape 11"/>
          <p:cNvSpPr/>
          <p:nvPr/>
        </p:nvSpPr>
        <p:spPr>
          <a:xfrm>
            <a:off x="10301859" y="2560320"/>
            <a:ext cx="0" cy="594360"/>
          </a:xfrm>
          <a:prstGeom prst="line">
            <a:avLst/>
          </a:prstGeom>
          <a:noFill/>
          <a:ln w="31750">
            <a:solidFill>
              <a:srgbClr val="22D3EE"/>
            </a:solidFill>
            <a:prstDash val="solid"/>
            <a:tailEnd type="triangle"/>
          </a:ln>
        </p:spPr>
      </p:sp>
      <p:sp>
        <p:nvSpPr>
          <p:cNvPr id="15" name="Shape 12"/>
          <p:cNvSpPr/>
          <p:nvPr/>
        </p:nvSpPr>
        <p:spPr>
          <a:xfrm flipH="1">
            <a:off x="8670798" y="3589020"/>
            <a:ext cx="457200" cy="0"/>
          </a:xfrm>
          <a:prstGeom prst="line">
            <a:avLst/>
          </a:prstGeom>
          <a:noFill/>
          <a:ln w="31750">
            <a:solidFill>
              <a:srgbClr val="22D3EE"/>
            </a:solidFill>
            <a:prstDash val="solid"/>
            <a:tailEnd type="triangle"/>
          </a:ln>
        </p:spPr>
      </p:sp>
      <p:sp>
        <p:nvSpPr>
          <p:cNvPr id="16" name="Shape 13"/>
          <p:cNvSpPr/>
          <p:nvPr/>
        </p:nvSpPr>
        <p:spPr>
          <a:xfrm flipH="1">
            <a:off x="5865876" y="3589020"/>
            <a:ext cx="457200" cy="0"/>
          </a:xfrm>
          <a:prstGeom prst="line">
            <a:avLst/>
          </a:prstGeom>
          <a:noFill/>
          <a:ln w="31750">
            <a:solidFill>
              <a:srgbClr val="22D3EE"/>
            </a:solidFill>
            <a:prstDash val="solid"/>
            <a:tailEnd type="triangle"/>
          </a:ln>
        </p:spPr>
      </p:sp>
      <p:sp>
        <p:nvSpPr>
          <p:cNvPr id="17" name="Shape 14"/>
          <p:cNvSpPr/>
          <p:nvPr/>
        </p:nvSpPr>
        <p:spPr>
          <a:xfrm flipH="1">
            <a:off x="3060954" y="3589020"/>
            <a:ext cx="457200" cy="0"/>
          </a:xfrm>
          <a:prstGeom prst="line">
            <a:avLst/>
          </a:prstGeom>
          <a:noFill/>
          <a:ln w="31750">
            <a:solidFill>
              <a:srgbClr val="22D3EE"/>
            </a:solidFill>
            <a:prstDash val="solid"/>
            <a:tailEnd type="triangle"/>
          </a:ln>
        </p:spPr>
      </p:sp>
      <p:sp>
        <p:nvSpPr>
          <p:cNvPr id="18" name="Shape 15"/>
          <p:cNvSpPr/>
          <p:nvPr/>
        </p:nvSpPr>
        <p:spPr>
          <a:xfrm>
            <a:off x="1887093" y="4023360"/>
            <a:ext cx="0" cy="594360"/>
          </a:xfrm>
          <a:prstGeom prst="line">
            <a:avLst/>
          </a:prstGeom>
          <a:noFill/>
          <a:ln w="31750">
            <a:solidFill>
              <a:srgbClr val="22D3EE"/>
            </a:solidFill>
            <a:prstDash val="solid"/>
            <a:tailEnd type="triangle"/>
          </a:ln>
        </p:spPr>
      </p:sp>
      <p:sp>
        <p:nvSpPr>
          <p:cNvPr id="19" name="Shape 16"/>
          <p:cNvSpPr/>
          <p:nvPr/>
        </p:nvSpPr>
        <p:spPr>
          <a:xfrm>
            <a:off x="3060954" y="5052060"/>
            <a:ext cx="457200" cy="0"/>
          </a:xfrm>
          <a:prstGeom prst="line">
            <a:avLst/>
          </a:prstGeom>
          <a:noFill/>
          <a:ln w="31750">
            <a:solidFill>
              <a:srgbClr val="22D3EE"/>
            </a:solidFill>
            <a:prstDash val="solid"/>
            <a:tailEnd type="triangle"/>
          </a:ln>
        </p:spPr>
      </p:sp>
      <p:sp>
        <p:nvSpPr>
          <p:cNvPr id="20" name="Shape 17"/>
          <p:cNvSpPr/>
          <p:nvPr/>
        </p:nvSpPr>
        <p:spPr>
          <a:xfrm>
            <a:off x="5865876" y="5052060"/>
            <a:ext cx="457200" cy="0"/>
          </a:xfrm>
          <a:prstGeom prst="line">
            <a:avLst/>
          </a:prstGeom>
          <a:noFill/>
          <a:ln w="31750">
            <a:solidFill>
              <a:srgbClr val="22D3EE"/>
            </a:solidFill>
            <a:prstDash val="solid"/>
            <a:tailEnd type="triangle"/>
          </a:ln>
        </p:spPr>
      </p:sp>
      <p:sp>
        <p:nvSpPr>
          <p:cNvPr id="21" name="Shape 18"/>
          <p:cNvSpPr/>
          <p:nvPr/>
        </p:nvSpPr>
        <p:spPr>
          <a:xfrm>
            <a:off x="713232" y="169164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22" name="Text 19"/>
          <p:cNvSpPr/>
          <p:nvPr/>
        </p:nvSpPr>
        <p:spPr>
          <a:xfrm>
            <a:off x="786384" y="169164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Register + form team</a:t>
            </a:r>
            <a:endParaRPr lang="en-US" sz="1400" dirty="0"/>
          </a:p>
        </p:txBody>
      </p:sp>
      <p:sp>
        <p:nvSpPr>
          <p:cNvPr id="23" name="Shape 20"/>
          <p:cNvSpPr/>
          <p:nvPr/>
        </p:nvSpPr>
        <p:spPr>
          <a:xfrm>
            <a:off x="566928" y="1545336"/>
            <a:ext cx="384048" cy="384048"/>
          </a:xfrm>
          <a:prstGeom prst="ellipse">
            <a:avLst/>
          </a:prstGeom>
          <a:solidFill>
            <a:srgbClr val="22D3EE"/>
          </a:solidFill>
          <a:ln/>
        </p:spPr>
      </p:sp>
      <p:sp>
        <p:nvSpPr>
          <p:cNvPr id="24" name="Text 21"/>
          <p:cNvSpPr/>
          <p:nvPr/>
        </p:nvSpPr>
        <p:spPr>
          <a:xfrm>
            <a:off x="566928" y="152704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a:t>
            </a:r>
            <a:endParaRPr lang="en-US" sz="1400" dirty="0"/>
          </a:p>
        </p:txBody>
      </p:sp>
      <p:sp>
        <p:nvSpPr>
          <p:cNvPr id="25" name="Shape 22"/>
          <p:cNvSpPr/>
          <p:nvPr/>
        </p:nvSpPr>
        <p:spPr>
          <a:xfrm>
            <a:off x="3518154" y="169164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26" name="Text 23"/>
          <p:cNvSpPr/>
          <p:nvPr/>
        </p:nvSpPr>
        <p:spPr>
          <a:xfrm>
            <a:off x="3591306" y="169164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Read rules &amp; rubric</a:t>
            </a:r>
            <a:endParaRPr lang="en-US" sz="1400" dirty="0"/>
          </a:p>
        </p:txBody>
      </p:sp>
      <p:sp>
        <p:nvSpPr>
          <p:cNvPr id="27" name="Shape 24"/>
          <p:cNvSpPr/>
          <p:nvPr/>
        </p:nvSpPr>
        <p:spPr>
          <a:xfrm>
            <a:off x="3371850" y="1545336"/>
            <a:ext cx="384048" cy="384048"/>
          </a:xfrm>
          <a:prstGeom prst="ellipse">
            <a:avLst/>
          </a:prstGeom>
          <a:solidFill>
            <a:srgbClr val="22D3EE"/>
          </a:solidFill>
          <a:ln/>
        </p:spPr>
      </p:sp>
      <p:sp>
        <p:nvSpPr>
          <p:cNvPr id="28" name="Text 25"/>
          <p:cNvSpPr/>
          <p:nvPr/>
        </p:nvSpPr>
        <p:spPr>
          <a:xfrm>
            <a:off x="3371850" y="152704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2</a:t>
            </a:r>
            <a:endParaRPr lang="en-US" sz="1400" dirty="0"/>
          </a:p>
        </p:txBody>
      </p:sp>
      <p:sp>
        <p:nvSpPr>
          <p:cNvPr id="29" name="Shape 26"/>
          <p:cNvSpPr/>
          <p:nvPr/>
        </p:nvSpPr>
        <p:spPr>
          <a:xfrm>
            <a:off x="6323076" y="169164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30" name="Text 27"/>
          <p:cNvSpPr/>
          <p:nvPr/>
        </p:nvSpPr>
        <p:spPr>
          <a:xfrm>
            <a:off x="6396228" y="169164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Pick &amp; validate problem</a:t>
            </a:r>
            <a:endParaRPr lang="en-US" sz="1400" dirty="0"/>
          </a:p>
        </p:txBody>
      </p:sp>
      <p:sp>
        <p:nvSpPr>
          <p:cNvPr id="31" name="Shape 28"/>
          <p:cNvSpPr/>
          <p:nvPr/>
        </p:nvSpPr>
        <p:spPr>
          <a:xfrm>
            <a:off x="6176772" y="1545336"/>
            <a:ext cx="384048" cy="384048"/>
          </a:xfrm>
          <a:prstGeom prst="ellipse">
            <a:avLst/>
          </a:prstGeom>
          <a:solidFill>
            <a:srgbClr val="22D3EE"/>
          </a:solidFill>
          <a:ln/>
        </p:spPr>
      </p:sp>
      <p:sp>
        <p:nvSpPr>
          <p:cNvPr id="32" name="Text 29"/>
          <p:cNvSpPr/>
          <p:nvPr/>
        </p:nvSpPr>
        <p:spPr>
          <a:xfrm>
            <a:off x="6176772" y="152704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3</a:t>
            </a:r>
            <a:endParaRPr lang="en-US" sz="1400" dirty="0"/>
          </a:p>
        </p:txBody>
      </p:sp>
      <p:sp>
        <p:nvSpPr>
          <p:cNvPr id="33" name="Shape 30"/>
          <p:cNvSpPr/>
          <p:nvPr/>
        </p:nvSpPr>
        <p:spPr>
          <a:xfrm>
            <a:off x="9127998" y="169164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34" name="Text 31"/>
          <p:cNvSpPr/>
          <p:nvPr/>
        </p:nvSpPr>
        <p:spPr>
          <a:xfrm>
            <a:off x="9201150" y="169164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Ideate → freeze MVP</a:t>
            </a:r>
            <a:endParaRPr lang="en-US" sz="1400" dirty="0"/>
          </a:p>
        </p:txBody>
      </p:sp>
      <p:sp>
        <p:nvSpPr>
          <p:cNvPr id="35" name="Shape 32"/>
          <p:cNvSpPr/>
          <p:nvPr/>
        </p:nvSpPr>
        <p:spPr>
          <a:xfrm>
            <a:off x="8981694" y="1545336"/>
            <a:ext cx="384048" cy="384048"/>
          </a:xfrm>
          <a:prstGeom prst="ellipse">
            <a:avLst/>
          </a:prstGeom>
          <a:solidFill>
            <a:srgbClr val="22D3EE"/>
          </a:solidFill>
          <a:ln/>
        </p:spPr>
      </p:sp>
      <p:sp>
        <p:nvSpPr>
          <p:cNvPr id="36" name="Text 33"/>
          <p:cNvSpPr/>
          <p:nvPr/>
        </p:nvSpPr>
        <p:spPr>
          <a:xfrm>
            <a:off x="8981694" y="152704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4</a:t>
            </a:r>
            <a:endParaRPr lang="en-US" sz="1400" dirty="0"/>
          </a:p>
        </p:txBody>
      </p:sp>
      <p:sp>
        <p:nvSpPr>
          <p:cNvPr id="37" name="Shape 34"/>
          <p:cNvSpPr/>
          <p:nvPr/>
        </p:nvSpPr>
        <p:spPr>
          <a:xfrm>
            <a:off x="9127998" y="315468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38" name="Text 35"/>
          <p:cNvSpPr/>
          <p:nvPr/>
        </p:nvSpPr>
        <p:spPr>
          <a:xfrm>
            <a:off x="9201150" y="315468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Choose stack</a:t>
            </a:r>
            <a:endParaRPr lang="en-US" sz="1400" dirty="0"/>
          </a:p>
        </p:txBody>
      </p:sp>
      <p:sp>
        <p:nvSpPr>
          <p:cNvPr id="39" name="Shape 36"/>
          <p:cNvSpPr/>
          <p:nvPr/>
        </p:nvSpPr>
        <p:spPr>
          <a:xfrm>
            <a:off x="8981694" y="3008376"/>
            <a:ext cx="384048" cy="384048"/>
          </a:xfrm>
          <a:prstGeom prst="ellipse">
            <a:avLst/>
          </a:prstGeom>
          <a:solidFill>
            <a:srgbClr val="22D3EE"/>
          </a:solidFill>
          <a:ln/>
        </p:spPr>
      </p:sp>
      <p:sp>
        <p:nvSpPr>
          <p:cNvPr id="40" name="Text 37"/>
          <p:cNvSpPr/>
          <p:nvPr/>
        </p:nvSpPr>
        <p:spPr>
          <a:xfrm>
            <a:off x="8981694" y="299008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5</a:t>
            </a:r>
            <a:endParaRPr lang="en-US" sz="1400" dirty="0"/>
          </a:p>
        </p:txBody>
      </p:sp>
      <p:sp>
        <p:nvSpPr>
          <p:cNvPr id="41" name="Shape 38"/>
          <p:cNvSpPr/>
          <p:nvPr/>
        </p:nvSpPr>
        <p:spPr>
          <a:xfrm>
            <a:off x="6323076" y="315468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42" name="Text 39"/>
          <p:cNvSpPr/>
          <p:nvPr/>
        </p:nvSpPr>
        <p:spPr>
          <a:xfrm>
            <a:off x="6396228" y="315468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Design: arch + data + UI</a:t>
            </a:r>
            <a:endParaRPr lang="en-US" sz="1400" dirty="0"/>
          </a:p>
        </p:txBody>
      </p:sp>
      <p:sp>
        <p:nvSpPr>
          <p:cNvPr id="43" name="Shape 40"/>
          <p:cNvSpPr/>
          <p:nvPr/>
        </p:nvSpPr>
        <p:spPr>
          <a:xfrm>
            <a:off x="6176772" y="3008376"/>
            <a:ext cx="384048" cy="384048"/>
          </a:xfrm>
          <a:prstGeom prst="ellipse">
            <a:avLst/>
          </a:prstGeom>
          <a:solidFill>
            <a:srgbClr val="22D3EE"/>
          </a:solidFill>
          <a:ln/>
        </p:spPr>
      </p:sp>
      <p:sp>
        <p:nvSpPr>
          <p:cNvPr id="44" name="Text 41"/>
          <p:cNvSpPr/>
          <p:nvPr/>
        </p:nvSpPr>
        <p:spPr>
          <a:xfrm>
            <a:off x="6176772" y="299008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6</a:t>
            </a:r>
            <a:endParaRPr lang="en-US" sz="1400" dirty="0"/>
          </a:p>
        </p:txBody>
      </p:sp>
      <p:sp>
        <p:nvSpPr>
          <p:cNvPr id="45" name="Shape 42"/>
          <p:cNvSpPr/>
          <p:nvPr/>
        </p:nvSpPr>
        <p:spPr>
          <a:xfrm>
            <a:off x="3518154" y="315468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46" name="Text 43"/>
          <p:cNvSpPr/>
          <p:nvPr/>
        </p:nvSpPr>
        <p:spPr>
          <a:xfrm>
            <a:off x="3591306" y="315468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Set up repo &amp; envs</a:t>
            </a:r>
            <a:endParaRPr lang="en-US" sz="1400" dirty="0"/>
          </a:p>
        </p:txBody>
      </p:sp>
      <p:sp>
        <p:nvSpPr>
          <p:cNvPr id="47" name="Shape 44"/>
          <p:cNvSpPr/>
          <p:nvPr/>
        </p:nvSpPr>
        <p:spPr>
          <a:xfrm>
            <a:off x="3371850" y="3008376"/>
            <a:ext cx="384048" cy="384048"/>
          </a:xfrm>
          <a:prstGeom prst="ellipse">
            <a:avLst/>
          </a:prstGeom>
          <a:solidFill>
            <a:srgbClr val="22D3EE"/>
          </a:solidFill>
          <a:ln/>
        </p:spPr>
      </p:sp>
      <p:sp>
        <p:nvSpPr>
          <p:cNvPr id="48" name="Text 45"/>
          <p:cNvSpPr/>
          <p:nvPr/>
        </p:nvSpPr>
        <p:spPr>
          <a:xfrm>
            <a:off x="3371850" y="299008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7</a:t>
            </a:r>
            <a:endParaRPr lang="en-US" sz="1400" dirty="0"/>
          </a:p>
        </p:txBody>
      </p:sp>
      <p:sp>
        <p:nvSpPr>
          <p:cNvPr id="49" name="Shape 46"/>
          <p:cNvSpPr/>
          <p:nvPr/>
        </p:nvSpPr>
        <p:spPr>
          <a:xfrm>
            <a:off x="713232" y="315468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50" name="Text 47"/>
          <p:cNvSpPr/>
          <p:nvPr/>
        </p:nvSpPr>
        <p:spPr>
          <a:xfrm>
            <a:off x="786384" y="315468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Build core + integrate</a:t>
            </a:r>
            <a:endParaRPr lang="en-US" sz="1400" dirty="0"/>
          </a:p>
        </p:txBody>
      </p:sp>
      <p:sp>
        <p:nvSpPr>
          <p:cNvPr id="51" name="Shape 48"/>
          <p:cNvSpPr/>
          <p:nvPr/>
        </p:nvSpPr>
        <p:spPr>
          <a:xfrm>
            <a:off x="566928" y="3008376"/>
            <a:ext cx="384048" cy="384048"/>
          </a:xfrm>
          <a:prstGeom prst="ellipse">
            <a:avLst/>
          </a:prstGeom>
          <a:solidFill>
            <a:srgbClr val="22D3EE"/>
          </a:solidFill>
          <a:ln/>
        </p:spPr>
      </p:sp>
      <p:sp>
        <p:nvSpPr>
          <p:cNvPr id="52" name="Text 49"/>
          <p:cNvSpPr/>
          <p:nvPr/>
        </p:nvSpPr>
        <p:spPr>
          <a:xfrm>
            <a:off x="566928" y="299008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8</a:t>
            </a:r>
            <a:endParaRPr lang="en-US" sz="1400" dirty="0"/>
          </a:p>
        </p:txBody>
      </p:sp>
      <p:sp>
        <p:nvSpPr>
          <p:cNvPr id="53" name="Shape 50"/>
          <p:cNvSpPr/>
          <p:nvPr/>
        </p:nvSpPr>
        <p:spPr>
          <a:xfrm>
            <a:off x="713232" y="461772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54" name="Text 51"/>
          <p:cNvSpPr/>
          <p:nvPr/>
        </p:nvSpPr>
        <p:spPr>
          <a:xfrm>
            <a:off x="786384" y="461772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Test critical path</a:t>
            </a:r>
            <a:endParaRPr lang="en-US" sz="1400" dirty="0"/>
          </a:p>
        </p:txBody>
      </p:sp>
      <p:sp>
        <p:nvSpPr>
          <p:cNvPr id="55" name="Shape 52"/>
          <p:cNvSpPr/>
          <p:nvPr/>
        </p:nvSpPr>
        <p:spPr>
          <a:xfrm>
            <a:off x="566928" y="4471416"/>
            <a:ext cx="384048" cy="384048"/>
          </a:xfrm>
          <a:prstGeom prst="ellipse">
            <a:avLst/>
          </a:prstGeom>
          <a:solidFill>
            <a:srgbClr val="22D3EE"/>
          </a:solidFill>
          <a:ln/>
        </p:spPr>
      </p:sp>
      <p:sp>
        <p:nvSpPr>
          <p:cNvPr id="56" name="Text 53"/>
          <p:cNvSpPr/>
          <p:nvPr/>
        </p:nvSpPr>
        <p:spPr>
          <a:xfrm>
            <a:off x="566928" y="44531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9</a:t>
            </a:r>
            <a:endParaRPr lang="en-US" sz="1400" dirty="0"/>
          </a:p>
        </p:txBody>
      </p:sp>
      <p:sp>
        <p:nvSpPr>
          <p:cNvPr id="57" name="Shape 54"/>
          <p:cNvSpPr/>
          <p:nvPr/>
        </p:nvSpPr>
        <p:spPr>
          <a:xfrm>
            <a:off x="3518154" y="4617720"/>
            <a:ext cx="2347722" cy="868680"/>
          </a:xfrm>
          <a:prstGeom prst="roundRect">
            <a:avLst>
              <a:gd name="adj" fmla="val 9474"/>
            </a:avLst>
          </a:prstGeom>
          <a:solidFill>
            <a:srgbClr val="141E33"/>
          </a:solidFill>
          <a:ln/>
          <a:effectLst>
            <a:outerShdw sx="100000" sy="100000" kx="0" ky="0" algn="bl" rotWithShape="0" blurRad="114300" dist="38100" dir="5400000">
              <a:srgbClr val="000000">
                <a:alpha val="45000"/>
              </a:srgbClr>
            </a:outerShdw>
          </a:effectLst>
        </p:spPr>
      </p:sp>
      <p:sp>
        <p:nvSpPr>
          <p:cNvPr id="58" name="Text 55"/>
          <p:cNvSpPr/>
          <p:nvPr/>
        </p:nvSpPr>
        <p:spPr>
          <a:xfrm>
            <a:off x="3591306" y="461772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Deploy</a:t>
            </a:r>
            <a:endParaRPr lang="en-US" sz="1400" dirty="0"/>
          </a:p>
        </p:txBody>
      </p:sp>
      <p:sp>
        <p:nvSpPr>
          <p:cNvPr id="59" name="Shape 56"/>
          <p:cNvSpPr/>
          <p:nvPr/>
        </p:nvSpPr>
        <p:spPr>
          <a:xfrm>
            <a:off x="3371850" y="4471416"/>
            <a:ext cx="384048" cy="384048"/>
          </a:xfrm>
          <a:prstGeom prst="ellipse">
            <a:avLst/>
          </a:prstGeom>
          <a:solidFill>
            <a:srgbClr val="22D3EE"/>
          </a:solidFill>
          <a:ln/>
        </p:spPr>
      </p:sp>
      <p:sp>
        <p:nvSpPr>
          <p:cNvPr id="60" name="Text 57"/>
          <p:cNvSpPr/>
          <p:nvPr/>
        </p:nvSpPr>
        <p:spPr>
          <a:xfrm>
            <a:off x="3371850" y="44531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10</a:t>
            </a:r>
            <a:endParaRPr lang="en-US" sz="1400" dirty="0"/>
          </a:p>
        </p:txBody>
      </p:sp>
      <p:sp>
        <p:nvSpPr>
          <p:cNvPr id="61" name="Shape 58"/>
          <p:cNvSpPr/>
          <p:nvPr/>
        </p:nvSpPr>
        <p:spPr>
          <a:xfrm>
            <a:off x="6323076" y="4617720"/>
            <a:ext cx="2347722" cy="868680"/>
          </a:xfrm>
          <a:prstGeom prst="roundRect">
            <a:avLst>
              <a:gd name="adj" fmla="val 9474"/>
            </a:avLst>
          </a:prstGeom>
          <a:solidFill>
            <a:srgbClr val="22D3EE"/>
          </a:solidFill>
          <a:ln/>
          <a:effectLst>
            <a:outerShdw sx="100000" sy="100000" kx="0" ky="0" algn="bl" rotWithShape="0" blurRad="114300" dist="38100" dir="5400000">
              <a:srgbClr val="000000">
                <a:alpha val="45000"/>
              </a:srgbClr>
            </a:outerShdw>
          </a:effectLst>
        </p:spPr>
      </p:sp>
      <p:sp>
        <p:nvSpPr>
          <p:cNvPr id="62" name="Text 59"/>
          <p:cNvSpPr/>
          <p:nvPr/>
        </p:nvSpPr>
        <p:spPr>
          <a:xfrm>
            <a:off x="6396228" y="4617720"/>
            <a:ext cx="2201418" cy="868680"/>
          </a:xfrm>
          <a:prstGeom prst="rect">
            <a:avLst/>
          </a:prstGeom>
          <a:noFill/>
          <a:ln/>
        </p:spPr>
        <p:txBody>
          <a:bodyPr wrap="square" lIns="0" tIns="0" rIns="0" bIns="0" rtlCol="0" anchor="ctr"/>
          <a:lstStyle/>
          <a:p>
            <a:pPr algn="ctr" indent="0" marL="0">
              <a:lnSpc>
                <a:spcPct val="95000"/>
              </a:lnSpc>
              <a:buNone/>
            </a:pPr>
            <a:r>
              <a:rPr lang="en-US" sz="1400" b="1" dirty="0">
                <a:solidFill>
                  <a:srgbClr val="0B1220"/>
                </a:solidFill>
                <a:latin typeface="Calibri" pitchFamily="34" charset="0"/>
                <a:ea typeface="Calibri" pitchFamily="34" charset="-122"/>
                <a:cs typeface="Calibri" pitchFamily="34" charset="-120"/>
              </a:rPr>
              <a:t>SUBMIT</a:t>
            </a:r>
            <a:endParaRPr lang="en-US" sz="1400" dirty="0"/>
          </a:p>
        </p:txBody>
      </p:sp>
      <p:sp>
        <p:nvSpPr>
          <p:cNvPr id="63" name="Text 60"/>
          <p:cNvSpPr/>
          <p:nvPr/>
        </p:nvSpPr>
        <p:spPr>
          <a:xfrm>
            <a:off x="548640" y="5897880"/>
            <a:ext cx="11091672" cy="365760"/>
          </a:xfrm>
          <a:prstGeom prst="rect">
            <a:avLst/>
          </a:prstGeom>
          <a:noFill/>
          <a:ln/>
        </p:spPr>
        <p:txBody>
          <a:bodyPr wrap="square" lIns="0" tIns="0" rIns="0" bIns="0" rtlCol="0" anchor="ctr"/>
          <a:lstStyle/>
          <a:p>
            <a:pPr algn="ctr" indent="0" marL="0">
              <a:buNone/>
            </a:pPr>
            <a:r>
              <a:rPr lang="en-US" sz="1450" b="1" dirty="0">
                <a:solidFill>
                  <a:srgbClr val="22D3EE"/>
                </a:solidFill>
                <a:latin typeface="Consolas" pitchFamily="34" charset="0"/>
                <a:ea typeface="Consolas" pitchFamily="34" charset="-122"/>
                <a:cs typeface="Consolas" pitchFamily="34" charset="-120"/>
              </a:rPr>
              <a:t>&gt; </a:t>
            </a:r>
            <a:pPr algn="ctr" indent="0" marL="0">
              <a:buNone/>
            </a:pPr>
            <a:r>
              <a:rPr lang="en-US" sz="1450" dirty="0">
                <a:solidFill>
                  <a:srgbClr val="A3E635"/>
                </a:solidFill>
                <a:latin typeface="Consolas" pitchFamily="34" charset="0"/>
                <a:ea typeface="Consolas" pitchFamily="34" charset="-122"/>
                <a:cs typeface="Consolas" pitchFamily="34" charset="-120"/>
              </a:rPr>
              <a:t>rubric first · core feature first · test the demo path · public URL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What You Walk Away With</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8</a:t>
            </a:r>
            <a:endParaRPr lang="en-US" sz="1000" dirty="0"/>
          </a:p>
        </p:txBody>
      </p:sp>
      <p:sp>
        <p:nvSpPr>
          <p:cNvPr id="5" name="Shape 2"/>
          <p:cNvSpPr/>
          <p:nvPr/>
        </p:nvSpPr>
        <p:spPr>
          <a:xfrm>
            <a:off x="548640" y="146304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0078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rocket-cyan.png">    </p:cNvPr>
          <p:cNvPicPr>
            <a:picLocks noChangeAspect="1"/>
          </p:cNvPicPr>
          <p:nvPr/>
        </p:nvPicPr>
        <p:blipFill>
          <a:blip r:embed="rId1"/>
          <a:stretch>
            <a:fillRect/>
          </a:stretch>
        </p:blipFill>
        <p:spPr>
          <a:xfrm>
            <a:off x="931225" y="1845625"/>
            <a:ext cx="313822" cy="313822"/>
          </a:xfrm>
          <a:prstGeom prst="rect">
            <a:avLst/>
          </a:prstGeom>
        </p:spPr>
      </p:pic>
      <p:sp>
        <p:nvSpPr>
          <p:cNvPr id="8" name="Text 4"/>
          <p:cNvSpPr/>
          <p:nvPr/>
        </p:nvSpPr>
        <p:spPr>
          <a:xfrm>
            <a:off x="786384" y="241401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Compressed learning</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The whole product lifecycle in one weekend</a:t>
            </a:r>
            <a:endParaRPr lang="en-US" sz="1600" dirty="0"/>
          </a:p>
        </p:txBody>
      </p:sp>
      <p:sp>
        <p:nvSpPr>
          <p:cNvPr id="9" name="Shape 5"/>
          <p:cNvSpPr/>
          <p:nvPr/>
        </p:nvSpPr>
        <p:spPr>
          <a:xfrm>
            <a:off x="4337304" y="146304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70078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folder-cyan.png">    </p:cNvPr>
          <p:cNvPicPr>
            <a:picLocks noChangeAspect="1"/>
          </p:cNvPicPr>
          <p:nvPr/>
        </p:nvPicPr>
        <p:blipFill>
          <a:blip r:embed="rId2"/>
          <a:stretch>
            <a:fillRect/>
          </a:stretch>
        </p:blipFill>
        <p:spPr>
          <a:xfrm>
            <a:off x="4719889" y="1845625"/>
            <a:ext cx="313822" cy="313822"/>
          </a:xfrm>
          <a:prstGeom prst="rect">
            <a:avLst/>
          </a:prstGeom>
        </p:spPr>
      </p:pic>
      <p:sp>
        <p:nvSpPr>
          <p:cNvPr id="12" name="Text 7"/>
          <p:cNvSpPr/>
          <p:nvPr/>
        </p:nvSpPr>
        <p:spPr>
          <a:xfrm>
            <a:off x="4575048" y="241401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Portfolio artifacts</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Deployed project + clean repo beat grades</a:t>
            </a:r>
            <a:endParaRPr lang="en-US" sz="1600" dirty="0"/>
          </a:p>
        </p:txBody>
      </p:sp>
      <p:sp>
        <p:nvSpPr>
          <p:cNvPr id="13" name="Shape 8"/>
          <p:cNvSpPr/>
          <p:nvPr/>
        </p:nvSpPr>
        <p:spPr>
          <a:xfrm>
            <a:off x="8125968" y="146304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70078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trending-cyan.png">    </p:cNvPr>
          <p:cNvPicPr>
            <a:picLocks noChangeAspect="1"/>
          </p:cNvPicPr>
          <p:nvPr/>
        </p:nvPicPr>
        <p:blipFill>
          <a:blip r:embed="rId3"/>
          <a:stretch>
            <a:fillRect/>
          </a:stretch>
        </p:blipFill>
        <p:spPr>
          <a:xfrm>
            <a:off x="8508553" y="1845625"/>
            <a:ext cx="313822" cy="313822"/>
          </a:xfrm>
          <a:prstGeom prst="rect">
            <a:avLst/>
          </a:prstGeom>
        </p:spPr>
      </p:pic>
      <p:sp>
        <p:nvSpPr>
          <p:cNvPr id="16" name="Text 10"/>
          <p:cNvSpPr/>
          <p:nvPr/>
        </p:nvSpPr>
        <p:spPr>
          <a:xfrm>
            <a:off x="8363712" y="241401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Career signal</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Proven shipping &amp; teamwork under pressure</a:t>
            </a:r>
            <a:endParaRPr lang="en-US" sz="1600" dirty="0"/>
          </a:p>
        </p:txBody>
      </p:sp>
      <p:sp>
        <p:nvSpPr>
          <p:cNvPr id="17" name="Shape 11"/>
          <p:cNvSpPr/>
          <p:nvPr/>
        </p:nvSpPr>
        <p:spPr>
          <a:xfrm>
            <a:off x="548640" y="393192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786384" y="4169664"/>
            <a:ext cx="603504" cy="603504"/>
          </a:xfrm>
          <a:prstGeom prst="ellipse">
            <a:avLst/>
          </a:prstGeom>
          <a:solidFill>
            <a:srgbClr val="1B2842"/>
          </a:solidFill>
          <a:ln/>
        </p:spPr>
      </p:sp>
      <p:pic>
        <p:nvPicPr>
          <p:cNvPr id="19" name="Image 3" descr="C:\Users\User\AppData\Local\Temp\claude\C--Users-User-OneDrive-Music-Hackathon\67e3d9e6-0718-4380-8c09-13d83fcd8fa7\scratchpad\pptbuild\v2\assets\icons\users-cyan.png">    </p:cNvPr>
          <p:cNvPicPr>
            <a:picLocks noChangeAspect="1"/>
          </p:cNvPicPr>
          <p:nvPr/>
        </p:nvPicPr>
        <p:blipFill>
          <a:blip r:embed="rId4"/>
          <a:stretch>
            <a:fillRect/>
          </a:stretch>
        </p:blipFill>
        <p:spPr>
          <a:xfrm>
            <a:off x="931225" y="4314505"/>
            <a:ext cx="313822" cy="313822"/>
          </a:xfrm>
          <a:prstGeom prst="rect">
            <a:avLst/>
          </a:prstGeom>
        </p:spPr>
      </p:pic>
      <p:sp>
        <p:nvSpPr>
          <p:cNvPr id="20" name="Text 13"/>
          <p:cNvSpPr/>
          <p:nvPr/>
        </p:nvSpPr>
        <p:spPr>
          <a:xfrm>
            <a:off x="786384" y="488289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Networking</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Mentors, sponsors, future co-founders</a:t>
            </a:r>
            <a:endParaRPr lang="en-US" sz="1600" dirty="0"/>
          </a:p>
        </p:txBody>
      </p:sp>
      <p:sp>
        <p:nvSpPr>
          <p:cNvPr id="21" name="Shape 14"/>
          <p:cNvSpPr/>
          <p:nvPr/>
        </p:nvSpPr>
        <p:spPr>
          <a:xfrm>
            <a:off x="4337304" y="393192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4575048" y="4169664"/>
            <a:ext cx="603504" cy="603504"/>
          </a:xfrm>
          <a:prstGeom prst="ellipse">
            <a:avLst/>
          </a:prstGeom>
          <a:solidFill>
            <a:srgbClr val="1B2842"/>
          </a:solidFill>
          <a:ln/>
        </p:spPr>
      </p:sp>
      <p:pic>
        <p:nvPicPr>
          <p:cNvPr id="23" name="Image 4" descr="C:\Users\User\AppData\Local\Temp\claude\C--Users-User-OneDrive-Music-Hackathon\67e3d9e6-0718-4380-8c09-13d83fcd8fa7\scratchpad\pptbuild\v2\assets\icons\building-cyan.png">    </p:cNvPr>
          <p:cNvPicPr>
            <a:picLocks noChangeAspect="1"/>
          </p:cNvPicPr>
          <p:nvPr/>
        </p:nvPicPr>
        <p:blipFill>
          <a:blip r:embed="rId5"/>
          <a:stretch>
            <a:fillRect/>
          </a:stretch>
        </p:blipFill>
        <p:spPr>
          <a:xfrm>
            <a:off x="4719889" y="4314505"/>
            <a:ext cx="313822" cy="313822"/>
          </a:xfrm>
          <a:prstGeom prst="rect">
            <a:avLst/>
          </a:prstGeom>
        </p:spPr>
      </p:pic>
      <p:sp>
        <p:nvSpPr>
          <p:cNvPr id="24" name="Text 16"/>
          <p:cNvSpPr/>
          <p:nvPr/>
        </p:nvSpPr>
        <p:spPr>
          <a:xfrm>
            <a:off x="4575048" y="488289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Startup on-ramp</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Many startups began as hackathon demos</a:t>
            </a:r>
            <a:endParaRPr lang="en-US" sz="1600" dirty="0"/>
          </a:p>
        </p:txBody>
      </p:sp>
      <p:sp>
        <p:nvSpPr>
          <p:cNvPr id="25" name="Shape 17"/>
          <p:cNvSpPr/>
          <p:nvPr/>
        </p:nvSpPr>
        <p:spPr>
          <a:xfrm>
            <a:off x="8125968" y="393192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8363712" y="4169664"/>
            <a:ext cx="603504" cy="603504"/>
          </a:xfrm>
          <a:prstGeom prst="ellipse">
            <a:avLst/>
          </a:prstGeom>
          <a:solidFill>
            <a:srgbClr val="1B2842"/>
          </a:solidFill>
          <a:ln/>
        </p:spPr>
      </p:sp>
      <p:pic>
        <p:nvPicPr>
          <p:cNvPr id="27" name="Image 5" descr="C:\Users\User\AppData\Local\Temp\claude\C--Users-User-OneDrive-Music-Hackathon\67e3d9e6-0718-4380-8c09-13d83fcd8fa7\scratchpad\pptbuild\v2\assets\icons\award-cyan.png">    </p:cNvPr>
          <p:cNvPicPr>
            <a:picLocks noChangeAspect="1"/>
          </p:cNvPicPr>
          <p:nvPr/>
        </p:nvPicPr>
        <p:blipFill>
          <a:blip r:embed="rId6"/>
          <a:stretch>
            <a:fillRect/>
          </a:stretch>
        </p:blipFill>
        <p:spPr>
          <a:xfrm>
            <a:off x="8508553" y="4314505"/>
            <a:ext cx="313822" cy="313822"/>
          </a:xfrm>
          <a:prstGeom prst="rect">
            <a:avLst/>
          </a:prstGeom>
        </p:spPr>
      </p:pic>
      <p:sp>
        <p:nvSpPr>
          <p:cNvPr id="28" name="Text 19"/>
          <p:cNvSpPr/>
          <p:nvPr/>
        </p:nvSpPr>
        <p:spPr>
          <a:xfrm>
            <a:off x="8363712" y="488289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Confidence</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Finishing real things changes how you build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01 — PROBLEM STATEMENTS &amp; IDEA VALIDATION</a:t>
            </a:r>
            <a:endParaRPr lang="en-US" sz="1300" dirty="0"/>
          </a:p>
        </p:txBody>
      </p:sp>
      <p:sp>
        <p:nvSpPr>
          <p:cNvPr id="3" name="Text 1"/>
          <p:cNvSpPr/>
          <p:nvPr/>
        </p:nvSpPr>
        <p:spPr>
          <a:xfrm>
            <a:off x="548640" y="1828800"/>
            <a:ext cx="11091672" cy="320040"/>
          </a:xfrm>
          <a:prstGeom prst="rect">
            <a:avLst/>
          </a:prstGeom>
          <a:noFill/>
          <a:ln/>
        </p:spPr>
        <p:txBody>
          <a:bodyPr wrap="square" lIns="0" tIns="0" rIns="0" bIns="0" rtlCol="0" anchor="ctr"/>
          <a:lstStyle/>
          <a:p>
            <a:pPr algn="ctr" indent="0" marL="0">
              <a:buNone/>
            </a:pPr>
            <a:r>
              <a:rPr lang="en-US" sz="1400" spc="400" kern="0" dirty="0">
                <a:solidFill>
                  <a:srgbClr val="7C8CA5"/>
                </a:solidFill>
                <a:latin typeface="Consolas" pitchFamily="34" charset="0"/>
                <a:ea typeface="Consolas" pitchFamily="34" charset="-122"/>
                <a:cs typeface="Consolas" pitchFamily="34" charset="-120"/>
              </a:rPr>
              <a:t>MOST LOSING PROJECTS FAIL BEFORE ANY CODE IS WRITTEN</a:t>
            </a:r>
            <a:endParaRPr lang="en-US" sz="1400" dirty="0"/>
          </a:p>
        </p:txBody>
      </p:sp>
      <p:sp>
        <p:nvSpPr>
          <p:cNvPr id="4" name="Text 2"/>
          <p:cNvSpPr/>
          <p:nvPr/>
        </p:nvSpPr>
        <p:spPr>
          <a:xfrm>
            <a:off x="548640" y="2194560"/>
            <a:ext cx="11091672" cy="2011680"/>
          </a:xfrm>
          <a:prstGeom prst="rect">
            <a:avLst/>
          </a:prstGeom>
          <a:noFill/>
          <a:ln/>
        </p:spPr>
        <p:txBody>
          <a:bodyPr wrap="square" lIns="0" tIns="0" rIns="0" bIns="0" rtlCol="0" anchor="ctr"/>
          <a:lstStyle/>
          <a:p>
            <a:pPr algn="ctr" indent="0" marL="0">
              <a:buNone/>
            </a:pPr>
            <a:r>
              <a:rPr lang="en-US" sz="4000" dirty="0">
                <a:solidFill>
                  <a:srgbClr val="FFFFFF"/>
                </a:solidFill>
                <a:latin typeface="Arial Black" pitchFamily="34" charset="0"/>
                <a:ea typeface="Arial Black" pitchFamily="34" charset="-122"/>
                <a:cs typeface="Arial Black" pitchFamily="34" charset="-120"/>
              </a:rPr>
              <a:t>The problem you choose is the</a:t>
            </a:r>
            <a:endParaRPr lang="en-US" sz="4000" dirty="0"/>
          </a:p>
          <a:p>
            <a:pPr algn="ctr" indent="0" marL="0">
              <a:buNone/>
            </a:pPr>
            <a:r>
              <a:rPr lang="en-US" sz="4000" dirty="0">
                <a:solidFill>
                  <a:srgbClr val="FFFFFF"/>
                </a:solidFill>
                <a:latin typeface="Arial Black" pitchFamily="34" charset="0"/>
                <a:ea typeface="Arial Black" pitchFamily="34" charset="-122"/>
                <a:cs typeface="Arial Black" pitchFamily="34" charset="-120"/>
              </a:rPr>
              <a:t>highest-leverage decision.</a:t>
            </a:r>
            <a:endParaRPr lang="en-US" sz="4000" dirty="0"/>
          </a:p>
        </p:txBody>
      </p:sp>
      <p:sp>
        <p:nvSpPr>
          <p:cNvPr id="5" name="Text 3"/>
          <p:cNvSpPr/>
          <p:nvPr/>
        </p:nvSpPr>
        <p:spPr>
          <a:xfrm>
            <a:off x="1463040" y="4389120"/>
            <a:ext cx="9262872" cy="822960"/>
          </a:xfrm>
          <a:prstGeom prst="rect">
            <a:avLst/>
          </a:prstGeom>
          <a:noFill/>
          <a:ln/>
        </p:spPr>
        <p:txBody>
          <a:bodyPr wrap="square" lIns="0" tIns="0" rIns="0" bIns="0" rtlCol="0" anchor="t"/>
          <a:lstStyle/>
          <a:p>
            <a:pPr algn="ctr" indent="0" marL="0">
              <a:buNone/>
            </a:pPr>
            <a:r>
              <a:rPr lang="en-US" sz="1800" dirty="0">
                <a:solidFill>
                  <a:srgbClr val="F1F5F9"/>
                </a:solidFill>
                <a:latin typeface="Calibri" pitchFamily="34" charset="0"/>
                <a:ea typeface="Calibri" pitchFamily="34" charset="-122"/>
                <a:cs typeface="Calibri" pitchFamily="34" charset="-120"/>
              </a:rPr>
              <a:t>A problem statement describes pain — not a solution.</a:t>
            </a:r>
            <a:endParaRPr lang="en-US" sz="1800" dirty="0"/>
          </a:p>
          <a:p>
            <a:pPr algn="ctr" indent="0" marL="0">
              <a:buNone/>
            </a:pPr>
            <a:r>
              <a:rPr lang="en-US" sz="1800" dirty="0">
                <a:solidFill>
                  <a:srgbClr val="F1F5F9"/>
                </a:solidFill>
                <a:latin typeface="Calibri" pitchFamily="34" charset="0"/>
                <a:ea typeface="Calibri" pitchFamily="34" charset="-122"/>
                <a:cs typeface="Calibri" pitchFamily="34" charset="-120"/>
              </a:rPr>
              <a:t>“People waste time finding parking” is a problem. “A parking-map app” is already a solution.</a:t>
            </a:r>
            <a:endParaRPr lang="en-US" sz="1800" dirty="0"/>
          </a:p>
        </p:txBody>
      </p:sp>
      <p:sp>
        <p:nvSpPr>
          <p:cNvPr id="6" name="Text 4"/>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Anatomy of a Strong Problem Statement</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10</a:t>
            </a:r>
            <a:endParaRPr lang="en-US" sz="1000" dirty="0"/>
          </a:p>
        </p:txBody>
      </p:sp>
      <p:sp>
        <p:nvSpPr>
          <p:cNvPr id="5" name="Shape 2"/>
          <p:cNvSpPr/>
          <p:nvPr/>
        </p:nvSpPr>
        <p:spPr>
          <a:xfrm>
            <a:off x="548640" y="1463040"/>
            <a:ext cx="11091672" cy="1143000"/>
          </a:xfrm>
          <a:prstGeom prst="roundRect">
            <a:avLst>
              <a:gd name="adj" fmla="val 7200"/>
            </a:avLst>
          </a:prstGeom>
          <a:solidFill>
            <a:srgbClr val="1B2842"/>
          </a:solidFill>
          <a:ln/>
          <a:effectLst>
            <a:outerShdw sx="100000" sy="100000" kx="0" ky="0" algn="bl" rotWithShape="0" blurRad="114300" dist="38100" dir="5400000">
              <a:srgbClr val="000000">
                <a:alpha val="45000"/>
              </a:srgbClr>
            </a:outerShdw>
          </a:effectLst>
        </p:spPr>
      </p:sp>
      <p:sp>
        <p:nvSpPr>
          <p:cNvPr id="6" name="Text 3"/>
          <p:cNvSpPr/>
          <p:nvPr/>
        </p:nvSpPr>
        <p:spPr>
          <a:xfrm>
            <a:off x="868680" y="1463040"/>
            <a:ext cx="10424160" cy="1143000"/>
          </a:xfrm>
          <a:prstGeom prst="rect">
            <a:avLst/>
          </a:prstGeom>
          <a:noFill/>
          <a:ln/>
        </p:spPr>
        <p:txBody>
          <a:bodyPr wrap="square" lIns="0" tIns="0" rIns="0" bIns="0" rtlCol="0" anchor="ctr"/>
          <a:lstStyle/>
          <a:p>
            <a:pPr algn="ctr" indent="0" marL="0">
              <a:buNone/>
            </a:pPr>
            <a:r>
              <a:rPr lang="en-US" sz="1700" dirty="0">
                <a:solidFill>
                  <a:srgbClr val="F1F5F9"/>
                </a:solidFill>
                <a:latin typeface="Calibri" pitchFamily="34" charset="0"/>
                <a:ea typeface="Calibri" pitchFamily="34" charset="-122"/>
                <a:cs typeface="Calibri" pitchFamily="34" charset="-120"/>
              </a:rPr>
              <a:t>“</a:t>
            </a:r>
            <a:pPr algn="ctr" indent="0" marL="0">
              <a:buNone/>
            </a:pPr>
            <a:r>
              <a:rPr lang="en-US" sz="1700" b="1" dirty="0">
                <a:solidFill>
                  <a:srgbClr val="22D3EE"/>
                </a:solidFill>
                <a:latin typeface="Calibri" pitchFamily="34" charset="0"/>
                <a:ea typeface="Calibri" pitchFamily="34" charset="-122"/>
                <a:cs typeface="Calibri" pitchFamily="34" charset="-120"/>
              </a:rPr>
              <a:t>[Specific user]</a:t>
            </a:r>
            <a:pPr algn="ctr" indent="0" marL="0">
              <a:buNone/>
            </a:pPr>
            <a:r>
              <a:rPr lang="en-US" sz="1700" dirty="0">
                <a:solidFill>
                  <a:srgbClr val="F1F5F9"/>
                </a:solidFill>
                <a:latin typeface="Calibri" pitchFamily="34" charset="0"/>
                <a:ea typeface="Calibri" pitchFamily="34" charset="-122"/>
                <a:cs typeface="Calibri" pitchFamily="34" charset="-120"/>
              </a:rPr>
              <a:t> struggles to </a:t>
            </a:r>
            <a:pPr algn="ctr" indent="0" marL="0">
              <a:buNone/>
            </a:pPr>
            <a:r>
              <a:rPr lang="en-US" sz="1700" b="1" dirty="0">
                <a:solidFill>
                  <a:srgbClr val="22D3EE"/>
                </a:solidFill>
                <a:latin typeface="Calibri" pitchFamily="34" charset="0"/>
                <a:ea typeface="Calibri" pitchFamily="34" charset="-122"/>
                <a:cs typeface="Calibri" pitchFamily="34" charset="-120"/>
              </a:rPr>
              <a:t>[do a task]</a:t>
            </a:r>
            <a:pPr algn="ctr" indent="0" marL="0">
              <a:buNone/>
            </a:pPr>
            <a:r>
              <a:rPr lang="en-US" sz="1700" dirty="0">
                <a:solidFill>
                  <a:srgbClr val="F1F5F9"/>
                </a:solidFill>
                <a:latin typeface="Calibri" pitchFamily="34" charset="0"/>
                <a:ea typeface="Calibri" pitchFamily="34" charset="-122"/>
                <a:cs typeface="Calibri" pitchFamily="34" charset="-120"/>
              </a:rPr>
              <a:t> when </a:t>
            </a:r>
            <a:pPr algn="ctr" indent="0" marL="0">
              <a:buNone/>
            </a:pPr>
            <a:r>
              <a:rPr lang="en-US" sz="1700" b="1" dirty="0">
                <a:solidFill>
                  <a:srgbClr val="22D3EE"/>
                </a:solidFill>
                <a:latin typeface="Calibri" pitchFamily="34" charset="0"/>
                <a:ea typeface="Calibri" pitchFamily="34" charset="-122"/>
                <a:cs typeface="Calibri" pitchFamily="34" charset="-120"/>
              </a:rPr>
              <a:t>[context]</a:t>
            </a:r>
            <a:pPr algn="ctr" indent="0" marL="0">
              <a:buNone/>
            </a:pPr>
            <a:r>
              <a:rPr lang="en-US" sz="1700" dirty="0">
                <a:solidFill>
                  <a:srgbClr val="F1F5F9"/>
                </a:solidFill>
                <a:latin typeface="Calibri" pitchFamily="34" charset="0"/>
                <a:ea typeface="Calibri" pitchFamily="34" charset="-122"/>
                <a:cs typeface="Calibri" pitchFamily="34" charset="-120"/>
              </a:rPr>
              <a:t>, because </a:t>
            </a:r>
            <a:pPr algn="ctr" indent="0" marL="0">
              <a:buNone/>
            </a:pPr>
            <a:r>
              <a:rPr lang="en-US" sz="1700" b="1" dirty="0">
                <a:solidFill>
                  <a:srgbClr val="22D3EE"/>
                </a:solidFill>
                <a:latin typeface="Calibri" pitchFamily="34" charset="0"/>
                <a:ea typeface="Calibri" pitchFamily="34" charset="-122"/>
                <a:cs typeface="Calibri" pitchFamily="34" charset="-120"/>
              </a:rPr>
              <a:t>[obstacle]</a:t>
            </a:r>
            <a:pPr algn="ctr" indent="0" marL="0">
              <a:buNone/>
            </a:pPr>
            <a:r>
              <a:rPr lang="en-US" sz="1700" dirty="0">
                <a:solidFill>
                  <a:srgbClr val="F1F5F9"/>
                </a:solidFill>
                <a:latin typeface="Calibri" pitchFamily="34" charset="0"/>
                <a:ea typeface="Calibri" pitchFamily="34" charset="-122"/>
                <a:cs typeface="Calibri" pitchFamily="34" charset="-120"/>
              </a:rPr>
              <a:t>, which leads to </a:t>
            </a:r>
            <a:pPr algn="ctr" indent="0" marL="0">
              <a:buNone/>
            </a:pPr>
            <a:r>
              <a:rPr lang="en-US" sz="1700" b="1" dirty="0">
                <a:solidFill>
                  <a:srgbClr val="22D3EE"/>
                </a:solidFill>
                <a:latin typeface="Calibri" pitchFamily="34" charset="0"/>
                <a:ea typeface="Calibri" pitchFamily="34" charset="-122"/>
                <a:cs typeface="Calibri" pitchFamily="34" charset="-120"/>
              </a:rPr>
              <a:t>[negative consequence]</a:t>
            </a:r>
            <a:pPr algn="ctr" indent="0" marL="0">
              <a:buNone/>
            </a:pPr>
            <a:r>
              <a:rPr lang="en-US" sz="1700" dirty="0">
                <a:solidFill>
                  <a:srgbClr val="F1F5F9"/>
                </a:solidFill>
                <a:latin typeface="Calibri" pitchFamily="34" charset="0"/>
                <a:ea typeface="Calibri" pitchFamily="34" charset="-122"/>
                <a:cs typeface="Calibri" pitchFamily="34" charset="-120"/>
              </a:rPr>
              <a:t>.”</a:t>
            </a:r>
            <a:endParaRPr lang="en-US" sz="1700" dirty="0"/>
          </a:p>
        </p:txBody>
      </p:sp>
      <p:sp>
        <p:nvSpPr>
          <p:cNvPr id="7" name="Shape 4"/>
          <p:cNvSpPr/>
          <p:nvPr/>
        </p:nvSpPr>
        <p:spPr>
          <a:xfrm>
            <a:off x="548640" y="2926080"/>
            <a:ext cx="5440680" cy="2651760"/>
          </a:xfrm>
          <a:prstGeom prst="roundRect">
            <a:avLst>
              <a:gd name="adj" fmla="val 3103"/>
            </a:avLst>
          </a:prstGeom>
          <a:solidFill>
            <a:srgbClr val="141E33"/>
          </a:solidFill>
          <a:ln/>
          <a:effectLst>
            <a:outerShdw sx="100000" sy="100000" kx="0" ky="0" algn="bl" rotWithShape="0" blurRad="114300" dist="38100" dir="5400000">
              <a:srgbClr val="000000">
                <a:alpha val="45000"/>
              </a:srgbClr>
            </a:outerShdw>
          </a:effectLst>
        </p:spPr>
      </p:sp>
      <p:sp>
        <p:nvSpPr>
          <p:cNvPr id="8" name="Shape 5"/>
          <p:cNvSpPr/>
          <p:nvPr/>
        </p:nvSpPr>
        <p:spPr>
          <a:xfrm>
            <a:off x="822960" y="3200400"/>
            <a:ext cx="548640" cy="548640"/>
          </a:xfrm>
          <a:prstGeom prst="ellipse">
            <a:avLst/>
          </a:prstGeom>
          <a:solidFill>
            <a:srgbClr val="1B2842"/>
          </a:solidFill>
          <a:ln/>
        </p:spPr>
      </p:sp>
      <p:pic>
        <p:nvPicPr>
          <p:cNvPr id="9" name="Image 0" descr="C:\Users\User\AppData\Local\Temp\claude\C--Users-User-OneDrive-Music-Hackathon\67e3d9e6-0718-4380-8c09-13d83fcd8fa7\scratchpad\pptbuild\v2\assets\icons\check-lime.png">    </p:cNvPr>
          <p:cNvPicPr>
            <a:picLocks noChangeAspect="1"/>
          </p:cNvPicPr>
          <p:nvPr/>
        </p:nvPicPr>
        <p:blipFill>
          <a:blip r:embed="rId1"/>
          <a:stretch>
            <a:fillRect/>
          </a:stretch>
        </p:blipFill>
        <p:spPr>
          <a:xfrm>
            <a:off x="954634" y="3332074"/>
            <a:ext cx="285293" cy="285293"/>
          </a:xfrm>
          <a:prstGeom prst="rect">
            <a:avLst/>
          </a:prstGeom>
        </p:spPr>
      </p:pic>
      <p:sp>
        <p:nvSpPr>
          <p:cNvPr id="10" name="Text 6"/>
          <p:cNvSpPr/>
          <p:nvPr/>
        </p:nvSpPr>
        <p:spPr>
          <a:xfrm>
            <a:off x="1554480" y="3108960"/>
            <a:ext cx="4206240" cy="2286000"/>
          </a:xfrm>
          <a:prstGeom prst="rect">
            <a:avLst/>
          </a:prstGeom>
          <a:noFill/>
          <a:ln/>
        </p:spPr>
        <p:txBody>
          <a:bodyPr wrap="square" lIns="0" tIns="0" rIns="0" bIns="0" rtlCol="0" anchor="t"/>
          <a:lstStyle/>
          <a:p>
            <a:pPr indent="0" marL="0">
              <a:spcAft>
                <a:spcPts val="800"/>
              </a:spcAft>
              <a:buNone/>
            </a:pPr>
            <a:r>
              <a:rPr lang="en-US" sz="1800" b="1" dirty="0">
                <a:solidFill>
                  <a:srgbClr val="A3E635"/>
                </a:solidFill>
                <a:latin typeface="Calibri" pitchFamily="34" charset="0"/>
                <a:ea typeface="Calibri" pitchFamily="34" charset="-122"/>
                <a:cs typeface="Calibri" pitchFamily="34" charset="-120"/>
              </a:rPr>
              <a:t>Strong</a:t>
            </a:r>
            <a:endParaRPr lang="en-US" sz="1800" dirty="0"/>
          </a:p>
          <a:p>
            <a:pPr indent="0" marL="0">
              <a:buNone/>
            </a:pPr>
            <a:r>
              <a:rPr lang="en-US" sz="1450" dirty="0">
                <a:solidFill>
                  <a:srgbClr val="F1F5F9"/>
                </a:solidFill>
                <a:latin typeface="Calibri" pitchFamily="34" charset="0"/>
                <a:ea typeface="Calibri" pitchFamily="34" charset="-122"/>
                <a:cs typeface="Calibri" pitchFamily="34" charset="-120"/>
              </a:rPr>
              <a:t>“Night-shift nurses struggle to log patient vitals when moving between rooms, because systems require a desktop — leading to delayed, error-prone records.”</a:t>
            </a:r>
            <a:endParaRPr lang="en-US" sz="1800" dirty="0"/>
          </a:p>
        </p:txBody>
      </p:sp>
      <p:sp>
        <p:nvSpPr>
          <p:cNvPr id="11" name="Shape 7"/>
          <p:cNvSpPr/>
          <p:nvPr/>
        </p:nvSpPr>
        <p:spPr>
          <a:xfrm>
            <a:off x="6199632" y="2926080"/>
            <a:ext cx="5440680" cy="2651760"/>
          </a:xfrm>
          <a:prstGeom prst="roundRect">
            <a:avLst>
              <a:gd name="adj" fmla="val 3103"/>
            </a:avLst>
          </a:prstGeom>
          <a:solidFill>
            <a:srgbClr val="141E33"/>
          </a:solidFill>
          <a:ln/>
          <a:effectLst>
            <a:outerShdw sx="100000" sy="100000" kx="0" ky="0" algn="bl" rotWithShape="0" blurRad="114300" dist="38100" dir="5400000">
              <a:srgbClr val="000000">
                <a:alpha val="45000"/>
              </a:srgbClr>
            </a:outerShdw>
          </a:effectLst>
        </p:spPr>
      </p:sp>
      <p:sp>
        <p:nvSpPr>
          <p:cNvPr id="12" name="Shape 8"/>
          <p:cNvSpPr/>
          <p:nvPr/>
        </p:nvSpPr>
        <p:spPr>
          <a:xfrm>
            <a:off x="6473952" y="3200400"/>
            <a:ext cx="548640" cy="548640"/>
          </a:xfrm>
          <a:prstGeom prst="ellipse">
            <a:avLst/>
          </a:prstGeom>
          <a:solidFill>
            <a:srgbClr val="1B2842"/>
          </a:solidFill>
          <a:ln/>
        </p:spPr>
      </p:sp>
      <p:pic>
        <p:nvPicPr>
          <p:cNvPr id="13" name="Image 1" descr="C:\Users\User\AppData\Local\Temp\claude\C--Users-User-OneDrive-Music-Hackathon\67e3d9e6-0718-4380-8c09-13d83fcd8fa7\scratchpad\pptbuild\v2\assets\icons\x-amber.png">    </p:cNvPr>
          <p:cNvPicPr>
            <a:picLocks noChangeAspect="1"/>
          </p:cNvPicPr>
          <p:nvPr/>
        </p:nvPicPr>
        <p:blipFill>
          <a:blip r:embed="rId2"/>
          <a:stretch>
            <a:fillRect/>
          </a:stretch>
        </p:blipFill>
        <p:spPr>
          <a:xfrm>
            <a:off x="6605626" y="3332074"/>
            <a:ext cx="285293" cy="285293"/>
          </a:xfrm>
          <a:prstGeom prst="rect">
            <a:avLst/>
          </a:prstGeom>
        </p:spPr>
      </p:pic>
      <p:sp>
        <p:nvSpPr>
          <p:cNvPr id="14" name="Text 9"/>
          <p:cNvSpPr/>
          <p:nvPr/>
        </p:nvSpPr>
        <p:spPr>
          <a:xfrm>
            <a:off x="7205472" y="3108960"/>
            <a:ext cx="4206240" cy="2286000"/>
          </a:xfrm>
          <a:prstGeom prst="rect">
            <a:avLst/>
          </a:prstGeom>
          <a:noFill/>
          <a:ln/>
        </p:spPr>
        <p:txBody>
          <a:bodyPr wrap="square" lIns="0" tIns="0" rIns="0" bIns="0" rtlCol="0" anchor="t"/>
          <a:lstStyle/>
          <a:p>
            <a:pPr indent="0" marL="0">
              <a:spcAft>
                <a:spcPts val="800"/>
              </a:spcAft>
              <a:buNone/>
            </a:pPr>
            <a:r>
              <a:rPr lang="en-US" sz="1800" b="1" dirty="0">
                <a:solidFill>
                  <a:srgbClr val="F59E0B"/>
                </a:solidFill>
                <a:latin typeface="Calibri" pitchFamily="34" charset="0"/>
                <a:ea typeface="Calibri" pitchFamily="34" charset="-122"/>
                <a:cs typeface="Calibri" pitchFamily="34" charset="-120"/>
              </a:rPr>
              <a:t>Weak</a:t>
            </a:r>
            <a:endParaRPr lang="en-US" sz="1800" dirty="0"/>
          </a:p>
          <a:p>
            <a:pPr indent="0" marL="0">
              <a:spcAft>
                <a:spcPts val="600"/>
              </a:spcAft>
              <a:buNone/>
            </a:pPr>
            <a:r>
              <a:rPr lang="en-US" sz="1450" dirty="0">
                <a:solidFill>
                  <a:srgbClr val="F1F5F9"/>
                </a:solidFill>
                <a:latin typeface="Calibri" pitchFamily="34" charset="0"/>
                <a:ea typeface="Calibri" pitchFamily="34" charset="-122"/>
                <a:cs typeface="Calibri" pitchFamily="34" charset="-120"/>
              </a:rPr>
              <a:t>“Hospitals need better software.”</a:t>
            </a:r>
            <a:endParaRPr lang="en-US" sz="1800" dirty="0"/>
          </a:p>
          <a:p>
            <a:pPr indent="0" marL="0">
              <a:buNone/>
            </a:pPr>
            <a:r>
              <a:rPr lang="en-US" sz="1350" dirty="0">
                <a:solidFill>
                  <a:srgbClr val="7C8CA5"/>
                </a:solidFill>
                <a:latin typeface="Calibri" pitchFamily="34" charset="0"/>
                <a:ea typeface="Calibri" pitchFamily="34" charset="-122"/>
                <a:cs typeface="Calibri" pitchFamily="34" charset="-120"/>
              </a:rPr>
              <a:t>No user · no concrete pain · unbuildable in a weekend.</a:t>
            </a:r>
            <a:endParaRPr lang="en-US" sz="1800" dirty="0"/>
          </a:p>
        </p:txBody>
      </p:sp>
      <p:sp>
        <p:nvSpPr>
          <p:cNvPr id="15" name="Text 10"/>
          <p:cNvSpPr/>
          <p:nvPr/>
        </p:nvSpPr>
        <p:spPr>
          <a:xfrm>
            <a:off x="548640" y="5806440"/>
            <a:ext cx="11091672" cy="320040"/>
          </a:xfrm>
          <a:prstGeom prst="rect">
            <a:avLst/>
          </a:prstGeom>
          <a:noFill/>
          <a:ln/>
        </p:spPr>
        <p:txBody>
          <a:bodyPr wrap="square" lIns="0" tIns="0" rIns="0" bIns="0" rtlCol="0" anchor="ctr"/>
          <a:lstStyle/>
          <a:p>
            <a:pPr algn="ctr" indent="0" marL="0">
              <a:buNone/>
            </a:pPr>
            <a:r>
              <a:rPr lang="en-US" sz="1350" dirty="0">
                <a:solidFill>
                  <a:srgbClr val="7C8CA5"/>
                </a:solidFill>
                <a:latin typeface="Consolas" pitchFamily="34" charset="0"/>
                <a:ea typeface="Consolas" pitchFamily="34" charset="-122"/>
                <a:cs typeface="Consolas" pitchFamily="34" charset="-120"/>
              </a:rPr>
              <a:t>who · what · when / where · why it matters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Good vs Poor Problem Statements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011680"/>
                <a:gridCol w="4535424"/>
                <a:gridCol w="4544568"/>
              </a:tblGrid>
              <a:tr h="676656">
                <a:tc>
                  <a:txBody>
                    <a:bodyPr/>
                    <a:lstStyle/>
                    <a:p>
                      <a:pPr algn="l" indent="0" marL="0">
                        <a:buNone/>
                      </a:pP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550" b="1" dirty="0">
                          <a:solidFill>
                            <a:srgbClr val="22D3EE"/>
                          </a:solidFill>
                          <a:latin typeface="Calibri" pitchFamily="34" charset="0"/>
                          <a:ea typeface="Calibri" pitchFamily="34" charset="-122"/>
                          <a:cs typeface="Calibri" pitchFamily="34" charset="-120"/>
                        </a:rPr>
                        <a:t>Good</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550" b="1" dirty="0">
                          <a:solidFill>
                            <a:srgbClr val="22D3EE"/>
                          </a:solidFill>
                          <a:latin typeface="Calibri" pitchFamily="34" charset="0"/>
                          <a:ea typeface="Calibri" pitchFamily="34" charset="-122"/>
                          <a:cs typeface="Calibri" pitchFamily="34" charset="-120"/>
                        </a:rPr>
                        <a:t>Poor</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676656">
                <a:tc>
                  <a:txBody>
                    <a:bodyPr/>
                    <a:lstStyle/>
                    <a:p>
                      <a:pPr algn="l" indent="0" marL="0">
                        <a:buNone/>
                      </a:pPr>
                      <a:r>
                        <a:rPr lang="en-US" sz="1550" b="1" dirty="0">
                          <a:solidFill>
                            <a:srgbClr val="F1F5F9"/>
                          </a:solidFill>
                          <a:latin typeface="Calibri" pitchFamily="34" charset="0"/>
                          <a:ea typeface="Calibri" pitchFamily="34" charset="-122"/>
                          <a:cs typeface="Calibri" pitchFamily="34" charset="-120"/>
                        </a:rPr>
                        <a:t>User</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50" dirty="0">
                          <a:solidFill>
                            <a:srgbClr val="A3E635"/>
                          </a:solidFill>
                          <a:latin typeface="Calibri" pitchFamily="34" charset="0"/>
                          <a:ea typeface="Calibri" pitchFamily="34" charset="-122"/>
                          <a:cs typeface="Calibri" pitchFamily="34" charset="-120"/>
                        </a:rPr>
                        <a:t>One specific persona</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50" dirty="0">
                          <a:solidFill>
                            <a:srgbClr val="F59E0B"/>
                          </a:solidFill>
                          <a:latin typeface="Calibri" pitchFamily="34" charset="0"/>
                          <a:ea typeface="Calibri" pitchFamily="34" charset="-122"/>
                          <a:cs typeface="Calibri" pitchFamily="34" charset="-120"/>
                        </a:rPr>
                        <a:t>“Everyone” / undefined</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676656">
                <a:tc>
                  <a:txBody>
                    <a:bodyPr/>
                    <a:lstStyle/>
                    <a:p>
                      <a:pPr algn="l" indent="0" marL="0">
                        <a:buNone/>
                      </a:pPr>
                      <a:r>
                        <a:rPr lang="en-US" sz="1550" b="1" dirty="0">
                          <a:solidFill>
                            <a:srgbClr val="F1F5F9"/>
                          </a:solidFill>
                          <a:latin typeface="Calibri" pitchFamily="34" charset="0"/>
                          <a:ea typeface="Calibri" pitchFamily="34" charset="-122"/>
                          <a:cs typeface="Calibri" pitchFamily="34" charset="-120"/>
                        </a:rPr>
                        <a:t>Pain</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50" dirty="0">
                          <a:solidFill>
                            <a:srgbClr val="A3E635"/>
                          </a:solidFill>
                          <a:latin typeface="Calibri" pitchFamily="34" charset="0"/>
                          <a:ea typeface="Calibri" pitchFamily="34" charset="-122"/>
                          <a:cs typeface="Calibri" pitchFamily="34" charset="-120"/>
                        </a:rPr>
                        <a:t>Concrete, observable</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50" dirty="0">
                          <a:solidFill>
                            <a:srgbClr val="F59E0B"/>
                          </a:solidFill>
                          <a:latin typeface="Calibri" pitchFamily="34" charset="0"/>
                          <a:ea typeface="Calibri" pitchFamily="34" charset="-122"/>
                          <a:cs typeface="Calibri" pitchFamily="34" charset="-120"/>
                        </a:rPr>
                        <a:t>Vague, abstract</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676656">
                <a:tc>
                  <a:txBody>
                    <a:bodyPr/>
                    <a:lstStyle/>
                    <a:p>
                      <a:pPr algn="l" indent="0" marL="0">
                        <a:buNone/>
                      </a:pPr>
                      <a:r>
                        <a:rPr lang="en-US" sz="1550" b="1" dirty="0">
                          <a:solidFill>
                            <a:srgbClr val="F1F5F9"/>
                          </a:solidFill>
                          <a:latin typeface="Calibri" pitchFamily="34" charset="0"/>
                          <a:ea typeface="Calibri" pitchFamily="34" charset="-122"/>
                          <a:cs typeface="Calibri" pitchFamily="34" charset="-120"/>
                        </a:rPr>
                        <a:t>Scope</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50" dirty="0">
                          <a:solidFill>
                            <a:srgbClr val="A3E635"/>
                          </a:solidFill>
                          <a:latin typeface="Calibri" pitchFamily="34" charset="0"/>
                          <a:ea typeface="Calibri" pitchFamily="34" charset="-122"/>
                          <a:cs typeface="Calibri" pitchFamily="34" charset="-120"/>
                        </a:rPr>
                        <a:t>Solvable in the time box</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50" dirty="0">
                          <a:solidFill>
                            <a:srgbClr val="F59E0B"/>
                          </a:solidFill>
                          <a:latin typeface="Calibri" pitchFamily="34" charset="0"/>
                          <a:ea typeface="Calibri" pitchFamily="34" charset="-122"/>
                          <a:cs typeface="Calibri" pitchFamily="34" charset="-120"/>
                        </a:rPr>
                        <a:t>Needs months / institutions</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676656">
                <a:tc>
                  <a:txBody>
                    <a:bodyPr/>
                    <a:lstStyle/>
                    <a:p>
                      <a:pPr algn="l" indent="0" marL="0">
                        <a:buNone/>
                      </a:pPr>
                      <a:r>
                        <a:rPr lang="en-US" sz="1550" b="1" dirty="0">
                          <a:solidFill>
                            <a:srgbClr val="F1F5F9"/>
                          </a:solidFill>
                          <a:latin typeface="Calibri" pitchFamily="34" charset="0"/>
                          <a:ea typeface="Calibri" pitchFamily="34" charset="-122"/>
                          <a:cs typeface="Calibri" pitchFamily="34" charset="-120"/>
                        </a:rPr>
                        <a:t>Evidence</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50" dirty="0">
                          <a:solidFill>
                            <a:srgbClr val="A3E635"/>
                          </a:solidFill>
                          <a:latin typeface="Calibri" pitchFamily="34" charset="0"/>
                          <a:ea typeface="Calibri" pitchFamily="34" charset="-122"/>
                          <a:cs typeface="Calibri" pitchFamily="34" charset="-120"/>
                        </a:rPr>
                        <a:t>A real observation</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550" dirty="0">
                          <a:solidFill>
                            <a:srgbClr val="F59E0B"/>
                          </a:solidFill>
                          <a:latin typeface="Calibri" pitchFamily="34" charset="0"/>
                          <a:ea typeface="Calibri" pitchFamily="34" charset="-122"/>
                          <a:cs typeface="Calibri" pitchFamily="34" charset="-120"/>
                        </a:rPr>
                        <a:t>Assumed / imagined</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676656">
                <a:tc>
                  <a:txBody>
                    <a:bodyPr/>
                    <a:lstStyle/>
                    <a:p>
                      <a:pPr algn="l" indent="0" marL="0">
                        <a:buNone/>
                      </a:pPr>
                      <a:r>
                        <a:rPr lang="en-US" sz="1550" b="1" dirty="0">
                          <a:solidFill>
                            <a:srgbClr val="F1F5F9"/>
                          </a:solidFill>
                          <a:latin typeface="Calibri" pitchFamily="34" charset="0"/>
                          <a:ea typeface="Calibri" pitchFamily="34" charset="-122"/>
                          <a:cs typeface="Calibri" pitchFamily="34" charset="-120"/>
                        </a:rPr>
                        <a:t>Framing</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50" dirty="0">
                          <a:solidFill>
                            <a:srgbClr val="A3E635"/>
                          </a:solidFill>
                          <a:latin typeface="Calibri" pitchFamily="34" charset="0"/>
                          <a:ea typeface="Calibri" pitchFamily="34" charset="-122"/>
                          <a:cs typeface="Calibri" pitchFamily="34" charset="-120"/>
                        </a:rPr>
                        <a:t>Describes the pain</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550" dirty="0">
                          <a:solidFill>
                            <a:srgbClr val="F59E0B"/>
                          </a:solidFill>
                          <a:latin typeface="Calibri" pitchFamily="34" charset="0"/>
                          <a:ea typeface="Calibri" pitchFamily="34" charset="-122"/>
                          <a:cs typeface="Calibri" pitchFamily="34" charset="-120"/>
                        </a:rPr>
                        <a:t>Names a solution too early</a:t>
                      </a:r>
                      <a:endParaRPr lang="en-US" sz="15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6" name="Text 2"/>
          <p:cNvSpPr/>
          <p:nvPr/>
        </p:nvSpPr>
        <p:spPr>
          <a:xfrm>
            <a:off x="548640" y="5806440"/>
            <a:ext cx="11091672" cy="365760"/>
          </a:xfrm>
          <a:prstGeom prst="rect">
            <a:avLst/>
          </a:prstGeom>
          <a:noFill/>
          <a:ln/>
        </p:spPr>
        <p:txBody>
          <a:bodyPr wrap="square" lIns="0" tIns="0" rIns="0" bIns="0" rtlCol="0" anchor="ctr"/>
          <a:lstStyle/>
          <a:p>
            <a:pPr algn="ctr" indent="0" marL="0">
              <a:buNone/>
            </a:pPr>
            <a:r>
              <a:rPr lang="en-US" sz="1500" i="1" dirty="0">
                <a:solidFill>
                  <a:srgbClr val="7C8CA5"/>
                </a:solidFill>
                <a:latin typeface="Calibri" pitchFamily="34" charset="0"/>
                <a:ea typeface="Calibri" pitchFamily="34" charset="-122"/>
                <a:cs typeface="Calibri" pitchFamily="34" charset="-120"/>
              </a:rPr>
              <a:t>Five checks — sharpen or swap before you build.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Find Real Pain — Then Prove It</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12</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WHERE PAIN HIDES — 1.4</a:t>
            </a:r>
            <a:endParaRPr lang="en-US" sz="1400" dirty="0"/>
          </a:p>
        </p:txBody>
      </p:sp>
      <p:sp>
        <p:nvSpPr>
          <p:cNvPr id="6" name="Shape 3"/>
          <p:cNvSpPr/>
          <p:nvPr/>
        </p:nvSpPr>
        <p:spPr>
          <a:xfrm>
            <a:off x="548640" y="1920240"/>
            <a:ext cx="548640" cy="548640"/>
          </a:xfrm>
          <a:prstGeom prst="ellipse">
            <a:avLst/>
          </a:prstGeom>
          <a:solidFill>
            <a:srgbClr val="1B2842"/>
          </a:solidFill>
          <a:ln/>
        </p:spPr>
      </p:sp>
      <p:pic>
        <p:nvPicPr>
          <p:cNvPr id="7" name="Image 0" descr="C:\Users\User\AppData\Local\Temp\claude\C--Users-User-OneDrive-Music-Hackathon\67e3d9e6-0718-4380-8c09-13d83fcd8fa7\scratchpad\pptbuild\v2\assets\icons\target-cyan.png">    </p:cNvPr>
          <p:cNvPicPr>
            <a:picLocks noChangeAspect="1"/>
          </p:cNvPicPr>
          <p:nvPr/>
        </p:nvPicPr>
        <p:blipFill>
          <a:blip r:embed="rId1"/>
          <a:stretch>
            <a:fillRect/>
          </a:stretch>
        </p:blipFill>
        <p:spPr>
          <a:xfrm>
            <a:off x="680314" y="2051914"/>
            <a:ext cx="285293" cy="285293"/>
          </a:xfrm>
          <a:prstGeom prst="rect">
            <a:avLst/>
          </a:prstGeom>
        </p:spPr>
      </p:pic>
      <p:sp>
        <p:nvSpPr>
          <p:cNvPr id="8" name="Text 4"/>
          <p:cNvSpPr/>
          <p:nvPr/>
        </p:nvSpPr>
        <p:spPr>
          <a:xfrm>
            <a:off x="1325880" y="1783080"/>
            <a:ext cx="461772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Personal friction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you are the user → instant validation</a:t>
            </a:r>
            <a:endParaRPr lang="en-US" sz="1500" dirty="0"/>
          </a:p>
        </p:txBody>
      </p:sp>
      <p:sp>
        <p:nvSpPr>
          <p:cNvPr id="9" name="Shape 5"/>
          <p:cNvSpPr/>
          <p:nvPr/>
        </p:nvSpPr>
        <p:spPr>
          <a:xfrm>
            <a:off x="548640" y="2743200"/>
            <a:ext cx="548640" cy="548640"/>
          </a:xfrm>
          <a:prstGeom prst="ellipse">
            <a:avLst/>
          </a:prstGeom>
          <a:solidFill>
            <a:srgbClr val="1B2842"/>
          </a:solidFill>
          <a:ln/>
        </p:spPr>
      </p:sp>
      <p:pic>
        <p:nvPicPr>
          <p:cNvPr id="10" name="Image 1" descr="C:\Users\User\AppData\Local\Temp\claude\C--Users-User-OneDrive-Music-Hackathon\67e3d9e6-0718-4380-8c09-13d83fcd8fa7\scratchpad\pptbuild\v2\assets\icons\eye-cyan.png">    </p:cNvPr>
          <p:cNvPicPr>
            <a:picLocks noChangeAspect="1"/>
          </p:cNvPicPr>
          <p:nvPr/>
        </p:nvPicPr>
        <p:blipFill>
          <a:blip r:embed="rId2"/>
          <a:stretch>
            <a:fillRect/>
          </a:stretch>
        </p:blipFill>
        <p:spPr>
          <a:xfrm>
            <a:off x="680314" y="2874874"/>
            <a:ext cx="285293" cy="285293"/>
          </a:xfrm>
          <a:prstGeom prst="rect">
            <a:avLst/>
          </a:prstGeom>
        </p:spPr>
      </p:pic>
      <p:sp>
        <p:nvSpPr>
          <p:cNvPr id="11" name="Text 6"/>
          <p:cNvSpPr/>
          <p:nvPr/>
        </p:nvSpPr>
        <p:spPr>
          <a:xfrm>
            <a:off x="1325880" y="2606040"/>
            <a:ext cx="461772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Observed friction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watch for sighs, waits, workarounds</a:t>
            </a:r>
            <a:endParaRPr lang="en-US" sz="1500" dirty="0"/>
          </a:p>
        </p:txBody>
      </p:sp>
      <p:sp>
        <p:nvSpPr>
          <p:cNvPr id="12" name="Shape 7"/>
          <p:cNvSpPr/>
          <p:nvPr/>
        </p:nvSpPr>
        <p:spPr>
          <a:xfrm>
            <a:off x="548640" y="3566160"/>
            <a:ext cx="548640" cy="548640"/>
          </a:xfrm>
          <a:prstGeom prst="ellipse">
            <a:avLst/>
          </a:prstGeom>
          <a:solidFill>
            <a:srgbClr val="1B2842"/>
          </a:solidFill>
          <a:ln/>
        </p:spPr>
      </p:sp>
      <p:pic>
        <p:nvPicPr>
          <p:cNvPr id="13" name="Image 2" descr="C:\Users\User\AppData\Local\Temp\claude\C--Users-User-OneDrive-Music-Hackathon\67e3d9e6-0718-4380-8c09-13d83fcd8fa7\scratchpad\pptbuild\v2\assets\icons\message-cyan.png">    </p:cNvPr>
          <p:cNvPicPr>
            <a:picLocks noChangeAspect="1"/>
          </p:cNvPicPr>
          <p:nvPr/>
        </p:nvPicPr>
        <p:blipFill>
          <a:blip r:embed="rId3"/>
          <a:stretch>
            <a:fillRect/>
          </a:stretch>
        </p:blipFill>
        <p:spPr>
          <a:xfrm>
            <a:off x="680314" y="3697834"/>
            <a:ext cx="285293" cy="285293"/>
          </a:xfrm>
          <a:prstGeom prst="rect">
            <a:avLst/>
          </a:prstGeom>
        </p:spPr>
      </p:pic>
      <p:sp>
        <p:nvSpPr>
          <p:cNvPr id="14" name="Text 8"/>
          <p:cNvSpPr/>
          <p:nvPr/>
        </p:nvSpPr>
        <p:spPr>
          <a:xfrm>
            <a:off x="1325880" y="3429000"/>
            <a:ext cx="461772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Community complaints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forums · 1-star reviews · subreddits</a:t>
            </a:r>
            <a:endParaRPr lang="en-US" sz="1500" dirty="0"/>
          </a:p>
        </p:txBody>
      </p:sp>
      <p:sp>
        <p:nvSpPr>
          <p:cNvPr id="15" name="Shape 9"/>
          <p:cNvSpPr/>
          <p:nvPr/>
        </p:nvSpPr>
        <p:spPr>
          <a:xfrm>
            <a:off x="548640" y="4389120"/>
            <a:ext cx="548640" cy="548640"/>
          </a:xfrm>
          <a:prstGeom prst="ellipse">
            <a:avLst/>
          </a:prstGeom>
          <a:solidFill>
            <a:srgbClr val="1B2842"/>
          </a:solidFill>
          <a:ln/>
        </p:spPr>
      </p:sp>
      <p:pic>
        <p:nvPicPr>
          <p:cNvPr id="16" name="Image 3" descr="C:\Users\User\AppData\Local\Temp\claude\C--Users-User-OneDrive-Music-Hackathon\67e3d9e6-0718-4380-8c09-13d83fcd8fa7\scratchpad\pptbuild\v2\assets\icons\users-cyan.png">    </p:cNvPr>
          <p:cNvPicPr>
            <a:picLocks noChangeAspect="1"/>
          </p:cNvPicPr>
          <p:nvPr/>
        </p:nvPicPr>
        <p:blipFill>
          <a:blip r:embed="rId4"/>
          <a:stretch>
            <a:fillRect/>
          </a:stretch>
        </p:blipFill>
        <p:spPr>
          <a:xfrm>
            <a:off x="680314" y="4520794"/>
            <a:ext cx="285293" cy="285293"/>
          </a:xfrm>
          <a:prstGeom prst="rect">
            <a:avLst/>
          </a:prstGeom>
        </p:spPr>
      </p:pic>
      <p:sp>
        <p:nvSpPr>
          <p:cNvPr id="17" name="Text 10"/>
          <p:cNvSpPr/>
          <p:nvPr/>
        </p:nvSpPr>
        <p:spPr>
          <a:xfrm>
            <a:off x="1325880" y="4251960"/>
            <a:ext cx="461772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Domain experts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“your most annoying repetitive task?”</a:t>
            </a:r>
            <a:endParaRPr lang="en-US" sz="1500" dirty="0"/>
          </a:p>
        </p:txBody>
      </p:sp>
      <p:sp>
        <p:nvSpPr>
          <p:cNvPr id="18" name="Shape 11"/>
          <p:cNvSpPr/>
          <p:nvPr/>
        </p:nvSpPr>
        <p:spPr>
          <a:xfrm>
            <a:off x="548640" y="5212080"/>
            <a:ext cx="548640" cy="548640"/>
          </a:xfrm>
          <a:prstGeom prst="ellipse">
            <a:avLst/>
          </a:prstGeom>
          <a:solidFill>
            <a:srgbClr val="1B2842"/>
          </a:solidFill>
          <a:ln/>
        </p:spPr>
      </p:sp>
      <p:pic>
        <p:nvPicPr>
          <p:cNvPr id="19" name="Image 4" descr="C:\Users\User\AppData\Local\Temp\claude\C--Users-User-OneDrive-Music-Hackathon\67e3d9e6-0718-4380-8c09-13d83fcd8fa7\scratchpad\pptbuild\v2\assets\icons\database-cyan.png">    </p:cNvPr>
          <p:cNvPicPr>
            <a:picLocks noChangeAspect="1"/>
          </p:cNvPicPr>
          <p:nvPr/>
        </p:nvPicPr>
        <p:blipFill>
          <a:blip r:embed="rId5"/>
          <a:stretch>
            <a:fillRect/>
          </a:stretch>
        </p:blipFill>
        <p:spPr>
          <a:xfrm>
            <a:off x="680314" y="5343754"/>
            <a:ext cx="285293" cy="285293"/>
          </a:xfrm>
          <a:prstGeom prst="rect">
            <a:avLst/>
          </a:prstGeom>
        </p:spPr>
      </p:pic>
      <p:sp>
        <p:nvSpPr>
          <p:cNvPr id="20" name="Text 12"/>
          <p:cNvSpPr/>
          <p:nvPr/>
        </p:nvSpPr>
        <p:spPr>
          <a:xfrm>
            <a:off x="1325880" y="5074920"/>
            <a:ext cx="461772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Open data</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datasets reveal structural gaps</a:t>
            </a:r>
            <a:endParaRPr lang="en-US" sz="1500" dirty="0"/>
          </a:p>
        </p:txBody>
      </p:sp>
      <p:sp>
        <p:nvSpPr>
          <p:cNvPr id="21" name="Text 13"/>
          <p:cNvSpPr/>
          <p:nvPr/>
        </p:nvSpPr>
        <p:spPr>
          <a:xfrm>
            <a:off x="6492240" y="1371600"/>
            <a:ext cx="512064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WORTH SOLVING? — 1.5</a:t>
            </a:r>
            <a:endParaRPr lang="en-US" sz="1400" dirty="0"/>
          </a:p>
        </p:txBody>
      </p:sp>
      <p:sp>
        <p:nvSpPr>
          <p:cNvPr id="22" name="Shape 14"/>
          <p:cNvSpPr/>
          <p:nvPr/>
        </p:nvSpPr>
        <p:spPr>
          <a:xfrm>
            <a:off x="6492240" y="1828800"/>
            <a:ext cx="5148072" cy="1234440"/>
          </a:xfrm>
          <a:prstGeom prst="roundRect">
            <a:avLst>
              <a:gd name="adj" fmla="val 6667"/>
            </a:avLst>
          </a:prstGeom>
          <a:solidFill>
            <a:srgbClr val="141E33"/>
          </a:solidFill>
          <a:ln/>
          <a:effectLst>
            <a:outerShdw sx="100000" sy="100000" kx="0" ky="0" algn="bl" rotWithShape="0" blurRad="114300" dist="38100" dir="5400000">
              <a:srgbClr val="000000">
                <a:alpha val="45000"/>
              </a:srgbClr>
            </a:outerShdw>
          </a:effectLst>
        </p:spPr>
      </p:sp>
      <p:sp>
        <p:nvSpPr>
          <p:cNvPr id="23" name="Shape 15"/>
          <p:cNvSpPr/>
          <p:nvPr/>
        </p:nvSpPr>
        <p:spPr>
          <a:xfrm>
            <a:off x="6720840" y="2167128"/>
            <a:ext cx="548640" cy="548640"/>
          </a:xfrm>
          <a:prstGeom prst="ellipse">
            <a:avLst/>
          </a:prstGeom>
          <a:solidFill>
            <a:srgbClr val="22D3EE"/>
          </a:solidFill>
          <a:ln/>
        </p:spPr>
      </p:sp>
      <p:sp>
        <p:nvSpPr>
          <p:cNvPr id="24" name="Text 16"/>
          <p:cNvSpPr/>
          <p:nvPr/>
        </p:nvSpPr>
        <p:spPr>
          <a:xfrm>
            <a:off x="6720840" y="2148840"/>
            <a:ext cx="548640" cy="548640"/>
          </a:xfrm>
          <a:prstGeom prst="rect">
            <a:avLst/>
          </a:prstGeom>
          <a:noFill/>
          <a:ln/>
        </p:spPr>
        <p:txBody>
          <a:bodyPr wrap="square" lIns="0" tIns="0" rIns="0" bIns="0" rtlCol="0" anchor="ctr"/>
          <a:lstStyle/>
          <a:p>
            <a:pPr algn="ctr" indent="0" marL="0">
              <a:buNone/>
            </a:pPr>
            <a:r>
              <a:rPr lang="en-US" sz="2000" dirty="0">
                <a:solidFill>
                  <a:srgbClr val="0B1220"/>
                </a:solidFill>
                <a:latin typeface="Arial Black" pitchFamily="34" charset="0"/>
                <a:ea typeface="Arial Black" pitchFamily="34" charset="-122"/>
                <a:cs typeface="Arial Black" pitchFamily="34" charset="-120"/>
              </a:rPr>
              <a:t>3</a:t>
            </a:r>
            <a:endParaRPr lang="en-US" sz="2000" dirty="0"/>
          </a:p>
        </p:txBody>
      </p:sp>
      <p:sp>
        <p:nvSpPr>
          <p:cNvPr id="25" name="Text 17"/>
          <p:cNvSpPr/>
          <p:nvPr/>
        </p:nvSpPr>
        <p:spPr>
          <a:xfrm>
            <a:off x="7452360" y="1828800"/>
            <a:ext cx="4023360" cy="1234440"/>
          </a:xfrm>
          <a:prstGeom prst="rect">
            <a:avLst/>
          </a:prstGeom>
          <a:noFill/>
          <a:ln/>
        </p:spPr>
        <p:txBody>
          <a:bodyPr wrap="square" lIns="0" tIns="0" rIns="0" bIns="0" rtlCol="0" anchor="ctr"/>
          <a:lstStyle/>
          <a:p>
            <a:pPr indent="0" marL="0">
              <a:lnSpc>
                <a:spcPct val="104000"/>
              </a:lnSpc>
              <a:spcAft>
                <a:spcPts val="300"/>
              </a:spcAft>
              <a:buNone/>
            </a:pPr>
            <a:r>
              <a:rPr lang="en-US" sz="1600" b="1" dirty="0">
                <a:solidFill>
                  <a:srgbClr val="F1F5F9"/>
                </a:solidFill>
                <a:latin typeface="Calibri" pitchFamily="34" charset="0"/>
                <a:ea typeface="Calibri" pitchFamily="34" charset="-122"/>
                <a:cs typeface="Calibri" pitchFamily="34" charset="-120"/>
              </a:rPr>
              <a:t>3-person test</a:t>
            </a:r>
            <a:endParaRPr lang="en-US" sz="1600" dirty="0"/>
          </a:p>
          <a:p>
            <a:pPr indent="0" marL="0">
              <a:lnSpc>
                <a:spcPct val="104000"/>
              </a:lnSpc>
              <a:buNone/>
            </a:pPr>
            <a:r>
              <a:rPr lang="en-US" sz="1350" dirty="0">
                <a:solidFill>
                  <a:srgbClr val="7C8CA5"/>
                </a:solidFill>
                <a:latin typeface="Calibri" pitchFamily="34" charset="0"/>
                <a:ea typeface="Calibri" pitchFamily="34" charset="-122"/>
                <a:cs typeface="Calibri" pitchFamily="34" charset="-120"/>
              </a:rPr>
              <a:t>Ask 3 target users. Zero yeses → pick a new problem.</a:t>
            </a:r>
            <a:endParaRPr lang="en-US" sz="1600" dirty="0"/>
          </a:p>
        </p:txBody>
      </p:sp>
      <p:sp>
        <p:nvSpPr>
          <p:cNvPr id="26" name="Shape 18"/>
          <p:cNvSpPr/>
          <p:nvPr/>
        </p:nvSpPr>
        <p:spPr>
          <a:xfrm>
            <a:off x="6492240" y="3246120"/>
            <a:ext cx="5148072" cy="1234440"/>
          </a:xfrm>
          <a:prstGeom prst="roundRect">
            <a:avLst>
              <a:gd name="adj" fmla="val 6667"/>
            </a:avLst>
          </a:prstGeom>
          <a:solidFill>
            <a:srgbClr val="141E33"/>
          </a:solidFill>
          <a:ln/>
          <a:effectLst>
            <a:outerShdw sx="100000" sy="100000" kx="0" ky="0" algn="bl" rotWithShape="0" blurRad="114300" dist="38100" dir="5400000">
              <a:srgbClr val="000000">
                <a:alpha val="45000"/>
              </a:srgbClr>
            </a:outerShdw>
          </a:effectLst>
        </p:spPr>
      </p:sp>
      <p:sp>
        <p:nvSpPr>
          <p:cNvPr id="27" name="Shape 19"/>
          <p:cNvSpPr/>
          <p:nvPr/>
        </p:nvSpPr>
        <p:spPr>
          <a:xfrm>
            <a:off x="6720840" y="3584448"/>
            <a:ext cx="548640" cy="548640"/>
          </a:xfrm>
          <a:prstGeom prst="ellipse">
            <a:avLst/>
          </a:prstGeom>
          <a:solidFill>
            <a:srgbClr val="22D3EE"/>
          </a:solidFill>
          <a:ln/>
        </p:spPr>
      </p:sp>
      <p:sp>
        <p:nvSpPr>
          <p:cNvPr id="28" name="Text 20"/>
          <p:cNvSpPr/>
          <p:nvPr/>
        </p:nvSpPr>
        <p:spPr>
          <a:xfrm>
            <a:off x="6720840" y="3566160"/>
            <a:ext cx="548640" cy="548640"/>
          </a:xfrm>
          <a:prstGeom prst="rect">
            <a:avLst/>
          </a:prstGeom>
          <a:noFill/>
          <a:ln/>
        </p:spPr>
        <p:txBody>
          <a:bodyPr wrap="square" lIns="0" tIns="0" rIns="0" bIns="0" rtlCol="0" anchor="ctr"/>
          <a:lstStyle/>
          <a:p>
            <a:pPr algn="ctr" indent="0" marL="0">
              <a:buNone/>
            </a:pPr>
            <a:r>
              <a:rPr lang="en-US" sz="2000" dirty="0">
                <a:solidFill>
                  <a:srgbClr val="0B1220"/>
                </a:solidFill>
                <a:latin typeface="Arial Black" pitchFamily="34" charset="0"/>
                <a:ea typeface="Arial Black" pitchFamily="34" charset="-122"/>
                <a:cs typeface="Arial Black" pitchFamily="34" charset="-120"/>
              </a:rPr>
              <a:t>×</a:t>
            </a:r>
            <a:endParaRPr lang="en-US" sz="2000" dirty="0"/>
          </a:p>
        </p:txBody>
      </p:sp>
      <p:sp>
        <p:nvSpPr>
          <p:cNvPr id="29" name="Text 21"/>
          <p:cNvSpPr/>
          <p:nvPr/>
        </p:nvSpPr>
        <p:spPr>
          <a:xfrm>
            <a:off x="7452360" y="3246120"/>
            <a:ext cx="4023360" cy="1234440"/>
          </a:xfrm>
          <a:prstGeom prst="rect">
            <a:avLst/>
          </a:prstGeom>
          <a:noFill/>
          <a:ln/>
        </p:spPr>
        <p:txBody>
          <a:bodyPr wrap="square" lIns="0" tIns="0" rIns="0" bIns="0" rtlCol="0" anchor="ctr"/>
          <a:lstStyle/>
          <a:p>
            <a:pPr indent="0" marL="0">
              <a:lnSpc>
                <a:spcPct val="104000"/>
              </a:lnSpc>
              <a:spcAft>
                <a:spcPts val="300"/>
              </a:spcAft>
              <a:buNone/>
            </a:pPr>
            <a:r>
              <a:rPr lang="en-US" sz="1600" b="1" dirty="0">
                <a:solidFill>
                  <a:srgbClr val="F1F5F9"/>
                </a:solidFill>
                <a:latin typeface="Calibri" pitchFamily="34" charset="0"/>
                <a:ea typeface="Calibri" pitchFamily="34" charset="-122"/>
                <a:cs typeface="Calibri" pitchFamily="34" charset="-120"/>
              </a:rPr>
              <a:t>Frequency × Severity</a:t>
            </a:r>
            <a:endParaRPr lang="en-US" sz="1600" dirty="0"/>
          </a:p>
          <a:p>
            <a:pPr indent="0" marL="0">
              <a:lnSpc>
                <a:spcPct val="104000"/>
              </a:lnSpc>
              <a:buNone/>
            </a:pPr>
            <a:r>
              <a:rPr lang="en-US" sz="1350" dirty="0">
                <a:solidFill>
                  <a:srgbClr val="7C8CA5"/>
                </a:solidFill>
                <a:latin typeface="Calibri" pitchFamily="34" charset="0"/>
                <a:ea typeface="Calibri" pitchFamily="34" charset="-122"/>
                <a:cs typeface="Calibri" pitchFamily="34" charset="-120"/>
              </a:rPr>
              <a:t>High-frequency + high-severity pains win.</a:t>
            </a:r>
            <a:endParaRPr lang="en-US" sz="1600" dirty="0"/>
          </a:p>
        </p:txBody>
      </p:sp>
      <p:sp>
        <p:nvSpPr>
          <p:cNvPr id="30" name="Shape 22"/>
          <p:cNvSpPr/>
          <p:nvPr/>
        </p:nvSpPr>
        <p:spPr>
          <a:xfrm>
            <a:off x="6492240" y="4663440"/>
            <a:ext cx="5148072" cy="1234440"/>
          </a:xfrm>
          <a:prstGeom prst="roundRect">
            <a:avLst>
              <a:gd name="adj" fmla="val 6667"/>
            </a:avLst>
          </a:prstGeom>
          <a:solidFill>
            <a:srgbClr val="141E33"/>
          </a:solidFill>
          <a:ln/>
          <a:effectLst>
            <a:outerShdw sx="100000" sy="100000" kx="0" ky="0" algn="bl" rotWithShape="0" blurRad="114300" dist="38100" dir="5400000">
              <a:srgbClr val="000000">
                <a:alpha val="45000"/>
              </a:srgbClr>
            </a:outerShdw>
          </a:effectLst>
        </p:spPr>
      </p:sp>
      <p:sp>
        <p:nvSpPr>
          <p:cNvPr id="31" name="Shape 23"/>
          <p:cNvSpPr/>
          <p:nvPr/>
        </p:nvSpPr>
        <p:spPr>
          <a:xfrm>
            <a:off x="6720840" y="5001768"/>
            <a:ext cx="548640" cy="548640"/>
          </a:xfrm>
          <a:prstGeom prst="ellipse">
            <a:avLst/>
          </a:prstGeom>
          <a:solidFill>
            <a:srgbClr val="22D3EE"/>
          </a:solidFill>
          <a:ln/>
        </p:spPr>
      </p:sp>
      <p:sp>
        <p:nvSpPr>
          <p:cNvPr id="32" name="Text 24"/>
          <p:cNvSpPr/>
          <p:nvPr/>
        </p:nvSpPr>
        <p:spPr>
          <a:xfrm>
            <a:off x="6720840" y="4983480"/>
            <a:ext cx="548640" cy="548640"/>
          </a:xfrm>
          <a:prstGeom prst="rect">
            <a:avLst/>
          </a:prstGeom>
          <a:noFill/>
          <a:ln/>
        </p:spPr>
        <p:txBody>
          <a:bodyPr wrap="square" lIns="0" tIns="0" rIns="0" bIns="0" rtlCol="0" anchor="ctr"/>
          <a:lstStyle/>
          <a:p>
            <a:pPr algn="ctr" indent="0" marL="0">
              <a:buNone/>
            </a:pPr>
            <a:r>
              <a:rPr lang="en-US" sz="2000" dirty="0">
                <a:solidFill>
                  <a:srgbClr val="0B1220"/>
                </a:solidFill>
                <a:latin typeface="Arial Black" pitchFamily="34" charset="0"/>
                <a:ea typeface="Arial Black" pitchFamily="34" charset="-122"/>
                <a:cs typeface="Arial Black" pitchFamily="34" charset="-120"/>
              </a:rPr>
              <a:t>✓</a:t>
            </a:r>
            <a:endParaRPr lang="en-US" sz="2000" dirty="0"/>
          </a:p>
        </p:txBody>
      </p:sp>
      <p:sp>
        <p:nvSpPr>
          <p:cNvPr id="33" name="Text 25"/>
          <p:cNvSpPr/>
          <p:nvPr/>
        </p:nvSpPr>
        <p:spPr>
          <a:xfrm>
            <a:off x="7452360" y="4663440"/>
            <a:ext cx="4023360" cy="1234440"/>
          </a:xfrm>
          <a:prstGeom prst="rect">
            <a:avLst/>
          </a:prstGeom>
          <a:noFill/>
          <a:ln/>
        </p:spPr>
        <p:txBody>
          <a:bodyPr wrap="square" lIns="0" tIns="0" rIns="0" bIns="0" rtlCol="0" anchor="ctr"/>
          <a:lstStyle/>
          <a:p>
            <a:pPr indent="0" marL="0">
              <a:lnSpc>
                <a:spcPct val="104000"/>
              </a:lnSpc>
              <a:spcAft>
                <a:spcPts val="300"/>
              </a:spcAft>
              <a:buNone/>
            </a:pPr>
            <a:r>
              <a:rPr lang="en-US" sz="1600" b="1" dirty="0">
                <a:solidFill>
                  <a:srgbClr val="F1F5F9"/>
                </a:solidFill>
                <a:latin typeface="Calibri" pitchFamily="34" charset="0"/>
                <a:ea typeface="Calibri" pitchFamily="34" charset="-122"/>
                <a:cs typeface="Calibri" pitchFamily="34" charset="-120"/>
              </a:rPr>
              <a:t>Workarounds = proof</a:t>
            </a:r>
            <a:endParaRPr lang="en-US" sz="1600" dirty="0"/>
          </a:p>
          <a:p>
            <a:pPr indent="0" marL="0">
              <a:lnSpc>
                <a:spcPct val="104000"/>
              </a:lnSpc>
              <a:buNone/>
            </a:pPr>
            <a:r>
              <a:rPr lang="en-US" sz="1350" dirty="0">
                <a:solidFill>
                  <a:srgbClr val="7C8CA5"/>
                </a:solidFill>
                <a:latin typeface="Calibri" pitchFamily="34" charset="0"/>
                <a:ea typeface="Calibri" pitchFamily="34" charset="-122"/>
                <a:cs typeface="Calibri" pitchFamily="34" charset="-120"/>
              </a:rPr>
              <a:t>People already pay time or money? The pain is real.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Lightweight Competitor Research</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13</a:t>
            </a:r>
            <a:endParaRPr lang="en-US" sz="1000" dirty="0"/>
          </a:p>
        </p:txBody>
      </p:sp>
      <p:sp>
        <p:nvSpPr>
          <p:cNvPr id="5" name="Shape 2"/>
          <p:cNvSpPr/>
          <p:nvPr/>
        </p:nvSpPr>
        <p:spPr>
          <a:xfrm>
            <a:off x="548640" y="1463040"/>
            <a:ext cx="5408676" cy="2331720"/>
          </a:xfrm>
          <a:prstGeom prst="roundRect">
            <a:avLst>
              <a:gd name="adj" fmla="val 3529"/>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0078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search-cyan.png">    </p:cNvPr>
          <p:cNvPicPr>
            <a:picLocks noChangeAspect="1"/>
          </p:cNvPicPr>
          <p:nvPr/>
        </p:nvPicPr>
        <p:blipFill>
          <a:blip r:embed="rId1"/>
          <a:stretch>
            <a:fillRect/>
          </a:stretch>
        </p:blipFill>
        <p:spPr>
          <a:xfrm>
            <a:off x="931225" y="1845625"/>
            <a:ext cx="313822" cy="313822"/>
          </a:xfrm>
          <a:prstGeom prst="rect">
            <a:avLst/>
          </a:prstGeom>
        </p:spPr>
      </p:pic>
      <p:sp>
        <p:nvSpPr>
          <p:cNvPr id="8" name="Text 4"/>
          <p:cNvSpPr/>
          <p:nvPr/>
        </p:nvSpPr>
        <p:spPr>
          <a:xfrm>
            <a:off x="786384" y="2414016"/>
            <a:ext cx="4933188" cy="12435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Does it already exist?</a:t>
            </a:r>
            <a:endParaRPr lang="en-US" sz="1600" dirty="0"/>
          </a:p>
          <a:p>
            <a:pPr indent="0" marL="0">
              <a:lnSpc>
                <a:spcPct val="106000"/>
              </a:lnSpc>
              <a:buNone/>
            </a:pPr>
            <a:r>
              <a:rPr lang="en-US" sz="1450" dirty="0">
                <a:solidFill>
                  <a:srgbClr val="7C8CA5"/>
                </a:solidFill>
                <a:latin typeface="Calibri" pitchFamily="34" charset="0"/>
                <a:ea typeface="Calibri" pitchFamily="34" charset="-122"/>
                <a:cs typeface="Calibri" pitchFamily="34" charset="-120"/>
              </a:rPr>
              <a:t>Find why it's insufficient. Your edge = the specific gap: a niche user, context, or missing feature.</a:t>
            </a:r>
            <a:endParaRPr lang="en-US" sz="1600" dirty="0"/>
          </a:p>
        </p:txBody>
      </p:sp>
      <p:sp>
        <p:nvSpPr>
          <p:cNvPr id="9" name="Shape 5"/>
          <p:cNvSpPr/>
          <p:nvPr/>
        </p:nvSpPr>
        <p:spPr>
          <a:xfrm>
            <a:off x="6231636" y="1463040"/>
            <a:ext cx="5408676" cy="2331720"/>
          </a:xfrm>
          <a:prstGeom prst="roundRect">
            <a:avLst>
              <a:gd name="adj" fmla="val 3529"/>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6469380" y="170078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refresh-cyan.png">    </p:cNvPr>
          <p:cNvPicPr>
            <a:picLocks noChangeAspect="1"/>
          </p:cNvPicPr>
          <p:nvPr/>
        </p:nvPicPr>
        <p:blipFill>
          <a:blip r:embed="rId2"/>
          <a:stretch>
            <a:fillRect/>
          </a:stretch>
        </p:blipFill>
        <p:spPr>
          <a:xfrm>
            <a:off x="6614221" y="1845625"/>
            <a:ext cx="313822" cy="313822"/>
          </a:xfrm>
          <a:prstGeom prst="rect">
            <a:avLst/>
          </a:prstGeom>
        </p:spPr>
      </p:pic>
      <p:sp>
        <p:nvSpPr>
          <p:cNvPr id="12" name="Text 7"/>
          <p:cNvSpPr/>
          <p:nvPr/>
        </p:nvSpPr>
        <p:spPr>
          <a:xfrm>
            <a:off x="6469380" y="2414016"/>
            <a:ext cx="4933188" cy="12435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What can you borrow?</a:t>
            </a:r>
            <a:endParaRPr lang="en-US" sz="1600" dirty="0"/>
          </a:p>
          <a:p>
            <a:pPr indent="0" marL="0">
              <a:lnSpc>
                <a:spcPct val="106000"/>
              </a:lnSpc>
              <a:buNone/>
            </a:pPr>
            <a:r>
              <a:rPr lang="en-US" sz="1450" dirty="0">
                <a:solidFill>
                  <a:srgbClr val="7C8CA5"/>
                </a:solidFill>
                <a:latin typeface="Calibri" pitchFamily="34" charset="0"/>
                <a:ea typeface="Calibri" pitchFamily="34" charset="-122"/>
                <a:cs typeface="Calibri" pitchFamily="34" charset="-120"/>
              </a:rPr>
              <a:t>Existing tools define expected UX. Reuse patterns — spend innovation only on your differentiator.</a:t>
            </a:r>
            <a:endParaRPr lang="en-US" sz="1600" dirty="0"/>
          </a:p>
        </p:txBody>
      </p:sp>
      <p:sp>
        <p:nvSpPr>
          <p:cNvPr id="13" name="Shape 8"/>
          <p:cNvSpPr/>
          <p:nvPr/>
        </p:nvSpPr>
        <p:spPr>
          <a:xfrm>
            <a:off x="548640" y="4160520"/>
            <a:ext cx="11091672" cy="1600200"/>
          </a:xfrm>
          <a:prstGeom prst="roundRect">
            <a:avLst>
              <a:gd name="adj" fmla="val 5143"/>
            </a:avLst>
          </a:prstGeom>
          <a:solidFill>
            <a:srgbClr val="1B2842"/>
          </a:solidFill>
          <a:ln/>
          <a:effectLst>
            <a:outerShdw sx="100000" sy="100000" kx="0" ky="0" algn="bl" rotWithShape="0" blurRad="114300" dist="38100" dir="5400000">
              <a:srgbClr val="000000">
                <a:alpha val="45000"/>
              </a:srgbClr>
            </a:outerShdw>
          </a:effectLst>
        </p:spPr>
      </p:sp>
      <p:sp>
        <p:nvSpPr>
          <p:cNvPr id="14" name="Text 9"/>
          <p:cNvSpPr/>
          <p:nvPr/>
        </p:nvSpPr>
        <p:spPr>
          <a:xfrm>
            <a:off x="914400" y="4160520"/>
            <a:ext cx="10332720" cy="1600200"/>
          </a:xfrm>
          <a:prstGeom prst="rect">
            <a:avLst/>
          </a:prstGeom>
          <a:noFill/>
          <a:ln/>
        </p:spPr>
        <p:txBody>
          <a:bodyPr wrap="square" lIns="0" tIns="0" rIns="0" bIns="0"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Gap analysis  </a:t>
            </a:r>
            <a:pPr indent="0" marL="0">
              <a:spcAft>
                <a:spcPts val="800"/>
              </a:spcAft>
              <a:buNone/>
            </a:pPr>
            <a:r>
              <a:rPr lang="en-US" sz="1600" dirty="0">
                <a:solidFill>
                  <a:srgbClr val="F1F5F9"/>
                </a:solidFill>
                <a:latin typeface="Calibri" pitchFamily="34" charset="0"/>
                <a:ea typeface="Calibri" pitchFamily="34" charset="-122"/>
                <a:cs typeface="Calibri" pitchFamily="34" charset="-120"/>
              </a:rPr>
              <a:t>current state (what tools do)  vs  desired state (what users need) → the missing piece is your project.</a:t>
            </a:r>
            <a:endParaRPr lang="en-US" sz="1800" dirty="0"/>
          </a:p>
          <a:p>
            <a:pPr indent="0" marL="0">
              <a:buNone/>
            </a:pPr>
            <a:r>
              <a:rPr lang="en-US" sz="1400" dirty="0">
                <a:solidFill>
                  <a:srgbClr val="A3E635"/>
                </a:solidFill>
                <a:latin typeface="Consolas" pitchFamily="34" charset="0"/>
                <a:ea typeface="Consolas" pitchFamily="34" charset="-122"/>
                <a:cs typeface="Consolas" pitchFamily="34" charset="-120"/>
              </a:rPr>
              <a:t>best opportunities: specific · under-served · buildable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98080" y="1097280"/>
            <a:ext cx="4663440" cy="4663440"/>
          </a:xfrm>
          <a:prstGeom prst="rect">
            <a:avLst/>
          </a:prstGeom>
          <a:noFill/>
          <a:ln/>
        </p:spPr>
        <p:txBody>
          <a:bodyPr wrap="square" lIns="0" tIns="0" rIns="0" bIns="0" rtlCol="0" anchor="ctr"/>
          <a:lstStyle/>
          <a:p>
            <a:pPr algn="r" indent="0" marL="0">
              <a:buNone/>
            </a:pPr>
            <a:r>
              <a:rPr lang="en-US" sz="30000" dirty="0">
                <a:solidFill>
                  <a:srgbClr val="0E2A3B"/>
                </a:solidFill>
                <a:latin typeface="Arial Black" pitchFamily="34" charset="0"/>
                <a:ea typeface="Arial Black" pitchFamily="34" charset="-122"/>
                <a:cs typeface="Arial Black" pitchFamily="34" charset="-120"/>
              </a:rPr>
              <a:t>2</a:t>
            </a:r>
            <a:endParaRPr lang="en-US" sz="30000" dirty="0"/>
          </a:p>
        </p:txBody>
      </p:sp>
      <p:sp>
        <p:nvSpPr>
          <p:cNvPr id="4" name="Text 1"/>
          <p:cNvSpPr/>
          <p:nvPr/>
        </p:nvSpPr>
        <p:spPr>
          <a:xfrm>
            <a:off x="822960" y="2148840"/>
            <a:ext cx="7315200" cy="329184"/>
          </a:xfrm>
          <a:prstGeom prst="rect">
            <a:avLst/>
          </a:prstGeom>
          <a:noFill/>
          <a:ln/>
        </p:spPr>
        <p:txBody>
          <a:bodyPr wrap="square" lIns="0" tIns="0" rIns="0" bIns="0" rtlCol="0" anchor="ctr"/>
          <a:lstStyle/>
          <a:p>
            <a:pPr indent="0" marL="0">
              <a:buNone/>
            </a:pPr>
            <a:r>
              <a:rPr lang="en-US" sz="1500" spc="500" kern="0" dirty="0">
                <a:solidFill>
                  <a:srgbClr val="22D3EE"/>
                </a:solidFill>
                <a:latin typeface="Consolas" pitchFamily="34" charset="0"/>
                <a:ea typeface="Consolas" pitchFamily="34" charset="-122"/>
                <a:cs typeface="Consolas" pitchFamily="34" charset="-120"/>
              </a:rPr>
              <a:t>PART 2 OF 5</a:t>
            </a:r>
            <a:endParaRPr lang="en-US" sz="1500" dirty="0"/>
          </a:p>
        </p:txBody>
      </p:sp>
      <p:sp>
        <p:nvSpPr>
          <p:cNvPr id="5" name="Text 2"/>
          <p:cNvSpPr/>
          <p:nvPr/>
        </p:nvSpPr>
        <p:spPr>
          <a:xfrm>
            <a:off x="822960" y="2514600"/>
            <a:ext cx="9692640" cy="1554480"/>
          </a:xfrm>
          <a:prstGeom prst="rect">
            <a:avLst/>
          </a:prstGeom>
          <a:noFill/>
          <a:ln/>
        </p:spPr>
        <p:txBody>
          <a:bodyPr wrap="square" lIns="0" tIns="0" rIns="0" bIns="0" rtlCol="0" anchor="ctr"/>
          <a:lstStyle/>
          <a:p>
            <a:pPr indent="0" marL="0">
              <a:buNone/>
            </a:pPr>
            <a:r>
              <a:rPr lang="en-US" sz="4600" dirty="0">
                <a:solidFill>
                  <a:srgbClr val="FFFFFF"/>
                </a:solidFill>
                <a:latin typeface="Arial Black" pitchFamily="34" charset="0"/>
                <a:ea typeface="Arial Black" pitchFamily="34" charset="-122"/>
                <a:cs typeface="Arial Black" pitchFamily="34" charset="-120"/>
              </a:rPr>
              <a:t>From Idea to Plan</a:t>
            </a:r>
            <a:endParaRPr lang="en-US" sz="4600" dirty="0"/>
          </a:p>
        </p:txBody>
      </p:sp>
      <p:sp>
        <p:nvSpPr>
          <p:cNvPr id="6" name="Text 3"/>
          <p:cNvSpPr/>
          <p:nvPr/>
        </p:nvSpPr>
        <p:spPr>
          <a:xfrm>
            <a:off x="822960" y="4160520"/>
            <a:ext cx="9144000" cy="38404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Diverge, converge, de-risk — then scope an MVP, pick a stack, and design thin.</a:t>
            </a:r>
            <a:endParaRPr lang="en-US" sz="1700" dirty="0"/>
          </a:p>
        </p:txBody>
      </p:sp>
      <p:sp>
        <p:nvSpPr>
          <p:cNvPr id="7" name="Shape 4"/>
          <p:cNvSpPr/>
          <p:nvPr/>
        </p:nvSpPr>
        <p:spPr>
          <a:xfrm>
            <a:off x="822960" y="4892040"/>
            <a:ext cx="1444752" cy="402336"/>
          </a:xfrm>
          <a:prstGeom prst="roundRect">
            <a:avLst>
              <a:gd name="adj" fmla="val 15909"/>
            </a:avLst>
          </a:prstGeom>
          <a:solidFill>
            <a:srgbClr val="141E33"/>
          </a:solidFill>
          <a:ln/>
        </p:spPr>
      </p:sp>
      <p:sp>
        <p:nvSpPr>
          <p:cNvPr id="8" name="Text 5"/>
          <p:cNvSpPr/>
          <p:nvPr/>
        </p:nvSpPr>
        <p:spPr>
          <a:xfrm>
            <a:off x="877824" y="4892040"/>
            <a:ext cx="133502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M02 ideation</a:t>
            </a:r>
            <a:endParaRPr lang="en-US" sz="1250" dirty="0"/>
          </a:p>
        </p:txBody>
      </p:sp>
      <p:sp>
        <p:nvSpPr>
          <p:cNvPr id="9" name="Shape 6"/>
          <p:cNvSpPr/>
          <p:nvPr/>
        </p:nvSpPr>
        <p:spPr>
          <a:xfrm>
            <a:off x="2496312" y="4892040"/>
            <a:ext cx="1924812" cy="402336"/>
          </a:xfrm>
          <a:prstGeom prst="roundRect">
            <a:avLst>
              <a:gd name="adj" fmla="val 15909"/>
            </a:avLst>
          </a:prstGeom>
          <a:solidFill>
            <a:srgbClr val="141E33"/>
          </a:solidFill>
          <a:ln/>
        </p:spPr>
      </p:sp>
      <p:sp>
        <p:nvSpPr>
          <p:cNvPr id="10" name="Text 7"/>
          <p:cNvSpPr/>
          <p:nvPr/>
        </p:nvSpPr>
        <p:spPr>
          <a:xfrm>
            <a:off x="2551176" y="4892040"/>
            <a:ext cx="181508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M03 mvp &amp; scoping</a:t>
            </a:r>
            <a:endParaRPr lang="en-US" sz="1250" dirty="0"/>
          </a:p>
        </p:txBody>
      </p:sp>
      <p:sp>
        <p:nvSpPr>
          <p:cNvPr id="11" name="Shape 8"/>
          <p:cNvSpPr/>
          <p:nvPr/>
        </p:nvSpPr>
        <p:spPr>
          <a:xfrm>
            <a:off x="4649724" y="4892040"/>
            <a:ext cx="1636776" cy="402336"/>
          </a:xfrm>
          <a:prstGeom prst="roundRect">
            <a:avLst>
              <a:gd name="adj" fmla="val 15909"/>
            </a:avLst>
          </a:prstGeom>
          <a:solidFill>
            <a:srgbClr val="141E33"/>
          </a:solidFill>
          <a:ln/>
        </p:spPr>
      </p:sp>
      <p:sp>
        <p:nvSpPr>
          <p:cNvPr id="12" name="Text 9"/>
          <p:cNvSpPr/>
          <p:nvPr/>
        </p:nvSpPr>
        <p:spPr>
          <a:xfrm>
            <a:off x="4704588" y="4892040"/>
            <a:ext cx="1527048"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M04 tech stack</a:t>
            </a:r>
            <a:endParaRPr lang="en-US" sz="1250" dirty="0"/>
          </a:p>
        </p:txBody>
      </p:sp>
      <p:sp>
        <p:nvSpPr>
          <p:cNvPr id="13" name="Shape 10"/>
          <p:cNvSpPr/>
          <p:nvPr/>
        </p:nvSpPr>
        <p:spPr>
          <a:xfrm>
            <a:off x="6515100" y="4892040"/>
            <a:ext cx="1444752" cy="402336"/>
          </a:xfrm>
          <a:prstGeom prst="roundRect">
            <a:avLst>
              <a:gd name="adj" fmla="val 15909"/>
            </a:avLst>
          </a:prstGeom>
          <a:solidFill>
            <a:srgbClr val="141E33"/>
          </a:solidFill>
          <a:ln/>
        </p:spPr>
      </p:sp>
      <p:sp>
        <p:nvSpPr>
          <p:cNvPr id="14" name="Text 11"/>
          <p:cNvSpPr/>
          <p:nvPr/>
        </p:nvSpPr>
        <p:spPr>
          <a:xfrm>
            <a:off x="6569964" y="4892040"/>
            <a:ext cx="133502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M05 workflow</a:t>
            </a:r>
            <a:endParaRPr lang="en-US" sz="1250" dirty="0"/>
          </a:p>
        </p:txBody>
      </p:sp>
      <p:sp>
        <p:nvSpPr>
          <p:cNvPr id="15" name="Text 1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02 — IDEATION</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Ideation: Diverge, Then Converge</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15</a:t>
            </a:r>
            <a:endParaRPr lang="en-US" sz="1000" dirty="0"/>
          </a:p>
        </p:txBody>
      </p:sp>
      <p:sp>
        <p:nvSpPr>
          <p:cNvPr id="6" name="Text 3"/>
          <p:cNvSpPr/>
          <p:nvPr/>
        </p:nvSpPr>
        <p:spPr>
          <a:xfrm>
            <a:off x="548640" y="1463040"/>
            <a:ext cx="5394960" cy="1463040"/>
          </a:xfrm>
          <a:prstGeom prst="rect">
            <a:avLst/>
          </a:prstGeom>
          <a:noFill/>
          <a:ln/>
        </p:spPr>
        <p:txBody>
          <a:bodyPr wrap="square" lIns="0" tIns="0" rIns="0" bIns="0" rtlCol="0" anchor="ctr"/>
          <a:lstStyle/>
          <a:p>
            <a:pPr indent="0" marL="0">
              <a:buNone/>
            </a:pPr>
            <a:r>
              <a:rPr lang="en-US" sz="1700" b="1" dirty="0">
                <a:solidFill>
                  <a:srgbClr val="22D3EE"/>
                </a:solidFill>
                <a:latin typeface="Calibri" pitchFamily="34" charset="0"/>
                <a:ea typeface="Calibri" pitchFamily="34" charset="-122"/>
                <a:cs typeface="Calibri" pitchFamily="34" charset="-120"/>
              </a:rPr>
              <a:t>Ideation </a:t>
            </a:r>
            <a:pPr indent="0" marL="0">
              <a:spcAft>
                <a:spcPts val="800"/>
              </a:spcAft>
              <a:buNone/>
            </a:pPr>
            <a:r>
              <a:rPr lang="en-US" sz="1700" dirty="0">
                <a:solidFill>
                  <a:srgbClr val="F1F5F9"/>
                </a:solidFill>
                <a:latin typeface="Calibri" pitchFamily="34" charset="0"/>
                <a:ea typeface="Calibri" pitchFamily="34" charset="-122"/>
                <a:cs typeface="Calibri" pitchFamily="34" charset="-120"/>
              </a:rPr>
              <a:t>= deliberately generating &amp; refining solutions to a validated problem.</a:t>
            </a:r>
            <a:endParaRPr lang="en-US" sz="1700" dirty="0"/>
          </a:p>
          <a:p>
            <a:pPr indent="0" marL="0">
              <a:buNone/>
            </a:pPr>
            <a:r>
              <a:rPr lang="en-US" sz="1700" b="1" dirty="0">
                <a:solidFill>
                  <a:srgbClr val="F59E0B"/>
                </a:solidFill>
                <a:latin typeface="Calibri" pitchFamily="34" charset="0"/>
                <a:ea typeface="Calibri" pitchFamily="34" charset="-122"/>
                <a:cs typeface="Calibri" pitchFamily="34" charset="-120"/>
              </a:rPr>
              <a:t>NOT picking your first thought.</a:t>
            </a:r>
            <a:endParaRPr lang="en-US" sz="1700" dirty="0"/>
          </a:p>
        </p:txBody>
      </p:sp>
      <p:sp>
        <p:nvSpPr>
          <p:cNvPr id="7" name="Shape 4"/>
          <p:cNvSpPr/>
          <p:nvPr/>
        </p:nvSpPr>
        <p:spPr>
          <a:xfrm>
            <a:off x="548640" y="3200400"/>
            <a:ext cx="5394960" cy="1005840"/>
          </a:xfrm>
          <a:prstGeom prst="roundRect">
            <a:avLst>
              <a:gd name="adj" fmla="val 8182"/>
            </a:avLst>
          </a:prstGeom>
          <a:solidFill>
            <a:srgbClr val="141E33"/>
          </a:solidFill>
          <a:ln/>
          <a:effectLst>
            <a:outerShdw sx="100000" sy="100000" kx="0" ky="0" algn="bl" rotWithShape="0" blurRad="114300" dist="38100" dir="5400000">
              <a:srgbClr val="000000">
                <a:alpha val="45000"/>
              </a:srgbClr>
            </a:outerShdw>
          </a:effectLst>
        </p:spPr>
      </p:sp>
      <p:sp>
        <p:nvSpPr>
          <p:cNvPr id="8" name="Text 5"/>
          <p:cNvSpPr/>
          <p:nvPr/>
        </p:nvSpPr>
        <p:spPr>
          <a:xfrm>
            <a:off x="548640" y="3200400"/>
            <a:ext cx="5394960" cy="100584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DIVERGE — many ideas, no judging</a:t>
            </a:r>
            <a:endParaRPr lang="en-US" sz="1600" dirty="0"/>
          </a:p>
        </p:txBody>
      </p:sp>
      <p:sp>
        <p:nvSpPr>
          <p:cNvPr id="9" name="Shape 6"/>
          <p:cNvSpPr/>
          <p:nvPr/>
        </p:nvSpPr>
        <p:spPr>
          <a:xfrm>
            <a:off x="3246120" y="4206240"/>
            <a:ext cx="0" cy="457200"/>
          </a:xfrm>
          <a:prstGeom prst="line">
            <a:avLst/>
          </a:prstGeom>
          <a:noFill/>
          <a:ln w="31750">
            <a:solidFill>
              <a:srgbClr val="22D3EE"/>
            </a:solidFill>
            <a:prstDash val="solid"/>
            <a:tailEnd type="triangle"/>
          </a:ln>
        </p:spPr>
      </p:sp>
      <p:sp>
        <p:nvSpPr>
          <p:cNvPr id="10" name="Shape 7"/>
          <p:cNvSpPr/>
          <p:nvPr/>
        </p:nvSpPr>
        <p:spPr>
          <a:xfrm>
            <a:off x="1234440" y="4663440"/>
            <a:ext cx="4023360" cy="1005840"/>
          </a:xfrm>
          <a:prstGeom prst="roundRect">
            <a:avLst>
              <a:gd name="adj" fmla="val 8182"/>
            </a:avLst>
          </a:prstGeom>
          <a:solidFill>
            <a:srgbClr val="141E33"/>
          </a:solidFill>
          <a:ln/>
          <a:effectLst>
            <a:outerShdw sx="100000" sy="100000" kx="0" ky="0" algn="bl" rotWithShape="0" blurRad="114300" dist="38100" dir="5400000">
              <a:srgbClr val="000000">
                <a:alpha val="45000"/>
              </a:srgbClr>
            </a:outerShdw>
          </a:effectLst>
        </p:spPr>
      </p:sp>
      <p:sp>
        <p:nvSpPr>
          <p:cNvPr id="11" name="Text 8"/>
          <p:cNvSpPr/>
          <p:nvPr/>
        </p:nvSpPr>
        <p:spPr>
          <a:xfrm>
            <a:off x="1234440" y="4663440"/>
            <a:ext cx="4023360" cy="1005840"/>
          </a:xfrm>
          <a:prstGeom prst="rect">
            <a:avLst/>
          </a:prstGeom>
          <a:noFill/>
          <a:ln/>
        </p:spPr>
        <p:txBody>
          <a:bodyPr wrap="square" lIns="0" tIns="0" rIns="0" bIns="0" rtlCol="0" anchor="ctr"/>
          <a:lstStyle/>
          <a:p>
            <a:pPr algn="ctr" indent="0" marL="0">
              <a:buNone/>
            </a:pPr>
            <a:r>
              <a:rPr lang="en-US" sz="1500" b="1" dirty="0">
                <a:solidFill>
                  <a:srgbClr val="A3E635"/>
                </a:solidFill>
                <a:latin typeface="Calibri" pitchFamily="34" charset="0"/>
                <a:ea typeface="Calibri" pitchFamily="34" charset="-122"/>
                <a:cs typeface="Calibri" pitchFamily="34" charset="-120"/>
              </a:rPr>
              <a:t>CONVERGE — narrow to strongest</a:t>
            </a:r>
            <a:endParaRPr lang="en-US" sz="1500" dirty="0"/>
          </a:p>
        </p:txBody>
      </p:sp>
      <p:sp>
        <p:nvSpPr>
          <p:cNvPr id="12" name="Text 9"/>
          <p:cNvSpPr/>
          <p:nvPr/>
        </p:nvSpPr>
        <p:spPr>
          <a:xfrm>
            <a:off x="6492240" y="1371600"/>
            <a:ext cx="512064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METHODS THAT WORK FAST</a:t>
            </a:r>
            <a:endParaRPr lang="en-US" sz="1400" dirty="0"/>
          </a:p>
        </p:txBody>
      </p:sp>
      <p:sp>
        <p:nvSpPr>
          <p:cNvPr id="13" name="Shape 10"/>
          <p:cNvSpPr/>
          <p:nvPr/>
        </p:nvSpPr>
        <p:spPr>
          <a:xfrm>
            <a:off x="6492240" y="1920240"/>
            <a:ext cx="548640" cy="548640"/>
          </a:xfrm>
          <a:prstGeom prst="ellipse">
            <a:avLst/>
          </a:prstGeom>
          <a:solidFill>
            <a:srgbClr val="1B2842"/>
          </a:solidFill>
          <a:ln/>
        </p:spPr>
      </p:sp>
      <p:pic>
        <p:nvPicPr>
          <p:cNvPr id="14" name="Image 0" descr="C:\Users\User\AppData\Local\Temp\claude\C--Users-User-OneDrive-Music-Hackathon\67e3d9e6-0718-4380-8c09-13d83fcd8fa7\scratchpad\pptbuild\v2\assets\icons\zap-cyan.png">    </p:cNvPr>
          <p:cNvPicPr>
            <a:picLocks noChangeAspect="1"/>
          </p:cNvPicPr>
          <p:nvPr/>
        </p:nvPicPr>
        <p:blipFill>
          <a:blip r:embed="rId1"/>
          <a:stretch>
            <a:fillRect/>
          </a:stretch>
        </p:blipFill>
        <p:spPr>
          <a:xfrm>
            <a:off x="6623914" y="2051914"/>
            <a:ext cx="285293" cy="285293"/>
          </a:xfrm>
          <a:prstGeom prst="rect">
            <a:avLst/>
          </a:prstGeom>
        </p:spPr>
      </p:pic>
      <p:sp>
        <p:nvSpPr>
          <p:cNvPr id="15" name="Text 11"/>
          <p:cNvSpPr/>
          <p:nvPr/>
        </p:nvSpPr>
        <p:spPr>
          <a:xfrm>
            <a:off x="7269480" y="1783080"/>
            <a:ext cx="434340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Classic brainstorm</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timed · quantity &gt; quality · no criticism</a:t>
            </a:r>
            <a:endParaRPr lang="en-US" sz="1500" dirty="0"/>
          </a:p>
        </p:txBody>
      </p:sp>
      <p:sp>
        <p:nvSpPr>
          <p:cNvPr id="16" name="Shape 12"/>
          <p:cNvSpPr/>
          <p:nvPr/>
        </p:nvSpPr>
        <p:spPr>
          <a:xfrm>
            <a:off x="6492240" y="2743200"/>
            <a:ext cx="548640" cy="548640"/>
          </a:xfrm>
          <a:prstGeom prst="ellipse">
            <a:avLst/>
          </a:prstGeom>
          <a:solidFill>
            <a:srgbClr val="1B2842"/>
          </a:solidFill>
          <a:ln/>
        </p:spPr>
      </p:sp>
      <p:pic>
        <p:nvPicPr>
          <p:cNvPr id="17" name="Image 1" descr="C:\Users\User\AppData\Local\Temp\claude\C--Users-User-OneDrive-Music-Hackathon\67e3d9e6-0718-4380-8c09-13d83fcd8fa7\scratchpad\pptbuild\v2\assets\icons\penline-cyan.png">    </p:cNvPr>
          <p:cNvPicPr>
            <a:picLocks noChangeAspect="1"/>
          </p:cNvPicPr>
          <p:nvPr/>
        </p:nvPicPr>
        <p:blipFill>
          <a:blip r:embed="rId2"/>
          <a:stretch>
            <a:fillRect/>
          </a:stretch>
        </p:blipFill>
        <p:spPr>
          <a:xfrm>
            <a:off x="6623914" y="2874874"/>
            <a:ext cx="285293" cy="285293"/>
          </a:xfrm>
          <a:prstGeom prst="rect">
            <a:avLst/>
          </a:prstGeom>
        </p:spPr>
      </p:pic>
      <p:sp>
        <p:nvSpPr>
          <p:cNvPr id="18" name="Text 13"/>
          <p:cNvSpPr/>
          <p:nvPr/>
        </p:nvSpPr>
        <p:spPr>
          <a:xfrm>
            <a:off x="7269480" y="2606040"/>
            <a:ext cx="434340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Brainwriting</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silent first — no loud-voice bias</a:t>
            </a:r>
            <a:endParaRPr lang="en-US" sz="1500" dirty="0"/>
          </a:p>
        </p:txBody>
      </p:sp>
      <p:sp>
        <p:nvSpPr>
          <p:cNvPr id="19" name="Shape 14"/>
          <p:cNvSpPr/>
          <p:nvPr/>
        </p:nvSpPr>
        <p:spPr>
          <a:xfrm>
            <a:off x="6492240" y="3566160"/>
            <a:ext cx="548640" cy="548640"/>
          </a:xfrm>
          <a:prstGeom prst="ellipse">
            <a:avLst/>
          </a:prstGeom>
          <a:solidFill>
            <a:srgbClr val="1B2842"/>
          </a:solidFill>
          <a:ln/>
        </p:spPr>
      </p:sp>
      <p:pic>
        <p:nvPicPr>
          <p:cNvPr id="20" name="Image 2" descr="C:\Users\User\AppData\Local\Temp\claude\C--Users-User-OneDrive-Music-Hackathon\67e3d9e6-0718-4380-8c09-13d83fcd8fa7\scratchpad\pptbuild\v2\assets\icons\grid-cyan.png">    </p:cNvPr>
          <p:cNvPicPr>
            <a:picLocks noChangeAspect="1"/>
          </p:cNvPicPr>
          <p:nvPr/>
        </p:nvPicPr>
        <p:blipFill>
          <a:blip r:embed="rId3"/>
          <a:stretch>
            <a:fillRect/>
          </a:stretch>
        </p:blipFill>
        <p:spPr>
          <a:xfrm>
            <a:off x="6623914" y="3697834"/>
            <a:ext cx="285293" cy="285293"/>
          </a:xfrm>
          <a:prstGeom prst="rect">
            <a:avLst/>
          </a:prstGeom>
        </p:spPr>
      </p:pic>
      <p:sp>
        <p:nvSpPr>
          <p:cNvPr id="21" name="Text 15"/>
          <p:cNvSpPr/>
          <p:nvPr/>
        </p:nvSpPr>
        <p:spPr>
          <a:xfrm>
            <a:off x="7269480" y="3429000"/>
            <a:ext cx="434340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Crazy 8s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8 sketches in 8 minutes — forces breadth</a:t>
            </a:r>
            <a:endParaRPr lang="en-US" sz="1500" dirty="0"/>
          </a:p>
        </p:txBody>
      </p:sp>
      <p:sp>
        <p:nvSpPr>
          <p:cNvPr id="22" name="Shape 16"/>
          <p:cNvSpPr/>
          <p:nvPr/>
        </p:nvSpPr>
        <p:spPr>
          <a:xfrm>
            <a:off x="6492240" y="4389120"/>
            <a:ext cx="548640" cy="548640"/>
          </a:xfrm>
          <a:prstGeom prst="ellipse">
            <a:avLst/>
          </a:prstGeom>
          <a:solidFill>
            <a:srgbClr val="1B2842"/>
          </a:solidFill>
          <a:ln/>
        </p:spPr>
      </p:sp>
      <p:pic>
        <p:nvPicPr>
          <p:cNvPr id="23" name="Image 3" descr="C:\Users\User\AppData\Local\Temp\claude\C--Users-User-OneDrive-Music-Hackathon\67e3d9e6-0718-4380-8c09-13d83fcd8fa7\scratchpad\pptbuild\v2\assets\icons\refresh-cyan.png">    </p:cNvPr>
          <p:cNvPicPr>
            <a:picLocks noChangeAspect="1"/>
          </p:cNvPicPr>
          <p:nvPr/>
        </p:nvPicPr>
        <p:blipFill>
          <a:blip r:embed="rId4"/>
          <a:stretch>
            <a:fillRect/>
          </a:stretch>
        </p:blipFill>
        <p:spPr>
          <a:xfrm>
            <a:off x="6623914" y="4520794"/>
            <a:ext cx="285293" cy="285293"/>
          </a:xfrm>
          <a:prstGeom prst="rect">
            <a:avLst/>
          </a:prstGeom>
        </p:spPr>
      </p:pic>
      <p:sp>
        <p:nvSpPr>
          <p:cNvPr id="24" name="Text 17"/>
          <p:cNvSpPr/>
          <p:nvPr/>
        </p:nvSpPr>
        <p:spPr>
          <a:xfrm>
            <a:off x="7269480" y="4251960"/>
            <a:ext cx="434340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SCAMPER</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substitute · combine · adapt · modify…</a:t>
            </a:r>
            <a:endParaRPr lang="en-US" sz="1500" dirty="0"/>
          </a:p>
        </p:txBody>
      </p:sp>
      <p:sp>
        <p:nvSpPr>
          <p:cNvPr id="25" name="Shape 18"/>
          <p:cNvSpPr/>
          <p:nvPr/>
        </p:nvSpPr>
        <p:spPr>
          <a:xfrm>
            <a:off x="6492240" y="5212080"/>
            <a:ext cx="548640" cy="548640"/>
          </a:xfrm>
          <a:prstGeom prst="ellipse">
            <a:avLst/>
          </a:prstGeom>
          <a:solidFill>
            <a:srgbClr val="1B2842"/>
          </a:solidFill>
          <a:ln/>
        </p:spPr>
      </p:sp>
      <p:pic>
        <p:nvPicPr>
          <p:cNvPr id="26" name="Image 4" descr="C:\Users\User\AppData\Local\Temp\claude\C--Users-User-OneDrive-Music-Hackathon\67e3d9e6-0718-4380-8c09-13d83fcd8fa7\scratchpad\pptbuild\v2\assets\icons\message-cyan.png">    </p:cNvPr>
          <p:cNvPicPr>
            <a:picLocks noChangeAspect="1"/>
          </p:cNvPicPr>
          <p:nvPr/>
        </p:nvPicPr>
        <p:blipFill>
          <a:blip r:embed="rId5"/>
          <a:stretch>
            <a:fillRect/>
          </a:stretch>
        </p:blipFill>
        <p:spPr>
          <a:xfrm>
            <a:off x="6623914" y="5343754"/>
            <a:ext cx="285293" cy="285293"/>
          </a:xfrm>
          <a:prstGeom prst="rect">
            <a:avLst/>
          </a:prstGeom>
        </p:spPr>
      </p:pic>
      <p:sp>
        <p:nvSpPr>
          <p:cNvPr id="27" name="Text 19"/>
          <p:cNvSpPr/>
          <p:nvPr/>
        </p:nvSpPr>
        <p:spPr>
          <a:xfrm>
            <a:off x="7269480" y="5074920"/>
            <a:ext cx="4343400" cy="8229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“How Might We…”</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reframe pain as an open opportunity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AI-Assisted Ideation</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16</a:t>
            </a:r>
            <a:endParaRPr lang="en-US" sz="1000" dirty="0"/>
          </a:p>
        </p:txBody>
      </p:sp>
      <p:sp>
        <p:nvSpPr>
          <p:cNvPr id="5" name="Shape 2"/>
          <p:cNvSpPr/>
          <p:nvPr/>
        </p:nvSpPr>
        <p:spPr>
          <a:xfrm>
            <a:off x="548640" y="1737360"/>
            <a:ext cx="548640" cy="548640"/>
          </a:xfrm>
          <a:prstGeom prst="ellipse">
            <a:avLst/>
          </a:prstGeom>
          <a:solidFill>
            <a:srgbClr val="1B2842"/>
          </a:solidFill>
          <a:ln/>
        </p:spPr>
      </p:sp>
      <p:pic>
        <p:nvPicPr>
          <p:cNvPr id="6" name="Image 0" descr="C:\Users\User\AppData\Local\Temp\claude\C--Users-User-OneDrive-Music-Hackathon\67e3d9e6-0718-4380-8c09-13d83fcd8fa7\scratchpad\pptbuild\v2\assets\icons\sparkles-cyan.png">    </p:cNvPr>
          <p:cNvPicPr>
            <a:picLocks noChangeAspect="1"/>
          </p:cNvPicPr>
          <p:nvPr/>
        </p:nvPicPr>
        <p:blipFill>
          <a:blip r:embed="rId1"/>
          <a:stretch>
            <a:fillRect/>
          </a:stretch>
        </p:blipFill>
        <p:spPr>
          <a:xfrm>
            <a:off x="680314" y="1869034"/>
            <a:ext cx="285293" cy="285293"/>
          </a:xfrm>
          <a:prstGeom prst="rect">
            <a:avLst/>
          </a:prstGeom>
        </p:spPr>
      </p:pic>
      <p:sp>
        <p:nvSpPr>
          <p:cNvPr id="7" name="Text 3"/>
          <p:cNvSpPr/>
          <p:nvPr/>
        </p:nvSpPr>
        <p:spPr>
          <a:xfrm>
            <a:off x="1325880" y="1554480"/>
            <a:ext cx="525780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Widen options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“list 15 distinct approaches to [problem]” → curate</a:t>
            </a:r>
            <a:endParaRPr lang="en-US" sz="1500" dirty="0"/>
          </a:p>
        </p:txBody>
      </p:sp>
      <p:sp>
        <p:nvSpPr>
          <p:cNvPr id="8" name="Shape 4"/>
          <p:cNvSpPr/>
          <p:nvPr/>
        </p:nvSpPr>
        <p:spPr>
          <a:xfrm>
            <a:off x="548640" y="2651760"/>
            <a:ext cx="548640" cy="548640"/>
          </a:xfrm>
          <a:prstGeom prst="ellipse">
            <a:avLst/>
          </a:prstGeom>
          <a:solidFill>
            <a:srgbClr val="1B2842"/>
          </a:solidFill>
          <a:ln/>
        </p:spPr>
      </p:sp>
      <p:pic>
        <p:nvPicPr>
          <p:cNvPr id="9" name="Image 1" descr="C:\Users\User\AppData\Local\Temp\claude\C--Users-User-OneDrive-Music-Hackathon\67e3d9e6-0718-4380-8c09-13d83fcd8fa7\scratchpad\pptbuild\v2\assets\icons\users-cyan.png">    </p:cNvPr>
          <p:cNvPicPr>
            <a:picLocks noChangeAspect="1"/>
          </p:cNvPicPr>
          <p:nvPr/>
        </p:nvPicPr>
        <p:blipFill>
          <a:blip r:embed="rId2"/>
          <a:stretch>
            <a:fillRect/>
          </a:stretch>
        </p:blipFill>
        <p:spPr>
          <a:xfrm>
            <a:off x="680314" y="2783434"/>
            <a:ext cx="285293" cy="285293"/>
          </a:xfrm>
          <a:prstGeom prst="rect">
            <a:avLst/>
          </a:prstGeom>
        </p:spPr>
      </p:pic>
      <p:sp>
        <p:nvSpPr>
          <p:cNvPr id="10" name="Text 5"/>
          <p:cNvSpPr/>
          <p:nvPr/>
        </p:nvSpPr>
        <p:spPr>
          <a:xfrm>
            <a:off x="1325880" y="2468880"/>
            <a:ext cx="525780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Draft personas / JTBD</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material for the team to react to</a:t>
            </a:r>
            <a:endParaRPr lang="en-US" sz="1500" dirty="0"/>
          </a:p>
        </p:txBody>
      </p:sp>
      <p:sp>
        <p:nvSpPr>
          <p:cNvPr id="11" name="Shape 6"/>
          <p:cNvSpPr/>
          <p:nvPr/>
        </p:nvSpPr>
        <p:spPr>
          <a:xfrm>
            <a:off x="548640" y="3566160"/>
            <a:ext cx="548640" cy="548640"/>
          </a:xfrm>
          <a:prstGeom prst="ellipse">
            <a:avLst/>
          </a:prstGeom>
          <a:solidFill>
            <a:srgbClr val="1B2842"/>
          </a:solidFill>
          <a:ln/>
        </p:spPr>
      </p:sp>
      <p:pic>
        <p:nvPicPr>
          <p:cNvPr id="12" name="Image 2" descr="C:\Users\User\AppData\Local\Temp\claude\C--Users-User-OneDrive-Music-Hackathon\67e3d9e6-0718-4380-8c09-13d83fcd8fa7\scratchpad\pptbuild\v2\assets\icons\search-cyan.png">    </p:cNvPr>
          <p:cNvPicPr>
            <a:picLocks noChangeAspect="1"/>
          </p:cNvPicPr>
          <p:nvPr/>
        </p:nvPicPr>
        <p:blipFill>
          <a:blip r:embed="rId3"/>
          <a:stretch>
            <a:fillRect/>
          </a:stretch>
        </p:blipFill>
        <p:spPr>
          <a:xfrm>
            <a:off x="680314" y="3697834"/>
            <a:ext cx="285293" cy="285293"/>
          </a:xfrm>
          <a:prstGeom prst="rect">
            <a:avLst/>
          </a:prstGeom>
        </p:spPr>
      </p:pic>
      <p:sp>
        <p:nvSpPr>
          <p:cNvPr id="13" name="Text 7"/>
          <p:cNvSpPr/>
          <p:nvPr/>
        </p:nvSpPr>
        <p:spPr>
          <a:xfrm>
            <a:off x="1325880" y="3383280"/>
            <a:ext cx="525780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Surface assumptions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“what must be true for this to work?”</a:t>
            </a:r>
            <a:endParaRPr lang="en-US" sz="1500" dirty="0"/>
          </a:p>
        </p:txBody>
      </p:sp>
      <p:sp>
        <p:nvSpPr>
          <p:cNvPr id="14" name="Shape 8"/>
          <p:cNvSpPr/>
          <p:nvPr/>
        </p:nvSpPr>
        <p:spPr>
          <a:xfrm>
            <a:off x="548640" y="4480560"/>
            <a:ext cx="548640" cy="548640"/>
          </a:xfrm>
          <a:prstGeom prst="ellipse">
            <a:avLst/>
          </a:prstGeom>
          <a:solidFill>
            <a:srgbClr val="1B2842"/>
          </a:solidFill>
          <a:ln/>
        </p:spPr>
      </p:sp>
      <p:pic>
        <p:nvPicPr>
          <p:cNvPr id="15" name="Image 3" descr="C:\Users\User\AppData\Local\Temp\claude\C--Users-User-OneDrive-Music-Hackathon\67e3d9e6-0718-4380-8c09-13d83fcd8fa7\scratchpad\pptbuild\v2\assets\icons\gauge-cyan.png">    </p:cNvPr>
          <p:cNvPicPr>
            <a:picLocks noChangeAspect="1"/>
          </p:cNvPicPr>
          <p:nvPr/>
        </p:nvPicPr>
        <p:blipFill>
          <a:blip r:embed="rId4"/>
          <a:stretch>
            <a:fillRect/>
          </a:stretch>
        </p:blipFill>
        <p:spPr>
          <a:xfrm>
            <a:off x="680314" y="4612234"/>
            <a:ext cx="285293" cy="285293"/>
          </a:xfrm>
          <a:prstGeom prst="rect">
            <a:avLst/>
          </a:prstGeom>
        </p:spPr>
      </p:pic>
      <p:sp>
        <p:nvSpPr>
          <p:cNvPr id="16" name="Text 9"/>
          <p:cNvSpPr/>
          <p:nvPr/>
        </p:nvSpPr>
        <p:spPr>
          <a:xfrm>
            <a:off x="1325880" y="4297680"/>
            <a:ext cx="525780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Feasibility sanity-check</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components + difficulty — verify, don't trust</a:t>
            </a:r>
            <a:endParaRPr lang="en-US" sz="1500" dirty="0"/>
          </a:p>
        </p:txBody>
      </p:sp>
      <p:sp>
        <p:nvSpPr>
          <p:cNvPr id="17" name="Shape 10"/>
          <p:cNvSpPr/>
          <p:nvPr/>
        </p:nvSpPr>
        <p:spPr>
          <a:xfrm>
            <a:off x="7040880" y="1600200"/>
            <a:ext cx="4599432" cy="3291840"/>
          </a:xfrm>
          <a:prstGeom prst="roundRect">
            <a:avLst>
              <a:gd name="adj" fmla="val 2500"/>
            </a:avLst>
          </a:prstGeom>
          <a:solidFill>
            <a:srgbClr val="1B2842"/>
          </a:solidFill>
          <a:ln/>
          <a:effectLst>
            <a:outerShdw sx="100000" sy="100000" kx="0" ky="0" algn="bl" rotWithShape="0" blurRad="114300" dist="38100" dir="5400000">
              <a:srgbClr val="000000">
                <a:alpha val="45000"/>
              </a:srgbClr>
            </a:outerShdw>
          </a:effectLst>
        </p:spPr>
      </p:sp>
      <p:sp>
        <p:nvSpPr>
          <p:cNvPr id="18" name="Shape 11"/>
          <p:cNvSpPr/>
          <p:nvPr/>
        </p:nvSpPr>
        <p:spPr>
          <a:xfrm>
            <a:off x="9006840" y="1920240"/>
            <a:ext cx="658368" cy="658368"/>
          </a:xfrm>
          <a:prstGeom prst="ellipse">
            <a:avLst/>
          </a:prstGeom>
          <a:solidFill>
            <a:srgbClr val="141E33"/>
          </a:solidFill>
          <a:ln/>
        </p:spPr>
      </p:sp>
      <p:pic>
        <p:nvPicPr>
          <p:cNvPr id="19" name="Image 4" descr="C:\Users\User\AppData\Local\Temp\claude\C--Users-User-OneDrive-Music-Hackathon\67e3d9e6-0718-4380-8c09-13d83fcd8fa7\scratchpad\pptbuild\v2\assets\icons\alert-amber.png">    </p:cNvPr>
          <p:cNvPicPr>
            <a:picLocks noChangeAspect="1"/>
          </p:cNvPicPr>
          <p:nvPr/>
        </p:nvPicPr>
        <p:blipFill>
          <a:blip r:embed="rId5"/>
          <a:stretch>
            <a:fillRect/>
          </a:stretch>
        </p:blipFill>
        <p:spPr>
          <a:xfrm>
            <a:off x="9164848" y="2078248"/>
            <a:ext cx="342351" cy="342351"/>
          </a:xfrm>
          <a:prstGeom prst="rect">
            <a:avLst/>
          </a:prstGeom>
        </p:spPr>
      </p:pic>
      <p:sp>
        <p:nvSpPr>
          <p:cNvPr id="20" name="Text 12"/>
          <p:cNvSpPr/>
          <p:nvPr/>
        </p:nvSpPr>
        <p:spPr>
          <a:xfrm>
            <a:off x="7360920" y="2743200"/>
            <a:ext cx="3931920" cy="2011680"/>
          </a:xfrm>
          <a:prstGeom prst="rect">
            <a:avLst/>
          </a:prstGeom>
          <a:noFill/>
          <a:ln/>
        </p:spPr>
        <p:txBody>
          <a:bodyPr wrap="square" lIns="0" tIns="0" rIns="0" bIns="0" rtlCol="0" anchor="t"/>
          <a:lstStyle/>
          <a:p>
            <a:pPr algn="ctr" indent="0" marL="0">
              <a:spcAft>
                <a:spcPts val="800"/>
              </a:spcAft>
              <a:buNone/>
            </a:pPr>
            <a:r>
              <a:rPr lang="en-US" sz="1300" spc="300" kern="0" dirty="0">
                <a:solidFill>
                  <a:srgbClr val="F59E0B"/>
                </a:solidFill>
                <a:latin typeface="Consolas" pitchFamily="34" charset="0"/>
                <a:ea typeface="Consolas" pitchFamily="34" charset="-122"/>
                <a:cs typeface="Consolas" pitchFamily="34" charset="-120"/>
              </a:rPr>
              <a:t>THE RULE</a:t>
            </a:r>
            <a:endParaRPr lang="en-US" sz="1300" dirty="0"/>
          </a:p>
          <a:p>
            <a:pPr algn="ctr" indent="0" marL="0">
              <a:spcAft>
                <a:spcPts val="800"/>
              </a:spcAft>
              <a:buNone/>
            </a:pPr>
            <a:r>
              <a:rPr lang="en-US" sz="2000" b="1" dirty="0">
                <a:solidFill>
                  <a:srgbClr val="F1F5F9"/>
                </a:solidFill>
                <a:latin typeface="Calibri" pitchFamily="34" charset="0"/>
                <a:ea typeface="Calibri" pitchFamily="34" charset="-122"/>
                <a:cs typeface="Calibri" pitchFamily="34" charset="-120"/>
              </a:rPr>
              <a:t>AI widens &amp; drafts.</a:t>
            </a:r>
            <a:endParaRPr lang="en-US" sz="1300" dirty="0"/>
          </a:p>
          <a:p>
            <a:pPr algn="ctr" indent="0" marL="0">
              <a:spcAft>
                <a:spcPts val="800"/>
              </a:spcAft>
              <a:buNone/>
            </a:pPr>
            <a:r>
              <a:rPr lang="en-US" sz="2000" b="1" dirty="0">
                <a:solidFill>
                  <a:srgbClr val="F1F5F9"/>
                </a:solidFill>
                <a:latin typeface="Calibri" pitchFamily="34" charset="0"/>
                <a:ea typeface="Calibri" pitchFamily="34" charset="-122"/>
                <a:cs typeface="Calibri" pitchFamily="34" charset="-120"/>
              </a:rPr>
              <a:t>Humans decide.</a:t>
            </a:r>
            <a:endParaRPr lang="en-US" sz="1300" dirty="0"/>
          </a:p>
          <a:p>
            <a:pPr algn="ctr" indent="0" marL="0">
              <a:buNone/>
            </a:pPr>
            <a:r>
              <a:rPr lang="en-US" sz="1400" dirty="0">
                <a:solidFill>
                  <a:srgbClr val="7C8CA5"/>
                </a:solidFill>
                <a:latin typeface="Calibri" pitchFamily="34" charset="0"/>
                <a:ea typeface="Calibri" pitchFamily="34" charset="-122"/>
                <a:cs typeface="Calibri" pitchFamily="34" charset="-120"/>
              </a:rPr>
              <a:t>AI hallucinates confidently — never let it choose your problem.</a:t>
            </a:r>
            <a:endParaRPr lang="en-US" sz="1300" dirty="0"/>
          </a:p>
        </p:txBody>
      </p:sp>
      <p:sp>
        <p:nvSpPr>
          <p:cNvPr id="21" name="Shape 13"/>
          <p:cNvSpPr/>
          <p:nvPr/>
        </p:nvSpPr>
        <p:spPr>
          <a:xfrm>
            <a:off x="548640" y="5349240"/>
            <a:ext cx="8412480" cy="457200"/>
          </a:xfrm>
          <a:prstGeom prst="roundRect">
            <a:avLst>
              <a:gd name="adj" fmla="val 14000"/>
            </a:avLst>
          </a:prstGeom>
          <a:solidFill>
            <a:srgbClr val="141E33"/>
          </a:solidFill>
          <a:ln/>
        </p:spPr>
      </p:sp>
      <p:sp>
        <p:nvSpPr>
          <p:cNvPr id="22" name="Text 14"/>
          <p:cNvSpPr/>
          <p:nvPr/>
        </p:nvSpPr>
        <p:spPr>
          <a:xfrm>
            <a:off x="603504" y="5349240"/>
            <a:ext cx="8302752" cy="457200"/>
          </a:xfrm>
          <a:prstGeom prst="rect">
            <a:avLst/>
          </a:prstGeom>
          <a:noFill/>
          <a:ln/>
        </p:spPr>
        <p:txBody>
          <a:bodyPr wrap="square" lIns="0" tIns="0" rIns="0" bIns="0" rtlCol="0" anchor="ctr"/>
          <a:lstStyle/>
          <a:p>
            <a:pPr algn="l" indent="0" marL="0">
              <a:buNone/>
            </a:pPr>
            <a:r>
              <a:rPr lang="en-US" sz="1350" dirty="0">
                <a:solidFill>
                  <a:srgbClr val="A3E635"/>
                </a:solidFill>
                <a:latin typeface="Consolas" pitchFamily="34" charset="0"/>
                <a:ea typeface="Consolas" pitchFamily="34" charset="-122"/>
                <a:cs typeface="Consolas" pitchFamily="34" charset="-120"/>
              </a:rPr>
              <a:t>&gt; “List 15 distinct approaches to [problem], different tech for each.”</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De-Risk First: The Spike</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17</a:t>
            </a:r>
            <a:endParaRPr lang="en-US" sz="1000" dirty="0"/>
          </a:p>
        </p:txBody>
      </p:sp>
      <p:sp>
        <p:nvSpPr>
          <p:cNvPr id="5" name="Shape 2"/>
          <p:cNvSpPr/>
          <p:nvPr/>
        </p:nvSpPr>
        <p:spPr>
          <a:xfrm>
            <a:off x="548640" y="1463040"/>
            <a:ext cx="5669280" cy="2286000"/>
          </a:xfrm>
          <a:prstGeom prst="roundRect">
            <a:avLst>
              <a:gd name="adj" fmla="val 3600"/>
            </a:avLst>
          </a:prstGeom>
          <a:solidFill>
            <a:srgbClr val="1B2842"/>
          </a:solidFill>
          <a:ln/>
          <a:effectLst>
            <a:outerShdw sx="100000" sy="100000" kx="0" ky="0" algn="bl" rotWithShape="0" blurRad="114300" dist="38100" dir="5400000">
              <a:srgbClr val="000000">
                <a:alpha val="45000"/>
              </a:srgbClr>
            </a:outerShdw>
          </a:effectLst>
        </p:spPr>
      </p:sp>
      <p:sp>
        <p:nvSpPr>
          <p:cNvPr id="6" name="Shape 3"/>
          <p:cNvSpPr/>
          <p:nvPr/>
        </p:nvSpPr>
        <p:spPr>
          <a:xfrm>
            <a:off x="868680" y="1783080"/>
            <a:ext cx="640080" cy="640080"/>
          </a:xfrm>
          <a:prstGeom prst="ellipse">
            <a:avLst/>
          </a:prstGeom>
          <a:solidFill>
            <a:srgbClr val="141E33"/>
          </a:solidFill>
          <a:ln/>
        </p:spPr>
      </p:sp>
      <p:pic>
        <p:nvPicPr>
          <p:cNvPr id="7" name="Image 0" descr="C:\Users\User\AppData\Local\Temp\claude\C--Users-User-OneDrive-Music-Hackathon\67e3d9e6-0718-4380-8c09-13d83fcd8fa7\scratchpad\pptbuild\v2\assets\icons\zap-lime.png">    </p:cNvPr>
          <p:cNvPicPr>
            <a:picLocks noChangeAspect="1"/>
          </p:cNvPicPr>
          <p:nvPr/>
        </p:nvPicPr>
        <p:blipFill>
          <a:blip r:embed="rId1"/>
          <a:stretch>
            <a:fillRect/>
          </a:stretch>
        </p:blipFill>
        <p:spPr>
          <a:xfrm>
            <a:off x="1022299" y="1936699"/>
            <a:ext cx="332842" cy="332842"/>
          </a:xfrm>
          <a:prstGeom prst="rect">
            <a:avLst/>
          </a:prstGeom>
        </p:spPr>
      </p:pic>
      <p:sp>
        <p:nvSpPr>
          <p:cNvPr id="8" name="Text 4"/>
          <p:cNvSpPr/>
          <p:nvPr/>
        </p:nvSpPr>
        <p:spPr>
          <a:xfrm>
            <a:off x="1691640" y="1645920"/>
            <a:ext cx="4343400" cy="1920240"/>
          </a:xfrm>
          <a:prstGeom prst="rect">
            <a:avLst/>
          </a:prstGeom>
          <a:noFill/>
          <a:ln/>
        </p:spPr>
        <p:txBody>
          <a:bodyPr wrap="square" lIns="0" tIns="0" rIns="0" bIns="0" rtlCol="0" anchor="t"/>
          <a:lstStyle/>
          <a:p>
            <a:pPr indent="0" marL="0">
              <a:lnSpc>
                <a:spcPct val="105000"/>
              </a:lnSpc>
              <a:spcAft>
                <a:spcPts val="600"/>
              </a:spcAft>
              <a:buNone/>
            </a:pPr>
            <a:r>
              <a:rPr lang="en-US" sz="1600" spc="400" kern="0" dirty="0">
                <a:solidFill>
                  <a:srgbClr val="A3E635"/>
                </a:solidFill>
                <a:latin typeface="Consolas" pitchFamily="34" charset="0"/>
                <a:ea typeface="Consolas" pitchFamily="34" charset="-122"/>
                <a:cs typeface="Consolas" pitchFamily="34" charset="-120"/>
              </a:rPr>
              <a:t>SPIKE</a:t>
            </a:r>
            <a:endParaRPr lang="en-US" sz="1600" dirty="0"/>
          </a:p>
          <a:p>
            <a:pPr indent="0" marL="0">
              <a:lnSpc>
                <a:spcPct val="105000"/>
              </a:lnSpc>
              <a:spcAft>
                <a:spcPts val="600"/>
              </a:spcAft>
              <a:buNone/>
            </a:pPr>
            <a:r>
              <a:rPr lang="en-US" sz="1650" b="1" dirty="0">
                <a:solidFill>
                  <a:srgbClr val="F1F5F9"/>
                </a:solidFill>
                <a:latin typeface="Calibri" pitchFamily="34" charset="0"/>
                <a:ea typeface="Calibri" pitchFamily="34" charset="-122"/>
                <a:cs typeface="Calibri" pitchFamily="34" charset="-120"/>
              </a:rPr>
              <a:t>A tiny throwaway experiment answering one risky question.</a:t>
            </a:r>
            <a:endParaRPr lang="en-US" sz="1600" dirty="0"/>
          </a:p>
          <a:p>
            <a:pPr indent="0" marL="0">
              <a:lnSpc>
                <a:spcPct val="105000"/>
              </a:lnSpc>
              <a:buNone/>
            </a:pPr>
            <a:r>
              <a:rPr lang="en-US" sz="1350" dirty="0">
                <a:solidFill>
                  <a:srgbClr val="7C8CA5"/>
                </a:solidFill>
                <a:latin typeface="Calibri" pitchFamily="34" charset="0"/>
                <a:ea typeface="Calibri" pitchFamily="34" charset="-122"/>
                <a:cs typeface="Calibri" pitchFamily="34" charset="-120"/>
              </a:rPr>
              <a:t>“Can we get a token from this API?”  ·  A failed spike costs 30 min — not 20 hours.</a:t>
            </a:r>
            <a:endParaRPr lang="en-US" sz="1600" dirty="0"/>
          </a:p>
        </p:txBody>
      </p:sp>
      <p:sp>
        <p:nvSpPr>
          <p:cNvPr id="9" name="Text 5"/>
          <p:cNvSpPr/>
          <p:nvPr/>
        </p:nvSpPr>
        <p:spPr>
          <a:xfrm>
            <a:off x="548640" y="4023360"/>
            <a:ext cx="5669280" cy="2011680"/>
          </a:xfrm>
          <a:prstGeom prst="rect">
            <a:avLst/>
          </a:prstGeom>
          <a:noFill/>
          <a:ln/>
        </p:spPr>
        <p:txBody>
          <a:bodyPr wrap="square" lIns="0" tIns="0" rIns="0" bIns="0" rtlCol="0" anchor="t"/>
          <a:lstStyle/>
          <a:p>
            <a:pPr algn="l" marL="177800" indent="-177800">
              <a:lnSpc>
                <a:spcPct val="110000"/>
              </a:lnSpc>
              <a:spcAft>
                <a:spcPts val="1000"/>
              </a:spcAft>
              <a:buSzPct val="100000"/>
              <a:buChar char="•"/>
            </a:pPr>
            <a:r>
              <a:rPr lang="en-US" sz="1500" b="1" dirty="0">
                <a:solidFill>
                  <a:srgbClr val="22D3EE"/>
                </a:solidFill>
                <a:latin typeface="Calibri" pitchFamily="34" charset="0"/>
                <a:ea typeface="Calibri" pitchFamily="34" charset="-122"/>
                <a:cs typeface="Calibri" pitchFamily="34" charset="-120"/>
              </a:rPr>
              <a:t>Assumption mapping  </a:t>
            </a:r>
            <a:pPr algn="l" indent="0" marL="0">
              <a:lnSpc>
                <a:spcPct val="110000"/>
              </a:lnSpc>
              <a:spcAft>
                <a:spcPts val="1000"/>
              </a:spcAft>
              <a:buNone/>
            </a:pPr>
            <a:r>
              <a:rPr lang="en-US" sz="1500" dirty="0">
                <a:solidFill>
                  <a:srgbClr val="F1F5F9"/>
                </a:solidFill>
                <a:latin typeface="Calibri" pitchFamily="34" charset="0"/>
                <a:ea typeface="Calibri" pitchFamily="34" charset="-122"/>
                <a:cs typeface="Calibri" pitchFamily="34" charset="-120"/>
              </a:rPr>
              <a:t>importance × certainty — test important-but-uncertain first</a:t>
            </a:r>
            <a:endParaRPr lang="en-US" sz="1500" dirty="0"/>
          </a:p>
          <a:p>
            <a:pPr algn="l" marL="177800" indent="-177800">
              <a:lnSpc>
                <a:spcPct val="110000"/>
              </a:lnSpc>
              <a:spcAft>
                <a:spcPts val="1000"/>
              </a:spcAft>
              <a:buSzPct val="100000"/>
              <a:buChar char="•"/>
            </a:pPr>
            <a:r>
              <a:rPr lang="en-US" sz="1500" b="1" dirty="0">
                <a:solidFill>
                  <a:srgbClr val="22D3EE"/>
                </a:solidFill>
                <a:latin typeface="Calibri" pitchFamily="34" charset="0"/>
                <a:ea typeface="Calibri" pitchFamily="34" charset="-122"/>
                <a:cs typeface="Calibri" pitchFamily="34" charset="-120"/>
              </a:rPr>
              <a:t>Risk  </a:t>
            </a:r>
            <a:pPr algn="l" indent="0" marL="0">
              <a:lnSpc>
                <a:spcPct val="110000"/>
              </a:lnSpc>
              <a:spcAft>
                <a:spcPts val="1000"/>
              </a:spcAft>
              <a:buNone/>
            </a:pPr>
            <a:r>
              <a:rPr lang="en-US" sz="1500" dirty="0">
                <a:solidFill>
                  <a:srgbClr val="F1F5F9"/>
                </a:solidFill>
                <a:latin typeface="Calibri" pitchFamily="34" charset="0"/>
                <a:ea typeface="Calibri" pitchFamily="34" charset="-122"/>
                <a:cs typeface="Calibri" pitchFamily="34" charset="-120"/>
              </a:rPr>
              <a:t>anything that kills the finish or the demo</a:t>
            </a:r>
            <a:endParaRPr lang="en-US" sz="1500" dirty="0"/>
          </a:p>
          <a:p>
            <a:pPr algn="l" lvl="1" marL="355600" indent="-177800">
              <a:lnSpc>
                <a:spcPct val="110000"/>
              </a:lnSpc>
              <a:spcAft>
                <a:spcPts val="1000"/>
              </a:spcAft>
              <a:buSzPct val="100000"/>
              <a:buChar char="•"/>
            </a:pPr>
            <a:r>
              <a:rPr lang="en-US" sz="1250" dirty="0">
                <a:solidFill>
                  <a:srgbClr val="7C8CA5"/>
                </a:solidFill>
                <a:latin typeface="Calibri" pitchFamily="34" charset="0"/>
                <a:ea typeface="Calibri" pitchFamily="34" charset="-122"/>
                <a:cs typeface="Calibri" pitchFamily="34" charset="-120"/>
              </a:rPr>
              <a:t>unfamiliar API · hard algorithm · hardware · unconfirmed data</a:t>
            </a:r>
            <a:endParaRPr lang="en-US" sz="1500" dirty="0"/>
          </a:p>
        </p:txBody>
      </p:sp>
      <p:sp>
        <p:nvSpPr>
          <p:cNvPr id="10" name="Text 6"/>
          <p:cNvSpPr/>
          <p:nvPr/>
        </p:nvSpPr>
        <p:spPr>
          <a:xfrm>
            <a:off x="6675120" y="1371600"/>
            <a:ext cx="49377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FEASIBILITY IN 5 STEPS — 2.7</a:t>
            </a:r>
            <a:endParaRPr lang="en-US" sz="1400" dirty="0"/>
          </a:p>
        </p:txBody>
      </p:sp>
      <p:sp>
        <p:nvSpPr>
          <p:cNvPr id="11" name="Shape 7"/>
          <p:cNvSpPr/>
          <p:nvPr/>
        </p:nvSpPr>
        <p:spPr>
          <a:xfrm>
            <a:off x="6885432" y="2295144"/>
            <a:ext cx="0" cy="420624"/>
          </a:xfrm>
          <a:prstGeom prst="line">
            <a:avLst/>
          </a:prstGeom>
          <a:noFill/>
          <a:ln w="22225">
            <a:solidFill>
              <a:srgbClr val="22D3EE"/>
            </a:solidFill>
            <a:prstDash val="solid"/>
          </a:ln>
        </p:spPr>
      </p:sp>
      <p:sp>
        <p:nvSpPr>
          <p:cNvPr id="12" name="Shape 8"/>
          <p:cNvSpPr/>
          <p:nvPr/>
        </p:nvSpPr>
        <p:spPr>
          <a:xfrm>
            <a:off x="6675120" y="1874520"/>
            <a:ext cx="420624" cy="420624"/>
          </a:xfrm>
          <a:prstGeom prst="ellipse">
            <a:avLst/>
          </a:prstGeom>
          <a:solidFill>
            <a:srgbClr val="22D3EE"/>
          </a:solidFill>
          <a:ln/>
        </p:spPr>
      </p:sp>
      <p:sp>
        <p:nvSpPr>
          <p:cNvPr id="13" name="Text 9"/>
          <p:cNvSpPr/>
          <p:nvPr/>
        </p:nvSpPr>
        <p:spPr>
          <a:xfrm>
            <a:off x="6675120" y="185623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1</a:t>
            </a:r>
            <a:endParaRPr lang="en-US" sz="1500" dirty="0"/>
          </a:p>
        </p:txBody>
      </p:sp>
      <p:sp>
        <p:nvSpPr>
          <p:cNvPr id="14" name="Text 10"/>
          <p:cNvSpPr/>
          <p:nvPr/>
        </p:nvSpPr>
        <p:spPr>
          <a:xfrm>
            <a:off x="7324344" y="1801368"/>
            <a:ext cx="4288536" cy="603504"/>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List the core components</a:t>
            </a:r>
            <a:endParaRPr lang="en-US" sz="1600" dirty="0"/>
          </a:p>
        </p:txBody>
      </p:sp>
      <p:sp>
        <p:nvSpPr>
          <p:cNvPr id="15" name="Shape 11"/>
          <p:cNvSpPr/>
          <p:nvPr/>
        </p:nvSpPr>
        <p:spPr>
          <a:xfrm>
            <a:off x="6885432" y="3136392"/>
            <a:ext cx="0" cy="420624"/>
          </a:xfrm>
          <a:prstGeom prst="line">
            <a:avLst/>
          </a:prstGeom>
          <a:noFill/>
          <a:ln w="22225">
            <a:solidFill>
              <a:srgbClr val="22D3EE"/>
            </a:solidFill>
            <a:prstDash val="solid"/>
          </a:ln>
        </p:spPr>
      </p:sp>
      <p:sp>
        <p:nvSpPr>
          <p:cNvPr id="16" name="Shape 12"/>
          <p:cNvSpPr/>
          <p:nvPr/>
        </p:nvSpPr>
        <p:spPr>
          <a:xfrm>
            <a:off x="6675120" y="2715768"/>
            <a:ext cx="420624" cy="420624"/>
          </a:xfrm>
          <a:prstGeom prst="ellipse">
            <a:avLst/>
          </a:prstGeom>
          <a:solidFill>
            <a:srgbClr val="22D3EE"/>
          </a:solidFill>
          <a:ln/>
        </p:spPr>
      </p:sp>
      <p:sp>
        <p:nvSpPr>
          <p:cNvPr id="17" name="Text 13"/>
          <p:cNvSpPr/>
          <p:nvPr/>
        </p:nvSpPr>
        <p:spPr>
          <a:xfrm>
            <a:off x="6675120" y="2697480"/>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2</a:t>
            </a:r>
            <a:endParaRPr lang="en-US" sz="1500" dirty="0"/>
          </a:p>
        </p:txBody>
      </p:sp>
      <p:sp>
        <p:nvSpPr>
          <p:cNvPr id="18" name="Text 14"/>
          <p:cNvSpPr/>
          <p:nvPr/>
        </p:nvSpPr>
        <p:spPr>
          <a:xfrm>
            <a:off x="7324344" y="2642616"/>
            <a:ext cx="4288536" cy="603504"/>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Name a tool for each</a:t>
            </a:r>
            <a:endParaRPr lang="en-US" sz="1600" dirty="0"/>
          </a:p>
        </p:txBody>
      </p:sp>
      <p:sp>
        <p:nvSpPr>
          <p:cNvPr id="19" name="Shape 15"/>
          <p:cNvSpPr/>
          <p:nvPr/>
        </p:nvSpPr>
        <p:spPr>
          <a:xfrm>
            <a:off x="6885432" y="3977640"/>
            <a:ext cx="0" cy="420624"/>
          </a:xfrm>
          <a:prstGeom prst="line">
            <a:avLst/>
          </a:prstGeom>
          <a:noFill/>
          <a:ln w="22225">
            <a:solidFill>
              <a:srgbClr val="22D3EE"/>
            </a:solidFill>
            <a:prstDash val="solid"/>
          </a:ln>
        </p:spPr>
      </p:sp>
      <p:sp>
        <p:nvSpPr>
          <p:cNvPr id="20" name="Shape 16"/>
          <p:cNvSpPr/>
          <p:nvPr/>
        </p:nvSpPr>
        <p:spPr>
          <a:xfrm>
            <a:off x="6675120" y="3557016"/>
            <a:ext cx="420624" cy="420624"/>
          </a:xfrm>
          <a:prstGeom prst="ellipse">
            <a:avLst/>
          </a:prstGeom>
          <a:solidFill>
            <a:srgbClr val="22D3EE"/>
          </a:solidFill>
          <a:ln/>
        </p:spPr>
      </p:sp>
      <p:sp>
        <p:nvSpPr>
          <p:cNvPr id="21" name="Text 17"/>
          <p:cNvSpPr/>
          <p:nvPr/>
        </p:nvSpPr>
        <p:spPr>
          <a:xfrm>
            <a:off x="6675120" y="3538728"/>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3</a:t>
            </a:r>
            <a:endParaRPr lang="en-US" sz="1500" dirty="0"/>
          </a:p>
        </p:txBody>
      </p:sp>
      <p:sp>
        <p:nvSpPr>
          <p:cNvPr id="22" name="Text 18"/>
          <p:cNvSpPr/>
          <p:nvPr/>
        </p:nvSpPr>
        <p:spPr>
          <a:xfrm>
            <a:off x="7324344" y="3483864"/>
            <a:ext cx="4288536" cy="603504"/>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Identify the unknowns</a:t>
            </a:r>
            <a:endParaRPr lang="en-US" sz="1600" dirty="0"/>
          </a:p>
        </p:txBody>
      </p:sp>
      <p:sp>
        <p:nvSpPr>
          <p:cNvPr id="23" name="Shape 19"/>
          <p:cNvSpPr/>
          <p:nvPr/>
        </p:nvSpPr>
        <p:spPr>
          <a:xfrm>
            <a:off x="6885432" y="4818888"/>
            <a:ext cx="0" cy="420624"/>
          </a:xfrm>
          <a:prstGeom prst="line">
            <a:avLst/>
          </a:prstGeom>
          <a:noFill/>
          <a:ln w="22225">
            <a:solidFill>
              <a:srgbClr val="22D3EE"/>
            </a:solidFill>
            <a:prstDash val="solid"/>
          </a:ln>
        </p:spPr>
      </p:sp>
      <p:sp>
        <p:nvSpPr>
          <p:cNvPr id="24" name="Shape 20"/>
          <p:cNvSpPr/>
          <p:nvPr/>
        </p:nvSpPr>
        <p:spPr>
          <a:xfrm>
            <a:off x="6675120" y="4398264"/>
            <a:ext cx="420624" cy="420624"/>
          </a:xfrm>
          <a:prstGeom prst="ellipse">
            <a:avLst/>
          </a:prstGeom>
          <a:solidFill>
            <a:srgbClr val="22D3EE"/>
          </a:solidFill>
          <a:ln/>
        </p:spPr>
      </p:sp>
      <p:sp>
        <p:nvSpPr>
          <p:cNvPr id="25" name="Text 21"/>
          <p:cNvSpPr/>
          <p:nvPr/>
        </p:nvSpPr>
        <p:spPr>
          <a:xfrm>
            <a:off x="6675120" y="4379976"/>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4</a:t>
            </a:r>
            <a:endParaRPr lang="en-US" sz="1500" dirty="0"/>
          </a:p>
        </p:txBody>
      </p:sp>
      <p:sp>
        <p:nvSpPr>
          <p:cNvPr id="26" name="Text 22"/>
          <p:cNvSpPr/>
          <p:nvPr/>
        </p:nvSpPr>
        <p:spPr>
          <a:xfrm>
            <a:off x="7324344" y="4325112"/>
            <a:ext cx="4288536" cy="603504"/>
          </a:xfrm>
          <a:prstGeom prst="rect">
            <a:avLst/>
          </a:prstGeom>
          <a:noFill/>
          <a:ln/>
        </p:spPr>
        <p:txBody>
          <a:bodyPr wrap="square" lIns="0" tIns="0" rIns="0" bIns="0" rtlCol="0" anchor="ctr"/>
          <a:lstStyle/>
          <a:p>
            <a:pPr indent="0" marL="0">
              <a:buNone/>
            </a:pPr>
            <a:r>
              <a:rPr lang="en-US" sz="1600" b="1" dirty="0">
                <a:solidFill>
                  <a:srgbClr val="A3E635"/>
                </a:solidFill>
                <a:latin typeface="Calibri" pitchFamily="34" charset="0"/>
                <a:ea typeface="Calibri" pitchFamily="34" charset="-122"/>
                <a:cs typeface="Calibri" pitchFamily="34" charset="-120"/>
              </a:rPr>
              <a:t>Spike each unknown (15–30 min)</a:t>
            </a:r>
            <a:endParaRPr lang="en-US" sz="1600" dirty="0"/>
          </a:p>
        </p:txBody>
      </p:sp>
      <p:sp>
        <p:nvSpPr>
          <p:cNvPr id="27" name="Shape 23"/>
          <p:cNvSpPr/>
          <p:nvPr/>
        </p:nvSpPr>
        <p:spPr>
          <a:xfrm>
            <a:off x="6675120" y="5239512"/>
            <a:ext cx="420624" cy="420624"/>
          </a:xfrm>
          <a:prstGeom prst="ellipse">
            <a:avLst/>
          </a:prstGeom>
          <a:solidFill>
            <a:srgbClr val="22D3EE"/>
          </a:solidFill>
          <a:ln/>
        </p:spPr>
      </p:sp>
      <p:sp>
        <p:nvSpPr>
          <p:cNvPr id="28" name="Text 24"/>
          <p:cNvSpPr/>
          <p:nvPr/>
        </p:nvSpPr>
        <p:spPr>
          <a:xfrm>
            <a:off x="6675120" y="5221224"/>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5</a:t>
            </a:r>
            <a:endParaRPr lang="en-US" sz="1500" dirty="0"/>
          </a:p>
        </p:txBody>
      </p:sp>
      <p:sp>
        <p:nvSpPr>
          <p:cNvPr id="29" name="Text 25"/>
          <p:cNvSpPr/>
          <p:nvPr/>
        </p:nvSpPr>
        <p:spPr>
          <a:xfrm>
            <a:off x="7324344" y="5166360"/>
            <a:ext cx="4288536" cy="603504"/>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Only then commit the team</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Worked Example: Shared-Expense App</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18</a:t>
            </a:r>
            <a:endParaRPr lang="en-US" sz="1000" dirty="0"/>
          </a:p>
        </p:txBody>
      </p:sp>
      <p:sp>
        <p:nvSpPr>
          <p:cNvPr id="5" name="Shape 2"/>
          <p:cNvSpPr/>
          <p:nvPr/>
        </p:nvSpPr>
        <p:spPr>
          <a:xfrm>
            <a:off x="1033272" y="2020824"/>
            <a:ext cx="0" cy="448056"/>
          </a:xfrm>
          <a:prstGeom prst="line">
            <a:avLst/>
          </a:prstGeom>
          <a:noFill/>
          <a:ln w="22225">
            <a:solidFill>
              <a:srgbClr val="22D3EE"/>
            </a:solidFill>
            <a:prstDash val="solid"/>
          </a:ln>
        </p:spPr>
      </p:sp>
      <p:sp>
        <p:nvSpPr>
          <p:cNvPr id="6" name="Shape 3"/>
          <p:cNvSpPr/>
          <p:nvPr/>
        </p:nvSpPr>
        <p:spPr>
          <a:xfrm>
            <a:off x="822960" y="1600200"/>
            <a:ext cx="420624" cy="420624"/>
          </a:xfrm>
          <a:prstGeom prst="ellipse">
            <a:avLst/>
          </a:prstGeom>
          <a:solidFill>
            <a:srgbClr val="22D3EE"/>
          </a:solidFill>
          <a:ln/>
        </p:spPr>
      </p:sp>
      <p:sp>
        <p:nvSpPr>
          <p:cNvPr id="7" name="Text 4"/>
          <p:cNvSpPr/>
          <p:nvPr/>
        </p:nvSpPr>
        <p:spPr>
          <a:xfrm>
            <a:off x="822960" y="158191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1</a:t>
            </a:r>
            <a:endParaRPr lang="en-US" sz="1500" dirty="0"/>
          </a:p>
        </p:txBody>
      </p:sp>
      <p:sp>
        <p:nvSpPr>
          <p:cNvPr id="8" name="Text 5"/>
          <p:cNvSpPr/>
          <p:nvPr/>
        </p:nvSpPr>
        <p:spPr>
          <a:xfrm>
            <a:off x="1472184" y="1527048"/>
            <a:ext cx="9957816" cy="603504"/>
          </a:xfrm>
          <a:prstGeom prst="rect">
            <a:avLst/>
          </a:prstGeom>
          <a:noFill/>
          <a:ln/>
        </p:spPr>
        <p:txBody>
          <a:bodyPr wrap="square" lIns="0" tIns="0" rIns="0" bIns="0" rtlCol="0" anchor="ctr"/>
          <a:lstStyle/>
          <a:p>
            <a:pPr indent="0" marL="0">
              <a:buNone/>
            </a:pPr>
            <a:r>
              <a:rPr lang="en-US" sz="1450" dirty="0">
                <a:solidFill>
                  <a:srgbClr val="22D3EE"/>
                </a:solidFill>
                <a:latin typeface="Consolas" pitchFamily="34" charset="0"/>
                <a:ea typeface="Consolas" pitchFamily="34" charset="-122"/>
                <a:cs typeface="Consolas" pitchFamily="34" charset="-120"/>
              </a:rPr>
              <a:t>PROBLEM  </a:t>
            </a:r>
            <a:pPr indent="0" marL="0">
              <a:buNone/>
            </a:pPr>
            <a:r>
              <a:rPr lang="en-US" sz="1650" dirty="0">
                <a:solidFill>
                  <a:srgbClr val="F1F5F9"/>
                </a:solidFill>
                <a:latin typeface="Calibri" pitchFamily="34" charset="0"/>
                <a:ea typeface="Calibri" pitchFamily="34" charset="-122"/>
                <a:cs typeface="Calibri" pitchFamily="34" charset="-120"/>
              </a:rPr>
              <a:t>flatmates lose track of shared expenses</a:t>
            </a:r>
            <a:endParaRPr lang="en-US" sz="1450" dirty="0"/>
          </a:p>
        </p:txBody>
      </p:sp>
      <p:sp>
        <p:nvSpPr>
          <p:cNvPr id="9" name="Shape 6"/>
          <p:cNvSpPr/>
          <p:nvPr/>
        </p:nvSpPr>
        <p:spPr>
          <a:xfrm>
            <a:off x="1033272" y="2889504"/>
            <a:ext cx="0" cy="448056"/>
          </a:xfrm>
          <a:prstGeom prst="line">
            <a:avLst/>
          </a:prstGeom>
          <a:noFill/>
          <a:ln w="22225">
            <a:solidFill>
              <a:srgbClr val="22D3EE"/>
            </a:solidFill>
            <a:prstDash val="solid"/>
          </a:ln>
        </p:spPr>
      </p:sp>
      <p:sp>
        <p:nvSpPr>
          <p:cNvPr id="10" name="Shape 7"/>
          <p:cNvSpPr/>
          <p:nvPr/>
        </p:nvSpPr>
        <p:spPr>
          <a:xfrm>
            <a:off x="822960" y="2468880"/>
            <a:ext cx="420624" cy="420624"/>
          </a:xfrm>
          <a:prstGeom prst="ellipse">
            <a:avLst/>
          </a:prstGeom>
          <a:solidFill>
            <a:srgbClr val="22D3EE"/>
          </a:solidFill>
          <a:ln/>
        </p:spPr>
      </p:sp>
      <p:sp>
        <p:nvSpPr>
          <p:cNvPr id="11" name="Text 8"/>
          <p:cNvSpPr/>
          <p:nvPr/>
        </p:nvSpPr>
        <p:spPr>
          <a:xfrm>
            <a:off x="822960" y="245059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2</a:t>
            </a:r>
            <a:endParaRPr lang="en-US" sz="1500" dirty="0"/>
          </a:p>
        </p:txBody>
      </p:sp>
      <p:sp>
        <p:nvSpPr>
          <p:cNvPr id="12" name="Text 9"/>
          <p:cNvSpPr/>
          <p:nvPr/>
        </p:nvSpPr>
        <p:spPr>
          <a:xfrm>
            <a:off x="1472184" y="2395728"/>
            <a:ext cx="9957816" cy="603504"/>
          </a:xfrm>
          <a:prstGeom prst="rect">
            <a:avLst/>
          </a:prstGeom>
          <a:noFill/>
          <a:ln/>
        </p:spPr>
        <p:txBody>
          <a:bodyPr wrap="square" lIns="0" tIns="0" rIns="0" bIns="0" rtlCol="0" anchor="ctr"/>
          <a:lstStyle/>
          <a:p>
            <a:pPr indent="0" marL="0">
              <a:buNone/>
            </a:pPr>
            <a:r>
              <a:rPr lang="en-US" sz="1450" dirty="0">
                <a:solidFill>
                  <a:srgbClr val="22D3EE"/>
                </a:solidFill>
                <a:latin typeface="Consolas" pitchFamily="34" charset="0"/>
                <a:ea typeface="Consolas" pitchFamily="34" charset="-122"/>
                <a:cs typeface="Consolas" pitchFamily="34" charset="-120"/>
              </a:rPr>
              <a:t>DIVERGE  </a:t>
            </a:r>
            <a:pPr indent="0" marL="0">
              <a:buNone/>
            </a:pPr>
            <a:r>
              <a:rPr lang="en-US" sz="1650" dirty="0">
                <a:solidFill>
                  <a:srgbClr val="F1F5F9"/>
                </a:solidFill>
                <a:latin typeface="Calibri" pitchFamily="34" charset="0"/>
                <a:ea typeface="Calibri" pitchFamily="34" charset="-122"/>
                <a:cs typeface="Calibri" pitchFamily="34" charset="-120"/>
              </a:rPr>
              <a:t>8 approaches — bot · sheet · OCR · tap-to-split · NFC · voice · bank · QR</a:t>
            </a:r>
            <a:endParaRPr lang="en-US" sz="1450" dirty="0"/>
          </a:p>
        </p:txBody>
      </p:sp>
      <p:sp>
        <p:nvSpPr>
          <p:cNvPr id="13" name="Shape 10"/>
          <p:cNvSpPr/>
          <p:nvPr/>
        </p:nvSpPr>
        <p:spPr>
          <a:xfrm>
            <a:off x="1033272" y="3758184"/>
            <a:ext cx="0" cy="448056"/>
          </a:xfrm>
          <a:prstGeom prst="line">
            <a:avLst/>
          </a:prstGeom>
          <a:noFill/>
          <a:ln w="22225">
            <a:solidFill>
              <a:srgbClr val="22D3EE"/>
            </a:solidFill>
            <a:prstDash val="solid"/>
          </a:ln>
        </p:spPr>
      </p:sp>
      <p:sp>
        <p:nvSpPr>
          <p:cNvPr id="14" name="Shape 11"/>
          <p:cNvSpPr/>
          <p:nvPr/>
        </p:nvSpPr>
        <p:spPr>
          <a:xfrm>
            <a:off x="822960" y="3337560"/>
            <a:ext cx="420624" cy="420624"/>
          </a:xfrm>
          <a:prstGeom prst="ellipse">
            <a:avLst/>
          </a:prstGeom>
          <a:solidFill>
            <a:srgbClr val="22D3EE"/>
          </a:solidFill>
          <a:ln/>
        </p:spPr>
      </p:sp>
      <p:sp>
        <p:nvSpPr>
          <p:cNvPr id="15" name="Text 12"/>
          <p:cNvSpPr/>
          <p:nvPr/>
        </p:nvSpPr>
        <p:spPr>
          <a:xfrm>
            <a:off x="822960" y="331927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3</a:t>
            </a:r>
            <a:endParaRPr lang="en-US" sz="1500" dirty="0"/>
          </a:p>
        </p:txBody>
      </p:sp>
      <p:sp>
        <p:nvSpPr>
          <p:cNvPr id="16" name="Text 13"/>
          <p:cNvSpPr/>
          <p:nvPr/>
        </p:nvSpPr>
        <p:spPr>
          <a:xfrm>
            <a:off x="1472184" y="3264408"/>
            <a:ext cx="9957816" cy="603504"/>
          </a:xfrm>
          <a:prstGeom prst="rect">
            <a:avLst/>
          </a:prstGeom>
          <a:noFill/>
          <a:ln/>
        </p:spPr>
        <p:txBody>
          <a:bodyPr wrap="square" lIns="0" tIns="0" rIns="0" bIns="0" rtlCol="0" anchor="ctr"/>
          <a:lstStyle/>
          <a:p>
            <a:pPr indent="0" marL="0">
              <a:buNone/>
            </a:pPr>
            <a:r>
              <a:rPr lang="en-US" sz="1450" dirty="0">
                <a:solidFill>
                  <a:srgbClr val="22D3EE"/>
                </a:solidFill>
                <a:latin typeface="Consolas" pitchFamily="34" charset="0"/>
                <a:ea typeface="Consolas" pitchFamily="34" charset="-122"/>
                <a:cs typeface="Consolas" pitchFamily="34" charset="-120"/>
              </a:rPr>
              <a:t>CONVERGE  </a:t>
            </a:r>
            <a:pPr indent="0" marL="0">
              <a:buNone/>
            </a:pPr>
            <a:r>
              <a:rPr lang="en-US" sz="1650" dirty="0">
                <a:solidFill>
                  <a:srgbClr val="F1F5F9"/>
                </a:solidFill>
                <a:latin typeface="Calibri" pitchFamily="34" charset="0"/>
                <a:ea typeface="Calibri" pitchFamily="34" charset="-122"/>
                <a:cs typeface="Calibri" pitchFamily="34" charset="-120"/>
              </a:rPr>
              <a:t>MoSCoW — Must: add expense · balances · who-owes-whom  |  Won't: bank integration</a:t>
            </a:r>
            <a:endParaRPr lang="en-US" sz="1450" dirty="0"/>
          </a:p>
        </p:txBody>
      </p:sp>
      <p:sp>
        <p:nvSpPr>
          <p:cNvPr id="17" name="Shape 14"/>
          <p:cNvSpPr/>
          <p:nvPr/>
        </p:nvSpPr>
        <p:spPr>
          <a:xfrm>
            <a:off x="1033272" y="4626864"/>
            <a:ext cx="0" cy="448056"/>
          </a:xfrm>
          <a:prstGeom prst="line">
            <a:avLst/>
          </a:prstGeom>
          <a:noFill/>
          <a:ln w="22225">
            <a:solidFill>
              <a:srgbClr val="22D3EE"/>
            </a:solidFill>
            <a:prstDash val="solid"/>
          </a:ln>
        </p:spPr>
      </p:sp>
      <p:sp>
        <p:nvSpPr>
          <p:cNvPr id="18" name="Shape 15"/>
          <p:cNvSpPr/>
          <p:nvPr/>
        </p:nvSpPr>
        <p:spPr>
          <a:xfrm>
            <a:off x="822960" y="4206240"/>
            <a:ext cx="420624" cy="420624"/>
          </a:xfrm>
          <a:prstGeom prst="ellipse">
            <a:avLst/>
          </a:prstGeom>
          <a:solidFill>
            <a:srgbClr val="22D3EE"/>
          </a:solidFill>
          <a:ln/>
        </p:spPr>
      </p:sp>
      <p:sp>
        <p:nvSpPr>
          <p:cNvPr id="19" name="Text 16"/>
          <p:cNvSpPr/>
          <p:nvPr/>
        </p:nvSpPr>
        <p:spPr>
          <a:xfrm>
            <a:off x="822960" y="418795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4</a:t>
            </a:r>
            <a:endParaRPr lang="en-US" sz="1500" dirty="0"/>
          </a:p>
        </p:txBody>
      </p:sp>
      <p:sp>
        <p:nvSpPr>
          <p:cNvPr id="20" name="Text 17"/>
          <p:cNvSpPr/>
          <p:nvPr/>
        </p:nvSpPr>
        <p:spPr>
          <a:xfrm>
            <a:off x="1472184" y="4133088"/>
            <a:ext cx="9957816" cy="603504"/>
          </a:xfrm>
          <a:prstGeom prst="rect">
            <a:avLst/>
          </a:prstGeom>
          <a:noFill/>
          <a:ln/>
        </p:spPr>
        <p:txBody>
          <a:bodyPr wrap="square" lIns="0" tIns="0" rIns="0" bIns="0" rtlCol="0" anchor="ctr"/>
          <a:lstStyle/>
          <a:p>
            <a:pPr indent="0" marL="0">
              <a:buNone/>
            </a:pPr>
            <a:r>
              <a:rPr lang="en-US" sz="1450" dirty="0">
                <a:solidFill>
                  <a:srgbClr val="22D3EE"/>
                </a:solidFill>
                <a:latin typeface="Consolas" pitchFamily="34" charset="0"/>
                <a:ea typeface="Consolas" pitchFamily="34" charset="-122"/>
                <a:cs typeface="Consolas" pitchFamily="34" charset="-120"/>
              </a:rPr>
              <a:t>DE-RISK  </a:t>
            </a:r>
            <a:pPr indent="0" marL="0">
              <a:buNone/>
            </a:pPr>
            <a:r>
              <a:rPr lang="en-US" sz="1650" dirty="0">
                <a:solidFill>
                  <a:srgbClr val="A3E635"/>
                </a:solidFill>
                <a:latin typeface="Calibri" pitchFamily="34" charset="0"/>
                <a:ea typeface="Calibri" pitchFamily="34" charset="-122"/>
                <a:cs typeface="Calibri" pitchFamily="34" charset="-120"/>
              </a:rPr>
              <a:t>spike balance logic (10 min) + auth/API (15 min) → both pass</a:t>
            </a:r>
            <a:endParaRPr lang="en-US" sz="1450" dirty="0"/>
          </a:p>
        </p:txBody>
      </p:sp>
      <p:sp>
        <p:nvSpPr>
          <p:cNvPr id="21" name="Shape 18"/>
          <p:cNvSpPr/>
          <p:nvPr/>
        </p:nvSpPr>
        <p:spPr>
          <a:xfrm>
            <a:off x="822960" y="5074920"/>
            <a:ext cx="420624" cy="420624"/>
          </a:xfrm>
          <a:prstGeom prst="ellipse">
            <a:avLst/>
          </a:prstGeom>
          <a:solidFill>
            <a:srgbClr val="22D3EE"/>
          </a:solidFill>
          <a:ln/>
        </p:spPr>
      </p:sp>
      <p:sp>
        <p:nvSpPr>
          <p:cNvPr id="22" name="Text 19"/>
          <p:cNvSpPr/>
          <p:nvPr/>
        </p:nvSpPr>
        <p:spPr>
          <a:xfrm>
            <a:off x="822960" y="505663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5</a:t>
            </a:r>
            <a:endParaRPr lang="en-US" sz="1500" dirty="0"/>
          </a:p>
        </p:txBody>
      </p:sp>
      <p:sp>
        <p:nvSpPr>
          <p:cNvPr id="23" name="Text 20"/>
          <p:cNvSpPr/>
          <p:nvPr/>
        </p:nvSpPr>
        <p:spPr>
          <a:xfrm>
            <a:off x="1472184" y="5001768"/>
            <a:ext cx="9957816" cy="603504"/>
          </a:xfrm>
          <a:prstGeom prst="rect">
            <a:avLst/>
          </a:prstGeom>
          <a:noFill/>
          <a:ln/>
        </p:spPr>
        <p:txBody>
          <a:bodyPr wrap="square" lIns="0" tIns="0" rIns="0" bIns="0" rtlCol="0" anchor="ctr"/>
          <a:lstStyle/>
          <a:p>
            <a:pPr indent="0" marL="0">
              <a:buNone/>
            </a:pPr>
            <a:r>
              <a:rPr lang="en-US" sz="1450" dirty="0">
                <a:solidFill>
                  <a:srgbClr val="22D3EE"/>
                </a:solidFill>
                <a:latin typeface="Consolas" pitchFamily="34" charset="0"/>
                <a:ea typeface="Consolas" pitchFamily="34" charset="-122"/>
                <a:cs typeface="Consolas" pitchFamily="34" charset="-120"/>
              </a:rPr>
              <a:t>RESULT  </a:t>
            </a:r>
            <a:pPr indent="0" marL="0">
              <a:buNone/>
            </a:pPr>
            <a:r>
              <a:rPr lang="en-US" sz="1650" b="1" dirty="0">
                <a:solidFill>
                  <a:srgbClr val="A3E635"/>
                </a:solidFill>
                <a:latin typeface="Calibri" pitchFamily="34" charset="0"/>
                <a:ea typeface="Calibri" pitchFamily="34" charset="-122"/>
                <a:cs typeface="Calibri" pitchFamily="34" charset="-120"/>
              </a:rPr>
              <a:t>tap-to-split MVP + one delighter — the “settle up” animation</a:t>
            </a:r>
            <a:endParaRPr lang="en-US" sz="1450" dirty="0"/>
          </a:p>
        </p:txBody>
      </p:sp>
      <p:sp>
        <p:nvSpPr>
          <p:cNvPr id="24" name="Shape 21"/>
          <p:cNvSpPr/>
          <p:nvPr/>
        </p:nvSpPr>
        <p:spPr>
          <a:xfrm>
            <a:off x="3995928" y="5806440"/>
            <a:ext cx="4206240" cy="384048"/>
          </a:xfrm>
          <a:prstGeom prst="roundRect">
            <a:avLst>
              <a:gd name="adj" fmla="val 16667"/>
            </a:avLst>
          </a:prstGeom>
          <a:solidFill>
            <a:srgbClr val="141E33"/>
          </a:solidFill>
          <a:ln/>
        </p:spPr>
      </p:sp>
      <p:sp>
        <p:nvSpPr>
          <p:cNvPr id="25" name="Text 22"/>
          <p:cNvSpPr/>
          <p:nvPr/>
        </p:nvSpPr>
        <p:spPr>
          <a:xfrm>
            <a:off x="4050792" y="5806440"/>
            <a:ext cx="4096512" cy="384048"/>
          </a:xfrm>
          <a:prstGeom prst="rect">
            <a:avLst/>
          </a:prstGeom>
          <a:noFill/>
          <a:ln/>
        </p:spPr>
        <p:txBody>
          <a:bodyPr wrap="square" lIns="0" tIns="0" rIns="0" bIns="0" rtlCol="0" anchor="ctr"/>
          <a:lstStyle/>
          <a:p>
            <a:pPr algn="ctr" indent="0" marL="0">
              <a:buNone/>
            </a:pPr>
            <a:r>
              <a:rPr lang="en-US" sz="1400" dirty="0">
                <a:solidFill>
                  <a:srgbClr val="A3E635"/>
                </a:solidFill>
                <a:latin typeface="Consolas" pitchFamily="34" charset="0"/>
                <a:ea typeface="Consolas" pitchFamily="34" charset="-122"/>
                <a:cs typeface="Consolas" pitchFamily="34" charset="-120"/>
              </a:rPr>
              <a:t>buildable · focused · demonstrable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03 — MVP &amp; SCOPING</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MVP &amp; the Magic Moment</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19</a:t>
            </a:r>
            <a:endParaRPr lang="en-US" sz="1000" dirty="0"/>
          </a:p>
        </p:txBody>
      </p:sp>
      <p:sp>
        <p:nvSpPr>
          <p:cNvPr id="6" name="Text 3"/>
          <p:cNvSpPr/>
          <p:nvPr/>
        </p:nvSpPr>
        <p:spPr>
          <a:xfrm>
            <a:off x="548640" y="1508760"/>
            <a:ext cx="5760720" cy="2926080"/>
          </a:xfrm>
          <a:prstGeom prst="rect">
            <a:avLst/>
          </a:prstGeom>
          <a:noFill/>
          <a:ln/>
        </p:spPr>
        <p:txBody>
          <a:bodyPr wrap="square" lIns="0" tIns="0" rIns="0" bIns="0" rtlCol="0" anchor="t"/>
          <a:lstStyle/>
          <a:p>
            <a:pPr algn="l" marL="177800" indent="-177800">
              <a:lnSpc>
                <a:spcPct val="110000"/>
              </a:lnSpc>
              <a:spcAft>
                <a:spcPts val="1000"/>
              </a:spcAft>
              <a:buSzPct val="100000"/>
              <a:buChar char="•"/>
            </a:pPr>
            <a:r>
              <a:rPr lang="en-US" sz="1600" b="1" dirty="0">
                <a:solidFill>
                  <a:srgbClr val="22D3EE"/>
                </a:solidFill>
                <a:latin typeface="Calibri" pitchFamily="34" charset="0"/>
                <a:ea typeface="Calibri" pitchFamily="34" charset="-122"/>
                <a:cs typeface="Calibri" pitchFamily="34" charset="-120"/>
              </a:rPr>
              <a:t>MVP  </a:t>
            </a:r>
            <a:pPr algn="l" indent="0" marL="0">
              <a:lnSpc>
                <a:spcPct val="110000"/>
              </a:lnSpc>
              <a:spcAft>
                <a:spcPts val="1000"/>
              </a:spcAft>
              <a:buNone/>
            </a:pPr>
            <a:r>
              <a:rPr lang="en-US" sz="1600" dirty="0">
                <a:solidFill>
                  <a:srgbClr val="F1F5F9"/>
                </a:solidFill>
                <a:latin typeface="Calibri" pitchFamily="34" charset="0"/>
                <a:ea typeface="Calibri" pitchFamily="34" charset="-122"/>
                <a:cs typeface="Calibri" pitchFamily="34" charset="-120"/>
              </a:rPr>
              <a:t>smallest version that delivers core value + demos</a:t>
            </a:r>
            <a:endParaRPr lang="en-US" sz="1600" dirty="0"/>
          </a:p>
          <a:p>
            <a:pPr algn="l" lvl="1" marL="355600" indent="-177800">
              <a:lnSpc>
                <a:spcPct val="110000"/>
              </a:lnSpc>
              <a:spcAft>
                <a:spcPts val="1000"/>
              </a:spcAft>
              <a:buSzPct val="100000"/>
              <a:buChar char="•"/>
            </a:pPr>
            <a:r>
              <a:rPr lang="en-US" sz="1350" dirty="0">
                <a:solidFill>
                  <a:srgbClr val="7C8CA5"/>
                </a:solidFill>
                <a:latin typeface="Calibri" pitchFamily="34" charset="0"/>
                <a:ea typeface="Calibri" pitchFamily="34" charset="-122"/>
                <a:cs typeface="Calibri" pitchFamily="34" charset="-120"/>
              </a:rPr>
              <a:t>in a hackathon, the MVP is your submission</a:t>
            </a:r>
            <a:endParaRPr lang="en-US" sz="1600" dirty="0"/>
          </a:p>
          <a:p>
            <a:pPr algn="l" marL="177800" indent="-177800">
              <a:lnSpc>
                <a:spcPct val="110000"/>
              </a:lnSpc>
              <a:spcAft>
                <a:spcPts val="1000"/>
              </a:spcAft>
              <a:buSzPct val="100000"/>
              <a:buChar char="•"/>
            </a:pPr>
            <a:r>
              <a:rPr lang="en-US" sz="1600" b="1" dirty="0">
                <a:solidFill>
                  <a:srgbClr val="22D3EE"/>
                </a:solidFill>
                <a:latin typeface="Calibri" pitchFamily="34" charset="0"/>
                <a:ea typeface="Calibri" pitchFamily="34" charset="-122"/>
                <a:cs typeface="Calibri" pitchFamily="34" charset="-120"/>
              </a:rPr>
              <a:t>Magic moment  </a:t>
            </a:r>
            <a:pPr algn="l" indent="0" marL="0">
              <a:lnSpc>
                <a:spcPct val="110000"/>
              </a:lnSpc>
              <a:spcAft>
                <a:spcPts val="1000"/>
              </a:spcAft>
              <a:buNone/>
            </a:pPr>
            <a:r>
              <a:rPr lang="en-US" sz="1600" dirty="0">
                <a:solidFill>
                  <a:srgbClr val="F1F5F9"/>
                </a:solidFill>
                <a:latin typeface="Calibri" pitchFamily="34" charset="0"/>
                <a:ea typeface="Calibri" pitchFamily="34" charset="-122"/>
                <a:cs typeface="Calibri" pitchFamily="34" charset="-120"/>
              </a:rPr>
              <a:t>the one “oh, that's useful” interaction</a:t>
            </a:r>
            <a:endParaRPr lang="en-US" sz="1600" dirty="0"/>
          </a:p>
          <a:p>
            <a:pPr algn="l" lvl="1" marL="355600" indent="-177800">
              <a:lnSpc>
                <a:spcPct val="110000"/>
              </a:lnSpc>
              <a:spcAft>
                <a:spcPts val="1000"/>
              </a:spcAft>
              <a:buSzPct val="100000"/>
              <a:buChar char="•"/>
            </a:pPr>
            <a:r>
              <a:rPr lang="en-US" sz="1350" dirty="0">
                <a:solidFill>
                  <a:srgbClr val="7C8CA5"/>
                </a:solidFill>
                <a:latin typeface="Calibri" pitchFamily="34" charset="0"/>
                <a:ea typeface="Calibri" pitchFamily="34" charset="-122"/>
                <a:cs typeface="Calibri" pitchFamily="34" charset="-120"/>
              </a:rPr>
              <a:t>everything serves it — everything else is cut</a:t>
            </a:r>
            <a:endParaRPr lang="en-US" sz="1600" dirty="0"/>
          </a:p>
          <a:p>
            <a:pPr algn="l" marL="177800" indent="-177800">
              <a:lnSpc>
                <a:spcPct val="110000"/>
              </a:lnSpc>
              <a:spcAft>
                <a:spcPts val="1000"/>
              </a:spcAft>
              <a:buSzPct val="100000"/>
              <a:buChar char="•"/>
            </a:pPr>
            <a:r>
              <a:rPr lang="en-US" sz="1600" b="1" dirty="0">
                <a:solidFill>
                  <a:srgbClr val="22D3EE"/>
                </a:solidFill>
                <a:latin typeface="Calibri" pitchFamily="34" charset="0"/>
                <a:ea typeface="Calibri" pitchFamily="34" charset="-122"/>
                <a:cs typeface="Calibri" pitchFamily="34" charset="-120"/>
              </a:rPr>
              <a:t>Why MVPs win  </a:t>
            </a:r>
            <a:pPr algn="l" indent="0" marL="0">
              <a:lnSpc>
                <a:spcPct val="110000"/>
              </a:lnSpc>
              <a:spcAft>
                <a:spcPts val="1000"/>
              </a:spcAft>
              <a:buNone/>
            </a:pPr>
            <a:r>
              <a:rPr lang="en-US" sz="1600" dirty="0">
                <a:solidFill>
                  <a:srgbClr val="F1F5F9"/>
                </a:solidFill>
                <a:latin typeface="Calibri" pitchFamily="34" charset="0"/>
                <a:ea typeface="Calibri" pitchFamily="34" charset="-122"/>
                <a:cs typeface="Calibri" pitchFamily="34" charset="-120"/>
              </a:rPr>
              <a:t>finishable · demonstrable · robust · memorable</a:t>
            </a:r>
            <a:endParaRPr lang="en-US" sz="1600" dirty="0"/>
          </a:p>
        </p:txBody>
      </p:sp>
      <p:sp>
        <p:nvSpPr>
          <p:cNvPr id="7" name="Shape 4"/>
          <p:cNvSpPr/>
          <p:nvPr/>
        </p:nvSpPr>
        <p:spPr>
          <a:xfrm>
            <a:off x="6675120" y="1600200"/>
            <a:ext cx="4937760" cy="1371600"/>
          </a:xfrm>
          <a:prstGeom prst="roundRect">
            <a:avLst>
              <a:gd name="adj" fmla="val 6000"/>
            </a:avLst>
          </a:prstGeom>
          <a:solidFill>
            <a:srgbClr val="141E33"/>
          </a:solidFill>
          <a:ln/>
          <a:effectLst>
            <a:outerShdw sx="100000" sy="100000" kx="0" ky="0" algn="bl" rotWithShape="0" blurRad="114300" dist="38100" dir="5400000">
              <a:srgbClr val="000000">
                <a:alpha val="45000"/>
              </a:srgbClr>
            </a:outerShdw>
          </a:effectLst>
        </p:spPr>
      </p:sp>
      <p:sp>
        <p:nvSpPr>
          <p:cNvPr id="8" name="Shape 5"/>
          <p:cNvSpPr/>
          <p:nvPr/>
        </p:nvSpPr>
        <p:spPr>
          <a:xfrm>
            <a:off x="6949440" y="2002536"/>
            <a:ext cx="566928" cy="566928"/>
          </a:xfrm>
          <a:prstGeom prst="ellipse">
            <a:avLst/>
          </a:prstGeom>
          <a:solidFill>
            <a:srgbClr val="1B2842"/>
          </a:solidFill>
          <a:ln/>
        </p:spPr>
      </p:sp>
      <p:pic>
        <p:nvPicPr>
          <p:cNvPr id="9" name="Image 0" descr="C:\Users\User\AppData\Local\Temp\claude\C--Users-User-OneDrive-Music-Hackathon\67e3d9e6-0718-4380-8c09-13d83fcd8fa7\scratchpad\pptbuild\v2\assets\icons\check-lime.png">    </p:cNvPr>
          <p:cNvPicPr>
            <a:picLocks noChangeAspect="1"/>
          </p:cNvPicPr>
          <p:nvPr/>
        </p:nvPicPr>
        <p:blipFill>
          <a:blip r:embed="rId1"/>
          <a:stretch>
            <a:fillRect/>
          </a:stretch>
        </p:blipFill>
        <p:spPr>
          <a:xfrm>
            <a:off x="7085503" y="2138599"/>
            <a:ext cx="294803" cy="294803"/>
          </a:xfrm>
          <a:prstGeom prst="rect">
            <a:avLst/>
          </a:prstGeom>
        </p:spPr>
      </p:pic>
      <p:sp>
        <p:nvSpPr>
          <p:cNvPr id="10" name="Shape 6"/>
          <p:cNvSpPr/>
          <p:nvPr/>
        </p:nvSpPr>
        <p:spPr>
          <a:xfrm>
            <a:off x="7863840" y="2057400"/>
            <a:ext cx="1371600" cy="201168"/>
          </a:xfrm>
          <a:prstGeom prst="roundRect">
            <a:avLst>
              <a:gd name="adj" fmla="val 45455"/>
            </a:avLst>
          </a:prstGeom>
          <a:solidFill>
            <a:srgbClr val="22D3EE"/>
          </a:solidFill>
          <a:ln/>
        </p:spPr>
      </p:sp>
      <p:sp>
        <p:nvSpPr>
          <p:cNvPr id="11" name="Shape 7"/>
          <p:cNvSpPr/>
          <p:nvPr/>
        </p:nvSpPr>
        <p:spPr>
          <a:xfrm>
            <a:off x="8046720" y="2295144"/>
            <a:ext cx="237744" cy="237744"/>
          </a:xfrm>
          <a:prstGeom prst="ellipse">
            <a:avLst/>
          </a:prstGeom>
          <a:solidFill>
            <a:srgbClr val="F1F5F9"/>
          </a:solidFill>
          <a:ln/>
        </p:spPr>
      </p:sp>
      <p:sp>
        <p:nvSpPr>
          <p:cNvPr id="12" name="Shape 8"/>
          <p:cNvSpPr/>
          <p:nvPr/>
        </p:nvSpPr>
        <p:spPr>
          <a:xfrm>
            <a:off x="8823960" y="2295144"/>
            <a:ext cx="237744" cy="237744"/>
          </a:xfrm>
          <a:prstGeom prst="ellipse">
            <a:avLst/>
          </a:prstGeom>
          <a:solidFill>
            <a:srgbClr val="F1F5F9"/>
          </a:solidFill>
          <a:ln/>
        </p:spPr>
      </p:sp>
      <p:sp>
        <p:nvSpPr>
          <p:cNvPr id="13" name="Text 9"/>
          <p:cNvSpPr/>
          <p:nvPr/>
        </p:nvSpPr>
        <p:spPr>
          <a:xfrm>
            <a:off x="9464040" y="1600200"/>
            <a:ext cx="2103120" cy="1371600"/>
          </a:xfrm>
          <a:prstGeom prst="rect">
            <a:avLst/>
          </a:prstGeom>
          <a:noFill/>
          <a:ln/>
        </p:spPr>
        <p:txBody>
          <a:bodyPr wrap="square" lIns="0" tIns="0" rIns="0" bIns="0" rtlCol="0" anchor="ctr"/>
          <a:lstStyle/>
          <a:p>
            <a:pPr indent="0" marL="0">
              <a:buNone/>
            </a:pPr>
            <a:r>
              <a:rPr lang="en-US" sz="1500" b="1" dirty="0">
                <a:solidFill>
                  <a:srgbClr val="A3E635"/>
                </a:solidFill>
                <a:latin typeface="Calibri" pitchFamily="34" charset="0"/>
                <a:ea typeface="Calibri" pitchFamily="34" charset="-122"/>
                <a:cs typeface="Calibri" pitchFamily="34" charset="-120"/>
              </a:rPr>
              <a:t>Skateboard = MVP</a:t>
            </a:r>
            <a:endParaRPr lang="en-US" sz="1500" dirty="0"/>
          </a:p>
          <a:p>
            <a:pPr indent="0" marL="0">
              <a:buNone/>
            </a:pPr>
            <a:r>
              <a:rPr lang="en-US" sz="1250" dirty="0">
                <a:solidFill>
                  <a:srgbClr val="7C8CA5"/>
                </a:solidFill>
                <a:latin typeface="Calibri" pitchFamily="34" charset="0"/>
                <a:ea typeface="Calibri" pitchFamily="34" charset="-122"/>
                <a:cs typeface="Calibri" pitchFamily="34" charset="-120"/>
              </a:rPr>
              <a:t>humble, but moves a person</a:t>
            </a:r>
            <a:endParaRPr lang="en-US" sz="1500" dirty="0"/>
          </a:p>
        </p:txBody>
      </p:sp>
      <p:sp>
        <p:nvSpPr>
          <p:cNvPr id="14" name="Shape 10"/>
          <p:cNvSpPr/>
          <p:nvPr/>
        </p:nvSpPr>
        <p:spPr>
          <a:xfrm>
            <a:off x="6675120" y="3154680"/>
            <a:ext cx="4937760" cy="1371600"/>
          </a:xfrm>
          <a:prstGeom prst="roundRect">
            <a:avLst>
              <a:gd name="adj" fmla="val 6000"/>
            </a:avLst>
          </a:prstGeom>
          <a:solidFill>
            <a:srgbClr val="141E33"/>
          </a:solidFill>
          <a:ln/>
          <a:effectLst>
            <a:outerShdw sx="100000" sy="100000" kx="0" ky="0" algn="bl" rotWithShape="0" blurRad="114300" dist="38100" dir="5400000">
              <a:srgbClr val="000000">
                <a:alpha val="45000"/>
              </a:srgbClr>
            </a:outerShdw>
          </a:effectLst>
        </p:spPr>
      </p:sp>
      <p:sp>
        <p:nvSpPr>
          <p:cNvPr id="15" name="Shape 11"/>
          <p:cNvSpPr/>
          <p:nvPr/>
        </p:nvSpPr>
        <p:spPr>
          <a:xfrm>
            <a:off x="6949440" y="3557016"/>
            <a:ext cx="566928" cy="566928"/>
          </a:xfrm>
          <a:prstGeom prst="ellipse">
            <a:avLst/>
          </a:prstGeom>
          <a:solidFill>
            <a:srgbClr val="1B2842"/>
          </a:solidFill>
          <a:ln/>
        </p:spPr>
      </p:sp>
      <p:pic>
        <p:nvPicPr>
          <p:cNvPr id="16" name="Image 1" descr="C:\Users\User\AppData\Local\Temp\claude\C--Users-User-OneDrive-Music-Hackathon\67e3d9e6-0718-4380-8c09-13d83fcd8fa7\scratchpad\pptbuild\v2\assets\icons\x-amber.png">    </p:cNvPr>
          <p:cNvPicPr>
            <a:picLocks noChangeAspect="1"/>
          </p:cNvPicPr>
          <p:nvPr/>
        </p:nvPicPr>
        <p:blipFill>
          <a:blip r:embed="rId2"/>
          <a:stretch>
            <a:fillRect/>
          </a:stretch>
        </p:blipFill>
        <p:spPr>
          <a:xfrm>
            <a:off x="7085503" y="3693079"/>
            <a:ext cx="294803" cy="294803"/>
          </a:xfrm>
          <a:prstGeom prst="rect">
            <a:avLst/>
          </a:prstGeom>
        </p:spPr>
      </p:pic>
      <p:sp>
        <p:nvSpPr>
          <p:cNvPr id="17" name="Shape 12"/>
          <p:cNvSpPr/>
          <p:nvPr/>
        </p:nvSpPr>
        <p:spPr>
          <a:xfrm>
            <a:off x="8092440" y="3383280"/>
            <a:ext cx="777240" cy="777240"/>
          </a:xfrm>
          <a:prstGeom prst="ellipse">
            <a:avLst/>
          </a:prstGeom>
          <a:solidFill>
            <a:srgbClr val="1B2842"/>
          </a:solidFill>
          <a:ln w="76200">
            <a:solidFill>
              <a:srgbClr val="7C8CA5"/>
            </a:solidFill>
            <a:prstDash val="solid"/>
          </a:ln>
        </p:spPr>
      </p:sp>
      <p:sp>
        <p:nvSpPr>
          <p:cNvPr id="18" name="Text 13"/>
          <p:cNvSpPr/>
          <p:nvPr/>
        </p:nvSpPr>
        <p:spPr>
          <a:xfrm>
            <a:off x="9189720" y="3154680"/>
            <a:ext cx="2377440" cy="137160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One car wheel</a:t>
            </a:r>
            <a:endParaRPr lang="en-US" sz="1500" dirty="0"/>
          </a:p>
          <a:p>
            <a:pPr indent="0" marL="0">
              <a:buNone/>
            </a:pPr>
            <a:r>
              <a:rPr lang="en-US" sz="1250" dirty="0">
                <a:solidFill>
                  <a:srgbClr val="7C8CA5"/>
                </a:solidFill>
                <a:latin typeface="Calibri" pitchFamily="34" charset="0"/>
                <a:ea typeface="Calibri" pitchFamily="34" charset="-122"/>
                <a:cs typeface="Calibri" pitchFamily="34" charset="-120"/>
              </a:rPr>
              <a:t>“part of something big” that moves nobody</a:t>
            </a:r>
            <a:endParaRPr lang="en-US" sz="1500" dirty="0"/>
          </a:p>
        </p:txBody>
      </p:sp>
      <p:sp>
        <p:nvSpPr>
          <p:cNvPr id="19" name="Shape 14"/>
          <p:cNvSpPr/>
          <p:nvPr/>
        </p:nvSpPr>
        <p:spPr>
          <a:xfrm>
            <a:off x="548640" y="4800600"/>
            <a:ext cx="11091672" cy="1051560"/>
          </a:xfrm>
          <a:prstGeom prst="roundRect">
            <a:avLst>
              <a:gd name="adj" fmla="val 7826"/>
            </a:avLst>
          </a:prstGeom>
          <a:solidFill>
            <a:srgbClr val="1B2842"/>
          </a:solidFill>
          <a:ln/>
          <a:effectLst>
            <a:outerShdw sx="100000" sy="100000" kx="0" ky="0" algn="bl" rotWithShape="0" blurRad="114300" dist="38100" dir="5400000">
              <a:srgbClr val="000000">
                <a:alpha val="45000"/>
              </a:srgbClr>
            </a:outerShdw>
          </a:effectLst>
        </p:spPr>
      </p:sp>
      <p:sp>
        <p:nvSpPr>
          <p:cNvPr id="20" name="Shape 15"/>
          <p:cNvSpPr/>
          <p:nvPr/>
        </p:nvSpPr>
        <p:spPr>
          <a:xfrm>
            <a:off x="868680" y="5029200"/>
            <a:ext cx="566928" cy="566928"/>
          </a:xfrm>
          <a:prstGeom prst="ellipse">
            <a:avLst/>
          </a:prstGeom>
          <a:solidFill>
            <a:srgbClr val="141E33"/>
          </a:solidFill>
          <a:ln/>
        </p:spPr>
      </p:sp>
      <p:pic>
        <p:nvPicPr>
          <p:cNvPr id="21" name="Image 2" descr="C:\Users\User\AppData\Local\Temp\claude\C--Users-User-OneDrive-Music-Hackathon\67e3d9e6-0718-4380-8c09-13d83fcd8fa7\scratchpad\pptbuild\v2\assets\icons\alert-amber.png">    </p:cNvPr>
          <p:cNvPicPr>
            <a:picLocks noChangeAspect="1"/>
          </p:cNvPicPr>
          <p:nvPr/>
        </p:nvPicPr>
        <p:blipFill>
          <a:blip r:embed="rId3"/>
          <a:stretch>
            <a:fillRect/>
          </a:stretch>
        </p:blipFill>
        <p:spPr>
          <a:xfrm>
            <a:off x="1004743" y="5165263"/>
            <a:ext cx="294803" cy="294803"/>
          </a:xfrm>
          <a:prstGeom prst="rect">
            <a:avLst/>
          </a:prstGeom>
        </p:spPr>
      </p:pic>
      <p:sp>
        <p:nvSpPr>
          <p:cNvPr id="22" name="Text 16"/>
          <p:cNvSpPr/>
          <p:nvPr/>
        </p:nvSpPr>
        <p:spPr>
          <a:xfrm>
            <a:off x="1600200" y="4800600"/>
            <a:ext cx="9784080" cy="1051560"/>
          </a:xfrm>
          <a:prstGeom prst="rect">
            <a:avLst/>
          </a:prstGeom>
          <a:noFill/>
          <a:ln/>
        </p:spPr>
        <p:txBody>
          <a:bodyPr wrap="square" lIns="0" tIns="0" rIns="0" bIns="0" rtlCol="0" anchor="ctr"/>
          <a:lstStyle/>
          <a:p>
            <a:pPr indent="0" marL="0">
              <a:buNone/>
            </a:pPr>
            <a:r>
              <a:rPr lang="en-US" sz="1550" b="1" dirty="0">
                <a:solidFill>
                  <a:srgbClr val="F59E0B"/>
                </a:solidFill>
                <a:latin typeface="Calibri" pitchFamily="34" charset="0"/>
                <a:ea typeface="Calibri" pitchFamily="34" charset="-122"/>
                <a:cs typeface="Calibri" pitchFamily="34" charset="-120"/>
              </a:rPr>
              <a:t>Feature creep — </a:t>
            </a:r>
            <a:pPr indent="0" marL="0">
              <a:buNone/>
            </a:pPr>
            <a:r>
              <a:rPr lang="en-US" sz="1550" dirty="0">
                <a:solidFill>
                  <a:srgbClr val="F1F5F9"/>
                </a:solidFill>
                <a:latin typeface="Calibri" pitchFamily="34" charset="0"/>
                <a:ea typeface="Calibri" pitchFamily="34" charset="-122"/>
                <a:cs typeface="Calibri" pitchFamily="34" charset="-120"/>
              </a:rPr>
              <a:t>“wouldn't it be cool if…” — the #1 reason teams don't finish. Keep a “Won't do (this time)” list and defend it.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Scope: Slice Vertically</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20</a:t>
            </a:r>
            <a:endParaRPr lang="en-US" sz="1000" dirty="0"/>
          </a:p>
        </p:txBody>
      </p:sp>
      <p:sp>
        <p:nvSpPr>
          <p:cNvPr id="5" name="Shape 2"/>
          <p:cNvSpPr/>
          <p:nvPr/>
        </p:nvSpPr>
        <p:spPr>
          <a:xfrm>
            <a:off x="731520" y="1691640"/>
            <a:ext cx="4937760" cy="914400"/>
          </a:xfrm>
          <a:prstGeom prst="roundRect">
            <a:avLst>
              <a:gd name="adj" fmla="val 9000"/>
            </a:avLst>
          </a:prstGeom>
          <a:solidFill>
            <a:srgbClr val="141E33"/>
          </a:solidFill>
          <a:ln/>
          <a:effectLst>
            <a:outerShdw sx="100000" sy="100000" kx="0" ky="0" algn="bl" rotWithShape="0" blurRad="114300" dist="38100" dir="5400000">
              <a:srgbClr val="000000">
                <a:alpha val="45000"/>
              </a:srgbClr>
            </a:outerShdw>
          </a:effectLst>
        </p:spPr>
      </p:sp>
      <p:sp>
        <p:nvSpPr>
          <p:cNvPr id="6" name="Text 3"/>
          <p:cNvSpPr/>
          <p:nvPr/>
        </p:nvSpPr>
        <p:spPr>
          <a:xfrm>
            <a:off x="1005840" y="1691640"/>
            <a:ext cx="2011680" cy="9144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UI</a:t>
            </a:r>
            <a:endParaRPr lang="en-US" sz="1600" dirty="0"/>
          </a:p>
        </p:txBody>
      </p:sp>
      <p:sp>
        <p:nvSpPr>
          <p:cNvPr id="7" name="Shape 4"/>
          <p:cNvSpPr/>
          <p:nvPr/>
        </p:nvSpPr>
        <p:spPr>
          <a:xfrm>
            <a:off x="731520" y="2880360"/>
            <a:ext cx="4937760" cy="914400"/>
          </a:xfrm>
          <a:prstGeom prst="roundRect">
            <a:avLst>
              <a:gd name="adj" fmla="val 9000"/>
            </a:avLst>
          </a:prstGeom>
          <a:solidFill>
            <a:srgbClr val="141E33"/>
          </a:solidFill>
          <a:ln/>
          <a:effectLst>
            <a:outerShdw sx="100000" sy="100000" kx="0" ky="0" algn="bl" rotWithShape="0" blurRad="114300" dist="38100" dir="5400000">
              <a:srgbClr val="000000">
                <a:alpha val="45000"/>
              </a:srgbClr>
            </a:outerShdw>
          </a:effectLst>
        </p:spPr>
      </p:sp>
      <p:sp>
        <p:nvSpPr>
          <p:cNvPr id="8" name="Text 5"/>
          <p:cNvSpPr/>
          <p:nvPr/>
        </p:nvSpPr>
        <p:spPr>
          <a:xfrm>
            <a:off x="1005840" y="2880360"/>
            <a:ext cx="2011680" cy="9144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Back-end</a:t>
            </a:r>
            <a:endParaRPr lang="en-US" sz="1600" dirty="0"/>
          </a:p>
        </p:txBody>
      </p:sp>
      <p:sp>
        <p:nvSpPr>
          <p:cNvPr id="9" name="Shape 6"/>
          <p:cNvSpPr/>
          <p:nvPr/>
        </p:nvSpPr>
        <p:spPr>
          <a:xfrm>
            <a:off x="731520" y="4069080"/>
            <a:ext cx="4937760" cy="914400"/>
          </a:xfrm>
          <a:prstGeom prst="roundRect">
            <a:avLst>
              <a:gd name="adj" fmla="val 9000"/>
            </a:avLst>
          </a:prstGeom>
          <a:solidFill>
            <a:srgbClr val="141E33"/>
          </a:solidFill>
          <a:ln/>
          <a:effectLst>
            <a:outerShdw sx="100000" sy="100000" kx="0" ky="0" algn="bl" rotWithShape="0" blurRad="114300" dist="38100" dir="5400000">
              <a:srgbClr val="000000">
                <a:alpha val="45000"/>
              </a:srgbClr>
            </a:outerShdw>
          </a:effectLst>
        </p:spPr>
      </p:sp>
      <p:sp>
        <p:nvSpPr>
          <p:cNvPr id="10" name="Text 7"/>
          <p:cNvSpPr/>
          <p:nvPr/>
        </p:nvSpPr>
        <p:spPr>
          <a:xfrm>
            <a:off x="1005840" y="4069080"/>
            <a:ext cx="2011680" cy="91440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Database</a:t>
            </a:r>
            <a:endParaRPr lang="en-US" sz="1600" dirty="0"/>
          </a:p>
        </p:txBody>
      </p:sp>
      <p:sp>
        <p:nvSpPr>
          <p:cNvPr id="11" name="Shape 8"/>
          <p:cNvSpPr/>
          <p:nvPr/>
        </p:nvSpPr>
        <p:spPr>
          <a:xfrm>
            <a:off x="3794760" y="1463040"/>
            <a:ext cx="1143000" cy="3703320"/>
          </a:xfrm>
          <a:prstGeom prst="roundRect">
            <a:avLst>
              <a:gd name="adj" fmla="val 8000"/>
            </a:avLst>
          </a:prstGeom>
          <a:solidFill>
            <a:srgbClr val="22D3EE">
              <a:alpha val="75000"/>
            </a:srgbClr>
          </a:solidFill>
          <a:ln/>
        </p:spPr>
      </p:sp>
      <p:sp>
        <p:nvSpPr>
          <p:cNvPr id="12" name="Text 9"/>
          <p:cNvSpPr/>
          <p:nvPr/>
        </p:nvSpPr>
        <p:spPr>
          <a:xfrm>
            <a:off x="3794760" y="1463040"/>
            <a:ext cx="1143000" cy="3703320"/>
          </a:xfrm>
          <a:prstGeom prst="rect">
            <a:avLst/>
          </a:prstGeom>
          <a:noFill/>
          <a:ln/>
        </p:spPr>
        <p:txBody>
          <a:bodyPr wrap="square" lIns="0" tIns="0" rIns="0" bIns="0" rtlCol="0" anchor="ctr"/>
          <a:lstStyle/>
          <a:p>
            <a:pPr algn="ctr" indent="0" marL="0">
              <a:buNone/>
            </a:pPr>
            <a:r>
              <a:rPr lang="en-US" sz="1500" b="1" dirty="0">
                <a:solidFill>
                  <a:srgbClr val="0B1220"/>
                </a:solidFill>
                <a:latin typeface="Consolas" pitchFamily="34" charset="0"/>
                <a:ea typeface="Consolas" pitchFamily="34" charset="-122"/>
                <a:cs typeface="Consolas" pitchFamily="34" charset="-120"/>
              </a:rPr>
              <a:t>one</a:t>
            </a:r>
            <a:endParaRPr lang="en-US" sz="1500" dirty="0"/>
          </a:p>
          <a:p>
            <a:pPr algn="ctr" indent="0" marL="0">
              <a:buNone/>
            </a:pPr>
            <a:r>
              <a:rPr lang="en-US" sz="1500" b="1" dirty="0">
                <a:solidFill>
                  <a:srgbClr val="0B1220"/>
                </a:solidFill>
                <a:latin typeface="Consolas" pitchFamily="34" charset="0"/>
                <a:ea typeface="Consolas" pitchFamily="34" charset="-122"/>
                <a:cs typeface="Consolas" pitchFamily="34" charset="-120"/>
              </a:rPr>
              <a:t>slice</a:t>
            </a:r>
            <a:endParaRPr lang="en-US" sz="1500" dirty="0"/>
          </a:p>
        </p:txBody>
      </p:sp>
      <p:sp>
        <p:nvSpPr>
          <p:cNvPr id="13" name="Text 10"/>
          <p:cNvSpPr/>
          <p:nvPr/>
        </p:nvSpPr>
        <p:spPr>
          <a:xfrm>
            <a:off x="731520" y="5440680"/>
            <a:ext cx="5120640" cy="640080"/>
          </a:xfrm>
          <a:prstGeom prst="rect">
            <a:avLst/>
          </a:prstGeom>
          <a:noFill/>
          <a:ln/>
        </p:spPr>
        <p:txBody>
          <a:bodyPr wrap="square" lIns="0" tIns="0" rIns="0" bIns="0" rtlCol="0" anchor="ctr"/>
          <a:lstStyle/>
          <a:p>
            <a:pPr indent="0" marL="0">
              <a:buNone/>
            </a:pPr>
            <a:r>
              <a:rPr lang="en-US" sz="1400" i="1" dirty="0">
                <a:solidFill>
                  <a:srgbClr val="7C8CA5"/>
                </a:solidFill>
                <a:latin typeface="Calibri" pitchFamily="34" charset="0"/>
                <a:ea typeface="Calibri" pitchFamily="34" charset="-122"/>
                <a:cs typeface="Calibri" pitchFamily="34" charset="-120"/>
              </a:rPr>
              <a:t>One complete path through every layer beats many half-built screens.</a:t>
            </a:r>
            <a:endParaRPr lang="en-US" sz="1400" dirty="0"/>
          </a:p>
        </p:txBody>
      </p:sp>
      <p:sp>
        <p:nvSpPr>
          <p:cNvPr id="14" name="Shape 11"/>
          <p:cNvSpPr/>
          <p:nvPr/>
        </p:nvSpPr>
        <p:spPr>
          <a:xfrm>
            <a:off x="6309360" y="2089404"/>
            <a:ext cx="621792" cy="621792"/>
          </a:xfrm>
          <a:prstGeom prst="ellipse">
            <a:avLst/>
          </a:prstGeom>
          <a:solidFill>
            <a:srgbClr val="1B2842"/>
          </a:solidFill>
          <a:ln/>
        </p:spPr>
      </p:sp>
      <p:pic>
        <p:nvPicPr>
          <p:cNvPr id="15" name="Image 0" descr="C:\Users\User\AppData\Local\Temp\claude\C--Users-User-OneDrive-Music-Hackathon\67e3d9e6-0718-4380-8c09-13d83fcd8fa7\scratchpad\pptbuild\v2\assets\icons\layers-cyan.png">    </p:cNvPr>
          <p:cNvPicPr>
            <a:picLocks noChangeAspect="1"/>
          </p:cNvPicPr>
          <p:nvPr/>
        </p:nvPicPr>
        <p:blipFill>
          <a:blip r:embed="rId1"/>
          <a:stretch>
            <a:fillRect/>
          </a:stretch>
        </p:blipFill>
        <p:spPr>
          <a:xfrm>
            <a:off x="6458590" y="2238634"/>
            <a:ext cx="323332" cy="323332"/>
          </a:xfrm>
          <a:prstGeom prst="rect">
            <a:avLst/>
          </a:prstGeom>
        </p:spPr>
      </p:pic>
      <p:sp>
        <p:nvSpPr>
          <p:cNvPr id="16" name="Text 12"/>
          <p:cNvSpPr/>
          <p:nvPr/>
        </p:nvSpPr>
        <p:spPr>
          <a:xfrm>
            <a:off x="7159752" y="1737360"/>
            <a:ext cx="4453128" cy="1325880"/>
          </a:xfrm>
          <a:prstGeom prst="rect">
            <a:avLst/>
          </a:prstGeom>
          <a:noFill/>
          <a:ln/>
        </p:spPr>
        <p:txBody>
          <a:bodyPr wrap="square" lIns="0" tIns="0" rIns="0" bIns="0" rtlCol="0" anchor="ctr"/>
          <a:lstStyle/>
          <a:p>
            <a:pPr indent="0" marL="0">
              <a:lnSpc>
                <a:spcPct val="102000"/>
              </a:lnSpc>
              <a:spcAft>
                <a:spcPts val="200"/>
              </a:spcAft>
              <a:buNone/>
            </a:pPr>
            <a:r>
              <a:rPr lang="en-US" sz="1700" b="1" dirty="0">
                <a:solidFill>
                  <a:srgbClr val="F1F5F9"/>
                </a:solidFill>
                <a:latin typeface="Calibri" pitchFamily="34" charset="0"/>
                <a:ea typeface="Calibri" pitchFamily="34" charset="-122"/>
                <a:cs typeface="Calibri" pitchFamily="34" charset="-120"/>
              </a:rPr>
              <a:t>Vertical slice</a:t>
            </a:r>
            <a:endParaRPr lang="en-US" sz="1700" dirty="0"/>
          </a:p>
          <a:p>
            <a:pPr indent="0" marL="0">
              <a:lnSpc>
                <a:spcPct val="102000"/>
              </a:lnSpc>
              <a:buNone/>
            </a:pPr>
            <a:r>
              <a:rPr lang="en-US" sz="1400" dirty="0">
                <a:solidFill>
                  <a:srgbClr val="7C8CA5"/>
                </a:solidFill>
                <a:latin typeface="Calibri" pitchFamily="34" charset="0"/>
                <a:ea typeface="Calibri" pitchFamily="34" charset="-122"/>
                <a:cs typeface="Calibri" pitchFamily="34" charset="-120"/>
              </a:rPr>
              <a:t>one path UI → API → DB → screen. A working slice is a working demo.</a:t>
            </a:r>
            <a:endParaRPr lang="en-US" sz="1700" dirty="0"/>
          </a:p>
        </p:txBody>
      </p:sp>
      <p:sp>
        <p:nvSpPr>
          <p:cNvPr id="17" name="Shape 13"/>
          <p:cNvSpPr/>
          <p:nvPr/>
        </p:nvSpPr>
        <p:spPr>
          <a:xfrm>
            <a:off x="6309360" y="3415284"/>
            <a:ext cx="621792" cy="621792"/>
          </a:xfrm>
          <a:prstGeom prst="ellipse">
            <a:avLst/>
          </a:prstGeom>
          <a:solidFill>
            <a:srgbClr val="1B2842"/>
          </a:solidFill>
          <a:ln/>
        </p:spPr>
      </p:sp>
      <p:pic>
        <p:nvPicPr>
          <p:cNvPr id="18" name="Image 1" descr="C:\Users\User\AppData\Local\Temp\claude\C--Users-User-OneDrive-Music-Hackathon\67e3d9e6-0718-4380-8c09-13d83fcd8fa7\scratchpad\pptbuild\v2\assets\icons\bone-cyan.png">    </p:cNvPr>
          <p:cNvPicPr>
            <a:picLocks noChangeAspect="1"/>
          </p:cNvPicPr>
          <p:nvPr/>
        </p:nvPicPr>
        <p:blipFill>
          <a:blip r:embed="rId2"/>
          <a:stretch>
            <a:fillRect/>
          </a:stretch>
        </p:blipFill>
        <p:spPr>
          <a:xfrm>
            <a:off x="6458590" y="3564514"/>
            <a:ext cx="323332" cy="323332"/>
          </a:xfrm>
          <a:prstGeom prst="rect">
            <a:avLst/>
          </a:prstGeom>
        </p:spPr>
      </p:pic>
      <p:sp>
        <p:nvSpPr>
          <p:cNvPr id="19" name="Text 14"/>
          <p:cNvSpPr/>
          <p:nvPr/>
        </p:nvSpPr>
        <p:spPr>
          <a:xfrm>
            <a:off x="7159752" y="3063240"/>
            <a:ext cx="4453128" cy="1325880"/>
          </a:xfrm>
          <a:prstGeom prst="rect">
            <a:avLst/>
          </a:prstGeom>
          <a:noFill/>
          <a:ln/>
        </p:spPr>
        <p:txBody>
          <a:bodyPr wrap="square" lIns="0" tIns="0" rIns="0" bIns="0" rtlCol="0" anchor="ctr"/>
          <a:lstStyle/>
          <a:p>
            <a:pPr indent="0" marL="0">
              <a:lnSpc>
                <a:spcPct val="102000"/>
              </a:lnSpc>
              <a:spcAft>
                <a:spcPts val="200"/>
              </a:spcAft>
              <a:buNone/>
            </a:pPr>
            <a:r>
              <a:rPr lang="en-US" sz="1700" b="1" dirty="0">
                <a:solidFill>
                  <a:srgbClr val="F1F5F9"/>
                </a:solidFill>
                <a:latin typeface="Calibri" pitchFamily="34" charset="0"/>
                <a:ea typeface="Calibri" pitchFamily="34" charset="-122"/>
                <a:cs typeface="Calibri" pitchFamily="34" charset="-120"/>
              </a:rPr>
              <a:t>Walking skeleton</a:t>
            </a:r>
            <a:endParaRPr lang="en-US" sz="1700" dirty="0"/>
          </a:p>
          <a:p>
            <a:pPr indent="0" marL="0">
              <a:lnSpc>
                <a:spcPct val="102000"/>
              </a:lnSpc>
              <a:buNone/>
            </a:pPr>
            <a:r>
              <a:rPr lang="en-US" sz="1400" dirty="0">
                <a:solidFill>
                  <a:srgbClr val="7C8CA5"/>
                </a:solidFill>
                <a:latin typeface="Calibri" pitchFamily="34" charset="0"/>
                <a:ea typeface="Calibri" pitchFamily="34" charset="-122"/>
                <a:cs typeface="Calibri" pitchFamily="34" charset="-120"/>
              </a:rPr>
              <a:t>all layers connected, near-zero features. Prove the pipes early.</a:t>
            </a:r>
            <a:endParaRPr lang="en-US" sz="1700" dirty="0"/>
          </a:p>
        </p:txBody>
      </p:sp>
      <p:sp>
        <p:nvSpPr>
          <p:cNvPr id="20" name="Shape 15"/>
          <p:cNvSpPr/>
          <p:nvPr/>
        </p:nvSpPr>
        <p:spPr>
          <a:xfrm>
            <a:off x="6309360" y="4741164"/>
            <a:ext cx="621792" cy="621792"/>
          </a:xfrm>
          <a:prstGeom prst="ellipse">
            <a:avLst/>
          </a:prstGeom>
          <a:solidFill>
            <a:srgbClr val="1B2842"/>
          </a:solidFill>
          <a:ln/>
        </p:spPr>
      </p:sp>
      <p:pic>
        <p:nvPicPr>
          <p:cNvPr id="21" name="Image 2" descr="C:\Users\User\AppData\Local\Temp\claude\C--Users-User-OneDrive-Music-Hackathon\67e3d9e6-0718-4380-8c09-13d83fcd8fa7\scratchpad\pptbuild\v2\assets\icons\timer-cyan.png">    </p:cNvPr>
          <p:cNvPicPr>
            <a:picLocks noChangeAspect="1"/>
          </p:cNvPicPr>
          <p:nvPr/>
        </p:nvPicPr>
        <p:blipFill>
          <a:blip r:embed="rId3"/>
          <a:stretch>
            <a:fillRect/>
          </a:stretch>
        </p:blipFill>
        <p:spPr>
          <a:xfrm>
            <a:off x="6458590" y="4890394"/>
            <a:ext cx="323332" cy="323332"/>
          </a:xfrm>
          <a:prstGeom prst="rect">
            <a:avLst/>
          </a:prstGeom>
        </p:spPr>
      </p:pic>
      <p:sp>
        <p:nvSpPr>
          <p:cNvPr id="22" name="Text 16"/>
          <p:cNvSpPr/>
          <p:nvPr/>
        </p:nvSpPr>
        <p:spPr>
          <a:xfrm>
            <a:off x="7159752" y="4389120"/>
            <a:ext cx="4453128" cy="1325880"/>
          </a:xfrm>
          <a:prstGeom prst="rect">
            <a:avLst/>
          </a:prstGeom>
          <a:noFill/>
          <a:ln/>
        </p:spPr>
        <p:txBody>
          <a:bodyPr wrap="square" lIns="0" tIns="0" rIns="0" bIns="0" rtlCol="0" anchor="ctr"/>
          <a:lstStyle/>
          <a:p>
            <a:pPr indent="0" marL="0">
              <a:lnSpc>
                <a:spcPct val="102000"/>
              </a:lnSpc>
              <a:spcAft>
                <a:spcPts val="200"/>
              </a:spcAft>
              <a:buNone/>
            </a:pPr>
            <a:r>
              <a:rPr lang="en-US" sz="1700" b="1" dirty="0">
                <a:solidFill>
                  <a:srgbClr val="F1F5F9"/>
                </a:solidFill>
                <a:latin typeface="Calibri" pitchFamily="34" charset="0"/>
                <a:ea typeface="Calibri" pitchFamily="34" charset="-122"/>
                <a:cs typeface="Calibri" pitchFamily="34" charset="-120"/>
              </a:rPr>
              <a:t>Time-boxing</a:t>
            </a:r>
            <a:endParaRPr lang="en-US" sz="1700" dirty="0"/>
          </a:p>
          <a:p>
            <a:pPr indent="0" marL="0">
              <a:lnSpc>
                <a:spcPct val="102000"/>
              </a:lnSpc>
              <a:buNone/>
            </a:pPr>
            <a:r>
              <a:rPr lang="en-US" sz="1400" dirty="0">
                <a:solidFill>
                  <a:srgbClr val="7C8CA5"/>
                </a:solidFill>
                <a:latin typeface="Calibri" pitchFamily="34" charset="0"/>
                <a:ea typeface="Calibri" pitchFamily="34" charset="-122"/>
                <a:cs typeface="Calibri" pitchFamily="34" charset="-120"/>
              </a:rPr>
              <a:t>hard budget per task — time's up, move on with what works.</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Execution Plan: 24h / 36h / 48h</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21</a:t>
            </a:r>
            <a:endParaRPr lang="en-US" sz="1000" dirty="0"/>
          </a:p>
        </p:txBody>
      </p:sp>
      <p:sp>
        <p:nvSpPr>
          <p:cNvPr id="5" name="Text 2"/>
          <p:cNvSpPr/>
          <p:nvPr/>
        </p:nvSpPr>
        <p:spPr>
          <a:xfrm>
            <a:off x="548640" y="1463040"/>
            <a:ext cx="914400" cy="777240"/>
          </a:xfrm>
          <a:prstGeom prst="rect">
            <a:avLst/>
          </a:prstGeom>
          <a:noFill/>
          <a:ln/>
        </p:spPr>
        <p:txBody>
          <a:bodyPr wrap="square" lIns="0" tIns="0" rIns="0" bIns="0" rtlCol="0" anchor="ctr"/>
          <a:lstStyle/>
          <a:p>
            <a:pPr indent="0" marL="0">
              <a:buNone/>
            </a:pPr>
            <a:r>
              <a:rPr lang="en-US" sz="1700" dirty="0">
                <a:solidFill>
                  <a:srgbClr val="22D3EE"/>
                </a:solidFill>
                <a:latin typeface="Arial Black" pitchFamily="34" charset="0"/>
                <a:ea typeface="Arial Black" pitchFamily="34" charset="-122"/>
                <a:cs typeface="Arial Black" pitchFamily="34" charset="-120"/>
              </a:rPr>
              <a:t>24h</a:t>
            </a:r>
            <a:endParaRPr lang="en-US" sz="1700" dirty="0"/>
          </a:p>
        </p:txBody>
      </p:sp>
      <p:sp>
        <p:nvSpPr>
          <p:cNvPr id="6" name="Shape 3"/>
          <p:cNvSpPr/>
          <p:nvPr/>
        </p:nvSpPr>
        <p:spPr>
          <a:xfrm>
            <a:off x="1554480" y="1463040"/>
            <a:ext cx="776478" cy="777240"/>
          </a:xfrm>
          <a:prstGeom prst="roundRect">
            <a:avLst>
              <a:gd name="adj" fmla="val 8243"/>
            </a:avLst>
          </a:prstGeom>
          <a:solidFill>
            <a:srgbClr val="141E33"/>
          </a:solidFill>
          <a:ln/>
          <a:effectLst>
            <a:outerShdw sx="100000" sy="100000" kx="0" ky="0" algn="bl" rotWithShape="0" blurRad="114300" dist="38100" dir="5400000">
              <a:srgbClr val="000000">
                <a:alpha val="45000"/>
              </a:srgbClr>
            </a:outerShdw>
          </a:effectLst>
        </p:spPr>
      </p:sp>
      <p:sp>
        <p:nvSpPr>
          <p:cNvPr id="7" name="Text 4"/>
          <p:cNvSpPr/>
          <p:nvPr/>
        </p:nvSpPr>
        <p:spPr>
          <a:xfrm>
            <a:off x="1554480" y="1463040"/>
            <a:ext cx="776478"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Scope + spike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0–2</a:t>
            </a:r>
            <a:endParaRPr lang="en-US" sz="1150" dirty="0"/>
          </a:p>
        </p:txBody>
      </p:sp>
      <p:sp>
        <p:nvSpPr>
          <p:cNvPr id="8" name="Shape 5"/>
          <p:cNvSpPr/>
          <p:nvPr/>
        </p:nvSpPr>
        <p:spPr>
          <a:xfrm>
            <a:off x="2394966" y="1463040"/>
            <a:ext cx="4138422" cy="777240"/>
          </a:xfrm>
          <a:prstGeom prst="roundRect">
            <a:avLst>
              <a:gd name="adj" fmla="val 8235"/>
            </a:avLst>
          </a:prstGeom>
          <a:solidFill>
            <a:srgbClr val="1B2842"/>
          </a:solidFill>
          <a:ln/>
          <a:effectLst>
            <a:outerShdw sx="100000" sy="100000" kx="0" ky="0" algn="bl" rotWithShape="0" blurRad="114300" dist="38100" dir="5400000">
              <a:srgbClr val="000000">
                <a:alpha val="45000"/>
              </a:srgbClr>
            </a:outerShdw>
          </a:effectLst>
        </p:spPr>
      </p:sp>
      <p:sp>
        <p:nvSpPr>
          <p:cNvPr id="9" name="Text 6"/>
          <p:cNvSpPr/>
          <p:nvPr/>
        </p:nvSpPr>
        <p:spPr>
          <a:xfrm>
            <a:off x="2394966" y="1463040"/>
            <a:ext cx="4138422"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Vertical slice — core end-to-end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2–12</a:t>
            </a:r>
            <a:endParaRPr lang="en-US" sz="1150" dirty="0"/>
          </a:p>
        </p:txBody>
      </p:sp>
      <p:sp>
        <p:nvSpPr>
          <p:cNvPr id="10" name="Shape 7"/>
          <p:cNvSpPr/>
          <p:nvPr/>
        </p:nvSpPr>
        <p:spPr>
          <a:xfrm>
            <a:off x="6597396" y="1463040"/>
            <a:ext cx="2457450" cy="777240"/>
          </a:xfrm>
          <a:prstGeom prst="roundRect">
            <a:avLst>
              <a:gd name="adj" fmla="val 8235"/>
            </a:avLst>
          </a:prstGeom>
          <a:solidFill>
            <a:srgbClr val="141E33"/>
          </a:solidFill>
          <a:ln/>
          <a:effectLst>
            <a:outerShdw sx="100000" sy="100000" kx="0" ky="0" algn="bl" rotWithShape="0" blurRad="114300" dist="38100" dir="5400000">
              <a:srgbClr val="000000">
                <a:alpha val="45000"/>
              </a:srgbClr>
            </a:outerShdw>
          </a:effectLst>
        </p:spPr>
      </p:sp>
      <p:sp>
        <p:nvSpPr>
          <p:cNvPr id="11" name="Text 8"/>
          <p:cNvSpPr/>
          <p:nvPr/>
        </p:nvSpPr>
        <p:spPr>
          <a:xfrm>
            <a:off x="6597396" y="1463040"/>
            <a:ext cx="2457450"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API/AI + delighter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12–18</a:t>
            </a:r>
            <a:endParaRPr lang="en-US" sz="1150" dirty="0"/>
          </a:p>
        </p:txBody>
      </p:sp>
      <p:sp>
        <p:nvSpPr>
          <p:cNvPr id="12" name="Shape 9"/>
          <p:cNvSpPr/>
          <p:nvPr/>
        </p:nvSpPr>
        <p:spPr>
          <a:xfrm>
            <a:off x="9118854" y="1463040"/>
            <a:ext cx="1196721" cy="777240"/>
          </a:xfrm>
          <a:prstGeom prst="roundRect">
            <a:avLst>
              <a:gd name="adj" fmla="val 8235"/>
            </a:avLst>
          </a:prstGeom>
          <a:solidFill>
            <a:srgbClr val="1B2842"/>
          </a:solidFill>
          <a:ln/>
          <a:effectLst>
            <a:outerShdw sx="100000" sy="100000" kx="0" ky="0" algn="bl" rotWithShape="0" blurRad="114300" dist="38100" dir="5400000">
              <a:srgbClr val="000000">
                <a:alpha val="45000"/>
              </a:srgbClr>
            </a:outerShdw>
          </a:effectLst>
        </p:spPr>
      </p:sp>
      <p:sp>
        <p:nvSpPr>
          <p:cNvPr id="13" name="Text 10"/>
          <p:cNvSpPr/>
          <p:nvPr/>
        </p:nvSpPr>
        <p:spPr>
          <a:xfrm>
            <a:off x="9118854" y="1463040"/>
            <a:ext cx="1196721"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Test + deploy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18–21</a:t>
            </a:r>
            <a:endParaRPr lang="en-US" sz="1150" dirty="0"/>
          </a:p>
        </p:txBody>
      </p:sp>
      <p:sp>
        <p:nvSpPr>
          <p:cNvPr id="14" name="Shape 11"/>
          <p:cNvSpPr/>
          <p:nvPr/>
        </p:nvSpPr>
        <p:spPr>
          <a:xfrm>
            <a:off x="10379583" y="1463040"/>
            <a:ext cx="1196721" cy="777240"/>
          </a:xfrm>
          <a:prstGeom prst="roundRect">
            <a:avLst>
              <a:gd name="adj" fmla="val 8235"/>
            </a:avLst>
          </a:prstGeom>
          <a:solidFill>
            <a:srgbClr val="141E33"/>
          </a:solidFill>
          <a:ln/>
          <a:effectLst>
            <a:outerShdw sx="100000" sy="100000" kx="0" ky="0" algn="bl" rotWithShape="0" blurRad="114300" dist="38100" dir="5400000">
              <a:srgbClr val="000000">
                <a:alpha val="45000"/>
              </a:srgbClr>
            </a:outerShdw>
          </a:effectLst>
        </p:spPr>
      </p:sp>
      <p:sp>
        <p:nvSpPr>
          <p:cNvPr id="15" name="Text 12"/>
          <p:cNvSpPr/>
          <p:nvPr/>
        </p:nvSpPr>
        <p:spPr>
          <a:xfrm>
            <a:off x="10379583" y="1463040"/>
            <a:ext cx="1196721"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Buffer + submit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21–24</a:t>
            </a:r>
            <a:endParaRPr lang="en-US" sz="1150" dirty="0"/>
          </a:p>
        </p:txBody>
      </p:sp>
      <p:sp>
        <p:nvSpPr>
          <p:cNvPr id="16" name="Text 13"/>
          <p:cNvSpPr/>
          <p:nvPr/>
        </p:nvSpPr>
        <p:spPr>
          <a:xfrm>
            <a:off x="548640" y="2514600"/>
            <a:ext cx="914400" cy="777240"/>
          </a:xfrm>
          <a:prstGeom prst="rect">
            <a:avLst/>
          </a:prstGeom>
          <a:noFill/>
          <a:ln/>
        </p:spPr>
        <p:txBody>
          <a:bodyPr wrap="square" lIns="0" tIns="0" rIns="0" bIns="0" rtlCol="0" anchor="ctr"/>
          <a:lstStyle/>
          <a:p>
            <a:pPr indent="0" marL="0">
              <a:buNone/>
            </a:pPr>
            <a:r>
              <a:rPr lang="en-US" sz="1700" dirty="0">
                <a:solidFill>
                  <a:srgbClr val="22D3EE"/>
                </a:solidFill>
                <a:latin typeface="Arial Black" pitchFamily="34" charset="0"/>
                <a:ea typeface="Arial Black" pitchFamily="34" charset="-122"/>
                <a:cs typeface="Arial Black" pitchFamily="34" charset="-120"/>
              </a:rPr>
              <a:t>36h</a:t>
            </a:r>
            <a:endParaRPr lang="en-US" sz="1700" dirty="0"/>
          </a:p>
        </p:txBody>
      </p:sp>
      <p:sp>
        <p:nvSpPr>
          <p:cNvPr id="17" name="Shape 14"/>
          <p:cNvSpPr/>
          <p:nvPr/>
        </p:nvSpPr>
        <p:spPr>
          <a:xfrm>
            <a:off x="1554480" y="2514600"/>
            <a:ext cx="776478" cy="777240"/>
          </a:xfrm>
          <a:prstGeom prst="roundRect">
            <a:avLst>
              <a:gd name="adj" fmla="val 8243"/>
            </a:avLst>
          </a:prstGeom>
          <a:solidFill>
            <a:srgbClr val="141E33"/>
          </a:solidFill>
          <a:ln/>
          <a:effectLst>
            <a:outerShdw sx="100000" sy="100000" kx="0" ky="0" algn="bl" rotWithShape="0" blurRad="114300" dist="38100" dir="5400000">
              <a:srgbClr val="000000">
                <a:alpha val="45000"/>
              </a:srgbClr>
            </a:outerShdw>
          </a:effectLst>
        </p:spPr>
      </p:sp>
      <p:sp>
        <p:nvSpPr>
          <p:cNvPr id="18" name="Text 15"/>
          <p:cNvSpPr/>
          <p:nvPr/>
        </p:nvSpPr>
        <p:spPr>
          <a:xfrm>
            <a:off x="1554480" y="2514600"/>
            <a:ext cx="776478"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Validate + spike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0–3</a:t>
            </a:r>
            <a:endParaRPr lang="en-US" sz="1150" dirty="0"/>
          </a:p>
        </p:txBody>
      </p:sp>
      <p:sp>
        <p:nvSpPr>
          <p:cNvPr id="19" name="Shape 16"/>
          <p:cNvSpPr/>
          <p:nvPr/>
        </p:nvSpPr>
        <p:spPr>
          <a:xfrm>
            <a:off x="2394966" y="2514600"/>
            <a:ext cx="3017774" cy="777240"/>
          </a:xfrm>
          <a:prstGeom prst="roundRect">
            <a:avLst>
              <a:gd name="adj" fmla="val 8235"/>
            </a:avLst>
          </a:prstGeom>
          <a:solidFill>
            <a:srgbClr val="1B2842"/>
          </a:solidFill>
          <a:ln/>
          <a:effectLst>
            <a:outerShdw sx="100000" sy="100000" kx="0" ky="0" algn="bl" rotWithShape="0" blurRad="114300" dist="38100" dir="5400000">
              <a:srgbClr val="000000">
                <a:alpha val="45000"/>
              </a:srgbClr>
            </a:outerShdw>
          </a:effectLst>
        </p:spPr>
      </p:sp>
      <p:sp>
        <p:nvSpPr>
          <p:cNvPr id="20" name="Text 17"/>
          <p:cNvSpPr/>
          <p:nvPr/>
        </p:nvSpPr>
        <p:spPr>
          <a:xfrm>
            <a:off x="2394966" y="2514600"/>
            <a:ext cx="3017774"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Skeleton → vertical slice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3–14</a:t>
            </a:r>
            <a:endParaRPr lang="en-US" sz="1150" dirty="0"/>
          </a:p>
        </p:txBody>
      </p:sp>
      <p:sp>
        <p:nvSpPr>
          <p:cNvPr id="21" name="Shape 18"/>
          <p:cNvSpPr/>
          <p:nvPr/>
        </p:nvSpPr>
        <p:spPr>
          <a:xfrm>
            <a:off x="5476748" y="2514600"/>
            <a:ext cx="2177288" cy="777240"/>
          </a:xfrm>
          <a:prstGeom prst="roundRect">
            <a:avLst>
              <a:gd name="adj" fmla="val 8235"/>
            </a:avLst>
          </a:prstGeom>
          <a:solidFill>
            <a:srgbClr val="141E33"/>
          </a:solidFill>
          <a:ln/>
          <a:effectLst>
            <a:outerShdw sx="100000" sy="100000" kx="0" ky="0" algn="bl" rotWithShape="0" blurRad="114300" dist="38100" dir="5400000">
              <a:srgbClr val="000000">
                <a:alpha val="45000"/>
              </a:srgbClr>
            </a:outerShdw>
          </a:effectLst>
        </p:spPr>
      </p:sp>
      <p:sp>
        <p:nvSpPr>
          <p:cNvPr id="22" name="Text 19"/>
          <p:cNvSpPr/>
          <p:nvPr/>
        </p:nvSpPr>
        <p:spPr>
          <a:xfrm>
            <a:off x="5476748" y="2514600"/>
            <a:ext cx="2177288"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2nd feature + integrations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14–22 · rest in shifts</a:t>
            </a:r>
            <a:endParaRPr lang="en-US" sz="1150" dirty="0"/>
          </a:p>
        </p:txBody>
      </p:sp>
      <p:sp>
        <p:nvSpPr>
          <p:cNvPr id="23" name="Shape 20"/>
          <p:cNvSpPr/>
          <p:nvPr/>
        </p:nvSpPr>
        <p:spPr>
          <a:xfrm>
            <a:off x="7718044" y="2514600"/>
            <a:ext cx="2177288" cy="777240"/>
          </a:xfrm>
          <a:prstGeom prst="roundRect">
            <a:avLst>
              <a:gd name="adj" fmla="val 8235"/>
            </a:avLst>
          </a:prstGeom>
          <a:solidFill>
            <a:srgbClr val="1B2842"/>
          </a:solidFill>
          <a:ln/>
          <a:effectLst>
            <a:outerShdw sx="100000" sy="100000" kx="0" ky="0" algn="bl" rotWithShape="0" blurRad="114300" dist="38100" dir="5400000">
              <a:srgbClr val="000000">
                <a:alpha val="45000"/>
              </a:srgbClr>
            </a:outerShdw>
          </a:effectLst>
        </p:spPr>
      </p:sp>
      <p:sp>
        <p:nvSpPr>
          <p:cNvPr id="24" name="Text 21"/>
          <p:cNvSpPr/>
          <p:nvPr/>
        </p:nvSpPr>
        <p:spPr>
          <a:xfrm>
            <a:off x="7718044" y="2514600"/>
            <a:ext cx="2177288"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Polish + delighter + test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22–30</a:t>
            </a:r>
            <a:endParaRPr lang="en-US" sz="1150" dirty="0"/>
          </a:p>
        </p:txBody>
      </p:sp>
      <p:sp>
        <p:nvSpPr>
          <p:cNvPr id="25" name="Shape 22"/>
          <p:cNvSpPr/>
          <p:nvPr/>
        </p:nvSpPr>
        <p:spPr>
          <a:xfrm>
            <a:off x="9959340" y="2514600"/>
            <a:ext cx="1616964" cy="777240"/>
          </a:xfrm>
          <a:prstGeom prst="roundRect">
            <a:avLst>
              <a:gd name="adj" fmla="val 8235"/>
            </a:avLst>
          </a:prstGeom>
          <a:solidFill>
            <a:srgbClr val="141E33"/>
          </a:solidFill>
          <a:ln/>
          <a:effectLst>
            <a:outerShdw sx="100000" sy="100000" kx="0" ky="0" algn="bl" rotWithShape="0" blurRad="114300" dist="38100" dir="5400000">
              <a:srgbClr val="000000">
                <a:alpha val="45000"/>
              </a:srgbClr>
            </a:outerShdw>
          </a:effectLst>
        </p:spPr>
      </p:sp>
      <p:sp>
        <p:nvSpPr>
          <p:cNvPr id="26" name="Text 23"/>
          <p:cNvSpPr/>
          <p:nvPr/>
        </p:nvSpPr>
        <p:spPr>
          <a:xfrm>
            <a:off x="9959340" y="2514600"/>
            <a:ext cx="1616964"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Deploy + submit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30–36</a:t>
            </a:r>
            <a:endParaRPr lang="en-US" sz="1150" dirty="0"/>
          </a:p>
        </p:txBody>
      </p:sp>
      <p:sp>
        <p:nvSpPr>
          <p:cNvPr id="27" name="Text 24"/>
          <p:cNvSpPr/>
          <p:nvPr/>
        </p:nvSpPr>
        <p:spPr>
          <a:xfrm>
            <a:off x="548640" y="3566160"/>
            <a:ext cx="914400" cy="777240"/>
          </a:xfrm>
          <a:prstGeom prst="rect">
            <a:avLst/>
          </a:prstGeom>
          <a:noFill/>
          <a:ln/>
        </p:spPr>
        <p:txBody>
          <a:bodyPr wrap="square" lIns="0" tIns="0" rIns="0" bIns="0" rtlCol="0" anchor="ctr"/>
          <a:lstStyle/>
          <a:p>
            <a:pPr indent="0" marL="0">
              <a:buNone/>
            </a:pPr>
            <a:r>
              <a:rPr lang="en-US" sz="1700" dirty="0">
                <a:solidFill>
                  <a:srgbClr val="22D3EE"/>
                </a:solidFill>
                <a:latin typeface="Arial Black" pitchFamily="34" charset="0"/>
                <a:ea typeface="Arial Black" pitchFamily="34" charset="-122"/>
                <a:cs typeface="Arial Black" pitchFamily="34" charset="-120"/>
              </a:rPr>
              <a:t>48h</a:t>
            </a:r>
            <a:endParaRPr lang="en-US" sz="1700" dirty="0"/>
          </a:p>
        </p:txBody>
      </p:sp>
      <p:sp>
        <p:nvSpPr>
          <p:cNvPr id="28" name="Shape 25"/>
          <p:cNvSpPr/>
          <p:nvPr/>
        </p:nvSpPr>
        <p:spPr>
          <a:xfrm>
            <a:off x="1554480" y="3566160"/>
            <a:ext cx="4182658" cy="777240"/>
          </a:xfrm>
          <a:prstGeom prst="roundRect">
            <a:avLst>
              <a:gd name="adj" fmla="val 8235"/>
            </a:avLst>
          </a:prstGeom>
          <a:solidFill>
            <a:srgbClr val="1B2842"/>
          </a:solidFill>
          <a:ln/>
          <a:effectLst>
            <a:outerShdw sx="100000" sy="100000" kx="0" ky="0" algn="bl" rotWithShape="0" blurRad="114300" dist="38100" dir="5400000">
              <a:srgbClr val="000000">
                <a:alpha val="45000"/>
              </a:srgbClr>
            </a:outerShdw>
          </a:effectLst>
        </p:spPr>
      </p:sp>
      <p:sp>
        <p:nvSpPr>
          <p:cNvPr id="29" name="Text 26"/>
          <p:cNvSpPr/>
          <p:nvPr/>
        </p:nvSpPr>
        <p:spPr>
          <a:xfrm>
            <a:off x="1554480" y="3566160"/>
            <a:ext cx="4182658"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Day 1 — validate · design · skeleton · core feature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real sleep</a:t>
            </a:r>
            <a:endParaRPr lang="en-US" sz="1150" dirty="0"/>
          </a:p>
        </p:txBody>
      </p:sp>
      <p:sp>
        <p:nvSpPr>
          <p:cNvPr id="30" name="Shape 27"/>
          <p:cNvSpPr/>
          <p:nvPr/>
        </p:nvSpPr>
        <p:spPr>
          <a:xfrm>
            <a:off x="5801146" y="3566160"/>
            <a:ext cx="2059325" cy="777240"/>
          </a:xfrm>
          <a:prstGeom prst="roundRect">
            <a:avLst>
              <a:gd name="adj" fmla="val 8235"/>
            </a:avLst>
          </a:prstGeom>
          <a:solidFill>
            <a:srgbClr val="141E33"/>
          </a:solidFill>
          <a:ln/>
          <a:effectLst>
            <a:outerShdw sx="100000" sy="100000" kx="0" ky="0" algn="bl" rotWithShape="0" blurRad="114300" dist="38100" dir="5400000">
              <a:srgbClr val="000000">
                <a:alpha val="45000"/>
              </a:srgbClr>
            </a:outerShdw>
          </a:effectLst>
        </p:spPr>
      </p:sp>
      <p:sp>
        <p:nvSpPr>
          <p:cNvPr id="31" name="Text 28"/>
          <p:cNvSpPr/>
          <p:nvPr/>
        </p:nvSpPr>
        <p:spPr>
          <a:xfrm>
            <a:off x="5801146" y="3566160"/>
            <a:ext cx="2059325"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Day 2 AM — 2nd feature
</a:t>
            </a:r>
            <a:pPr algn="ctr" indent="0" marL="0">
              <a:lnSpc>
                <a:spcPct val="95000"/>
              </a:lnSpc>
              <a:buNone/>
            </a:pPr>
            <a:endParaRPr lang="en-US" sz="1150" dirty="0"/>
          </a:p>
        </p:txBody>
      </p:sp>
      <p:sp>
        <p:nvSpPr>
          <p:cNvPr id="32" name="Shape 29"/>
          <p:cNvSpPr/>
          <p:nvPr/>
        </p:nvSpPr>
        <p:spPr>
          <a:xfrm>
            <a:off x="7924479" y="3566160"/>
            <a:ext cx="2059325" cy="777240"/>
          </a:xfrm>
          <a:prstGeom prst="roundRect">
            <a:avLst>
              <a:gd name="adj" fmla="val 8235"/>
            </a:avLst>
          </a:prstGeom>
          <a:solidFill>
            <a:srgbClr val="1B2842"/>
          </a:solidFill>
          <a:ln/>
          <a:effectLst>
            <a:outerShdw sx="100000" sy="100000" kx="0" ky="0" algn="bl" rotWithShape="0" blurRad="114300" dist="38100" dir="5400000">
              <a:srgbClr val="000000">
                <a:alpha val="45000"/>
              </a:srgbClr>
            </a:outerShdw>
          </a:effectLst>
        </p:spPr>
      </p:sp>
      <p:sp>
        <p:nvSpPr>
          <p:cNvPr id="33" name="Text 30"/>
          <p:cNvSpPr/>
          <p:nvPr/>
        </p:nvSpPr>
        <p:spPr>
          <a:xfrm>
            <a:off x="7924479" y="3566160"/>
            <a:ext cx="2059325"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Day 2 PM — polish · test · deploy
</a:t>
            </a:r>
            <a:pPr algn="ctr" indent="0" marL="0">
              <a:lnSpc>
                <a:spcPct val="95000"/>
              </a:lnSpc>
              <a:buNone/>
            </a:pPr>
            <a:endParaRPr lang="en-US" sz="1150" dirty="0"/>
          </a:p>
        </p:txBody>
      </p:sp>
      <p:sp>
        <p:nvSpPr>
          <p:cNvPr id="34" name="Shape 31"/>
          <p:cNvSpPr/>
          <p:nvPr/>
        </p:nvSpPr>
        <p:spPr>
          <a:xfrm>
            <a:off x="10047812" y="3566160"/>
            <a:ext cx="1528492" cy="777240"/>
          </a:xfrm>
          <a:prstGeom prst="roundRect">
            <a:avLst>
              <a:gd name="adj" fmla="val 8235"/>
            </a:avLst>
          </a:prstGeom>
          <a:solidFill>
            <a:srgbClr val="141E33"/>
          </a:solidFill>
          <a:ln/>
          <a:effectLst>
            <a:outerShdw sx="100000" sy="100000" kx="0" ky="0" algn="bl" rotWithShape="0" blurRad="114300" dist="38100" dir="5400000">
              <a:srgbClr val="000000">
                <a:alpha val="45000"/>
              </a:srgbClr>
            </a:outerShdw>
          </a:effectLst>
        </p:spPr>
      </p:sp>
      <p:sp>
        <p:nvSpPr>
          <p:cNvPr id="35" name="Text 32"/>
          <p:cNvSpPr/>
          <p:nvPr/>
        </p:nvSpPr>
        <p:spPr>
          <a:xfrm>
            <a:off x="10047812" y="3566160"/>
            <a:ext cx="1528492" cy="777240"/>
          </a:xfrm>
          <a:prstGeom prst="rect">
            <a:avLst/>
          </a:prstGeom>
          <a:noFill/>
          <a:ln/>
        </p:spPr>
        <p:txBody>
          <a:bodyPr wrap="square" lIns="508" tIns="508" rIns="508" bIns="508" rtlCol="0" anchor="ctr"/>
          <a:lstStyle/>
          <a:p>
            <a:pPr algn="ctr" indent="0" marL="0">
              <a:lnSpc>
                <a:spcPct val="95000"/>
              </a:lnSpc>
              <a:buNone/>
            </a:pPr>
            <a:r>
              <a:rPr lang="en-US" sz="1150" b="1" dirty="0">
                <a:solidFill>
                  <a:srgbClr val="F1F5F9"/>
                </a:solidFill>
                <a:latin typeface="Calibri" pitchFamily="34" charset="0"/>
                <a:ea typeface="Calibri" pitchFamily="34" charset="-122"/>
                <a:cs typeface="Calibri" pitchFamily="34" charset="-120"/>
              </a:rPr>
              <a:t>Freeze · README · submit
</a:t>
            </a:r>
            <a:pPr algn="ctr" indent="0" marL="0">
              <a:lnSpc>
                <a:spcPct val="95000"/>
              </a:lnSpc>
              <a:buNone/>
            </a:pPr>
            <a:r>
              <a:rPr lang="en-US" sz="1000" dirty="0">
                <a:solidFill>
                  <a:srgbClr val="7C8CA5"/>
                </a:solidFill>
                <a:latin typeface="Consolas" pitchFamily="34" charset="0"/>
                <a:ea typeface="Consolas" pitchFamily="34" charset="-122"/>
                <a:cs typeface="Consolas" pitchFamily="34" charset="-120"/>
              </a:rPr>
              <a:t>buffer</a:t>
            </a:r>
            <a:endParaRPr lang="en-US" sz="1150" dirty="0"/>
          </a:p>
        </p:txBody>
      </p:sp>
      <p:sp>
        <p:nvSpPr>
          <p:cNvPr id="36" name="Shape 33"/>
          <p:cNvSpPr/>
          <p:nvPr/>
        </p:nvSpPr>
        <p:spPr>
          <a:xfrm>
            <a:off x="548640" y="4709160"/>
            <a:ext cx="11091672" cy="914400"/>
          </a:xfrm>
          <a:prstGeom prst="roundRect">
            <a:avLst>
              <a:gd name="adj" fmla="val 9000"/>
            </a:avLst>
          </a:prstGeom>
          <a:solidFill>
            <a:srgbClr val="1B2842"/>
          </a:solidFill>
          <a:ln/>
          <a:effectLst>
            <a:outerShdw sx="100000" sy="100000" kx="0" ky="0" algn="bl" rotWithShape="0" blurRad="114300" dist="38100" dir="5400000">
              <a:srgbClr val="000000">
                <a:alpha val="45000"/>
              </a:srgbClr>
            </a:outerShdw>
          </a:effectLst>
        </p:spPr>
      </p:sp>
      <p:sp>
        <p:nvSpPr>
          <p:cNvPr id="37" name="Shape 34"/>
          <p:cNvSpPr/>
          <p:nvPr/>
        </p:nvSpPr>
        <p:spPr>
          <a:xfrm>
            <a:off x="868680" y="4882896"/>
            <a:ext cx="566928" cy="566928"/>
          </a:xfrm>
          <a:prstGeom prst="ellipse">
            <a:avLst/>
          </a:prstGeom>
          <a:solidFill>
            <a:srgbClr val="141E33"/>
          </a:solidFill>
          <a:ln/>
        </p:spPr>
      </p:sp>
      <p:pic>
        <p:nvPicPr>
          <p:cNvPr id="38" name="Image 0" descr="C:\Users\User\AppData\Local\Temp\claude\C--Users-User-OneDrive-Music-Hackathon\67e3d9e6-0718-4380-8c09-13d83fcd8fa7\scratchpad\pptbuild\v2\assets\icons\flag-lime.png">    </p:cNvPr>
          <p:cNvPicPr>
            <a:picLocks noChangeAspect="1"/>
          </p:cNvPicPr>
          <p:nvPr/>
        </p:nvPicPr>
        <p:blipFill>
          <a:blip r:embed="rId1"/>
          <a:stretch>
            <a:fillRect/>
          </a:stretch>
        </p:blipFill>
        <p:spPr>
          <a:xfrm>
            <a:off x="1004743" y="5018959"/>
            <a:ext cx="294803" cy="294803"/>
          </a:xfrm>
          <a:prstGeom prst="rect">
            <a:avLst/>
          </a:prstGeom>
        </p:spPr>
      </p:pic>
      <p:sp>
        <p:nvSpPr>
          <p:cNvPr id="39" name="Text 35"/>
          <p:cNvSpPr/>
          <p:nvPr/>
        </p:nvSpPr>
        <p:spPr>
          <a:xfrm>
            <a:off x="1600200" y="4709160"/>
            <a:ext cx="9784080" cy="914400"/>
          </a:xfrm>
          <a:prstGeom prst="rect">
            <a:avLst/>
          </a:prstGeom>
          <a:noFill/>
          <a:ln/>
        </p:spPr>
        <p:txBody>
          <a:bodyPr wrap="square" lIns="0" tIns="0" rIns="0" bIns="0" rtlCol="0" anchor="ctr"/>
          <a:lstStyle/>
          <a:p>
            <a:pPr indent="0" marL="0">
              <a:buNone/>
            </a:pPr>
            <a:r>
              <a:rPr lang="en-US" sz="1600" b="1" dirty="0">
                <a:solidFill>
                  <a:srgbClr val="A3E635"/>
                </a:solidFill>
                <a:latin typeface="Calibri" pitchFamily="34" charset="0"/>
                <a:ea typeface="Calibri" pitchFamily="34" charset="-122"/>
                <a:cs typeface="Calibri" pitchFamily="34" charset="-120"/>
              </a:rPr>
              <a:t>FEATURE FREEZE at ~80% of time — </a:t>
            </a:r>
            <a:pPr indent="0" marL="0">
              <a:buNone/>
            </a:pPr>
            <a:r>
              <a:rPr lang="en-US" sz="1600" dirty="0">
                <a:solidFill>
                  <a:srgbClr val="F1F5F9"/>
                </a:solidFill>
                <a:latin typeface="Calibri" pitchFamily="34" charset="0"/>
                <a:ea typeface="Calibri" pitchFamily="34" charset="-122"/>
                <a:cs typeface="Calibri" pitchFamily="34" charset="-120"/>
              </a:rPr>
              <a:t>after that: only fix, deploy, document, rehearse the demo.</a:t>
            </a:r>
            <a:endParaRPr lang="en-US" sz="1600" dirty="0"/>
          </a:p>
        </p:txBody>
      </p:sp>
      <p:sp>
        <p:nvSpPr>
          <p:cNvPr id="40" name="Text 36"/>
          <p:cNvSpPr/>
          <p:nvPr/>
        </p:nvSpPr>
        <p:spPr>
          <a:xfrm>
            <a:off x="548640" y="5806440"/>
            <a:ext cx="11091672" cy="320040"/>
          </a:xfrm>
          <a:prstGeom prst="rect">
            <a:avLst/>
          </a:prstGeom>
          <a:noFill/>
          <a:ln/>
        </p:spPr>
        <p:txBody>
          <a:bodyPr wrap="square" lIns="0" tIns="0" rIns="0" bIns="0" rtlCol="0" anchor="ctr"/>
          <a:lstStyle/>
          <a:p>
            <a:pPr algn="ctr" indent="0" marL="0">
              <a:buNone/>
            </a:pPr>
            <a:r>
              <a:rPr lang="en-US" sz="1350" i="1" dirty="0">
                <a:solidFill>
                  <a:srgbClr val="7C8CA5"/>
                </a:solidFill>
                <a:latin typeface="Calibri" pitchFamily="34" charset="0"/>
                <a:ea typeface="Calibri" pitchFamily="34" charset="-122"/>
                <a:cs typeface="Calibri" pitchFamily="34" charset="-120"/>
              </a:rPr>
              <a:t>Sleep is a strategy — one hour prevents the 3 AM disaster.</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04 — TECH STACK SELECTION</a:t>
            </a:r>
            <a:endParaRPr lang="en-US" sz="1300" dirty="0"/>
          </a:p>
        </p:txBody>
      </p:sp>
      <p:sp>
        <p:nvSpPr>
          <p:cNvPr id="3" name="Text 1"/>
          <p:cNvSpPr/>
          <p:nvPr/>
        </p:nvSpPr>
        <p:spPr>
          <a:xfrm>
            <a:off x="548640" y="1828800"/>
            <a:ext cx="11091672" cy="320040"/>
          </a:xfrm>
          <a:prstGeom prst="rect">
            <a:avLst/>
          </a:prstGeom>
          <a:noFill/>
          <a:ln/>
        </p:spPr>
        <p:txBody>
          <a:bodyPr wrap="square" lIns="0" tIns="0" rIns="0" bIns="0" rtlCol="0" anchor="ctr"/>
          <a:lstStyle/>
          <a:p>
            <a:pPr algn="ctr" indent="0" marL="0">
              <a:buNone/>
            </a:pPr>
            <a:r>
              <a:rPr lang="en-US" sz="1400" spc="400" kern="0" dirty="0">
                <a:solidFill>
                  <a:srgbClr val="7C8CA5"/>
                </a:solidFill>
                <a:latin typeface="Consolas" pitchFamily="34" charset="0"/>
                <a:ea typeface="Consolas" pitchFamily="34" charset="-122"/>
                <a:cs typeface="Consolas" pitchFamily="34" charset="-120"/>
              </a:rPr>
              <a:t>STACK = FRONT-END · BACK-END · DATABASE · AUTH · HOSTING · APIS / AI</a:t>
            </a:r>
            <a:endParaRPr lang="en-US" sz="1400" dirty="0"/>
          </a:p>
        </p:txBody>
      </p:sp>
      <p:sp>
        <p:nvSpPr>
          <p:cNvPr id="4" name="Text 2"/>
          <p:cNvSpPr/>
          <p:nvPr/>
        </p:nvSpPr>
        <p:spPr>
          <a:xfrm>
            <a:off x="548640" y="2194560"/>
            <a:ext cx="11091672" cy="2011680"/>
          </a:xfrm>
          <a:prstGeom prst="rect">
            <a:avLst/>
          </a:prstGeom>
          <a:noFill/>
          <a:ln/>
        </p:spPr>
        <p:txBody>
          <a:bodyPr wrap="square" lIns="0" tIns="0" rIns="0" bIns="0" rtlCol="0" anchor="ctr"/>
          <a:lstStyle/>
          <a:p>
            <a:pPr algn="ctr" indent="0" marL="0">
              <a:buNone/>
            </a:pPr>
            <a:r>
              <a:rPr lang="en-US" sz="4400" dirty="0">
                <a:solidFill>
                  <a:srgbClr val="FFFFFF"/>
                </a:solidFill>
                <a:latin typeface="Arial Black" pitchFamily="34" charset="0"/>
                <a:ea typeface="Arial Black" pitchFamily="34" charset="-122"/>
                <a:cs typeface="Arial Black" pitchFamily="34" charset="-120"/>
              </a:rPr>
              <a:t>Choose what your team</a:t>
            </a:r>
            <a:endParaRPr lang="en-US" sz="4400" dirty="0"/>
          </a:p>
          <a:p>
            <a:pPr algn="ctr" indent="0" marL="0">
              <a:buNone/>
            </a:pPr>
            <a:r>
              <a:rPr lang="en-US" sz="4400" dirty="0">
                <a:solidFill>
                  <a:srgbClr val="FFFFFF"/>
                </a:solidFill>
                <a:latin typeface="Arial Black" pitchFamily="34" charset="0"/>
                <a:ea typeface="Arial Black" pitchFamily="34" charset="-122"/>
                <a:cs typeface="Arial Black" pitchFamily="34" charset="-120"/>
              </a:rPr>
              <a:t>builds fastest tonight.</a:t>
            </a:r>
            <a:endParaRPr lang="en-US" sz="4400" dirty="0"/>
          </a:p>
        </p:txBody>
      </p:sp>
      <p:sp>
        <p:nvSpPr>
          <p:cNvPr id="5" name="Text 3"/>
          <p:cNvSpPr/>
          <p:nvPr/>
        </p:nvSpPr>
        <p:spPr>
          <a:xfrm>
            <a:off x="1463040" y="4389120"/>
            <a:ext cx="9262872" cy="822960"/>
          </a:xfrm>
          <a:prstGeom prst="rect">
            <a:avLst/>
          </a:prstGeom>
          <a:noFill/>
          <a:ln/>
        </p:spPr>
        <p:txBody>
          <a:bodyPr wrap="square" lIns="0" tIns="0" rIns="0" bIns="0" rtlCol="0" anchor="t"/>
          <a:lstStyle/>
          <a:p>
            <a:pPr algn="ctr" indent="0" marL="0">
              <a:buNone/>
            </a:pPr>
            <a:r>
              <a:rPr lang="en-US" sz="1800" dirty="0">
                <a:solidFill>
                  <a:srgbClr val="F1F5F9"/>
                </a:solidFill>
                <a:latin typeface="Calibri" pitchFamily="34" charset="0"/>
                <a:ea typeface="Calibri" pitchFamily="34" charset="-122"/>
                <a:cs typeface="Calibri" pitchFamily="34" charset="-120"/>
              </a:rPr>
              <a:t>Optimize for development speed and finishing — not hypothetical scale.</a:t>
            </a:r>
            <a:endParaRPr lang="en-US" sz="1800" dirty="0"/>
          </a:p>
          <a:p>
            <a:pPr algn="ctr" indent="0" marL="0">
              <a:buNone/>
            </a:pPr>
            <a:r>
              <a:rPr lang="en-US" sz="1800" dirty="0">
                <a:solidFill>
                  <a:srgbClr val="F1F5F9"/>
                </a:solidFill>
                <a:latin typeface="Calibri" pitchFamily="34" charset="0"/>
                <a:ea typeface="Calibri" pitchFamily="34" charset="-122"/>
                <a:cs typeface="Calibri" pitchFamily="34" charset="-120"/>
              </a:rPr>
              <a:t>Familiarity beats “better-but-unknown”: a tool you know beats a superior tool you must learn.</a:t>
            </a:r>
            <a:endParaRPr lang="en-US" sz="1800" dirty="0"/>
          </a:p>
        </p:txBody>
      </p:sp>
      <p:sp>
        <p:nvSpPr>
          <p:cNvPr id="6" name="Text 4"/>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Front-End &amp; Back-End Choices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23</a:t>
            </a:r>
            <a:endParaRPr lang="en-US" sz="1000" dirty="0"/>
          </a:p>
        </p:txBody>
      </p:sp>
      <p:sp>
        <p:nvSpPr>
          <p:cNvPr id="5" name="Text 2"/>
          <p:cNvSpPr/>
          <p:nvPr/>
        </p:nvSpPr>
        <p:spPr>
          <a:xfrm>
            <a:off x="548640" y="132588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FRONT-END — WHAT USERS SEE</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394960" cy="914400"/>
        </p:xfrm>
        <a:graphic>
          <a:graphicData uri="http://schemas.openxmlformats.org/drawingml/2006/table">
            <a:tbl>
              <a:tblPr/>
              <a:tblGrid>
                <a:gridCol w="1965960"/>
                <a:gridCol w="3429000"/>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React</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Most web apps — default if known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Next.js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Full-stack in one, easy deploy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Vue / Svelte</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Beginner-friendly · snappy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HTML/CSS/JS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Zero-setup simple demos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No-code</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Fastest non-core UI</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7" name="Text 3"/>
          <p:cNvSpPr/>
          <p:nvPr/>
        </p:nvSpPr>
        <p:spPr>
          <a:xfrm>
            <a:off x="6263640" y="132588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BACK-END — LOGIC + APIS</a:t>
            </a:r>
            <a:endParaRPr lang="en-US" sz="14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63640" y="1691640"/>
          <a:ext cx="5376672" cy="914400"/>
        </p:xfrm>
        <a:graphic>
          <a:graphicData uri="http://schemas.openxmlformats.org/drawingml/2006/table">
            <a:tbl>
              <a:tblPr/>
              <a:tblGrid>
                <a:gridCol w="2286000"/>
                <a:gridCol w="3090672"/>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Node + Express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JS teams · web/AI backends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Next.js API routes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Full-stack JS on Vercel</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FastAPI / Flask</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AI · ML · Python services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Firebase (BaaS)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Skip backend plumbing</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Supabase (BaaS)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Postgres + auth + storage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9" name="Shape 4"/>
          <p:cNvSpPr/>
          <p:nvPr/>
        </p:nvSpPr>
        <p:spPr>
          <a:xfrm>
            <a:off x="548640" y="5120640"/>
            <a:ext cx="11091672" cy="868680"/>
          </a:xfrm>
          <a:prstGeom prst="roundRect">
            <a:avLst>
              <a:gd name="adj" fmla="val 9474"/>
            </a:avLst>
          </a:prstGeom>
          <a:solidFill>
            <a:srgbClr val="1B2842"/>
          </a:solidFill>
          <a:ln/>
          <a:effectLst>
            <a:outerShdw sx="100000" sy="100000" kx="0" ky="0" algn="bl" rotWithShape="0" blurRad="114300" dist="38100" dir="5400000">
              <a:srgbClr val="000000">
                <a:alpha val="45000"/>
              </a:srgbClr>
            </a:outerShdw>
          </a:effectLst>
        </p:spPr>
      </p:sp>
      <p:sp>
        <p:nvSpPr>
          <p:cNvPr id="10" name="Text 5"/>
          <p:cNvSpPr/>
          <p:nvPr/>
        </p:nvSpPr>
        <p:spPr>
          <a:xfrm>
            <a:off x="914400" y="5120640"/>
            <a:ext cx="10332720" cy="868680"/>
          </a:xfrm>
          <a:prstGeom prst="rect">
            <a:avLst/>
          </a:prstGeom>
          <a:noFill/>
          <a:ln/>
        </p:spPr>
        <p:txBody>
          <a:bodyPr wrap="square" lIns="0" tIns="0" rIns="0" bIns="0" rtlCol="0" anchor="ctr"/>
          <a:lstStyle/>
          <a:p>
            <a:pPr indent="0" marL="0">
              <a:buNone/>
            </a:pPr>
            <a:r>
              <a:rPr lang="en-US" sz="1500" b="1" dirty="0">
                <a:solidFill>
                  <a:srgbClr val="22D3EE"/>
                </a:solidFill>
                <a:latin typeface="Consolas" pitchFamily="34" charset="0"/>
                <a:ea typeface="Consolas" pitchFamily="34" charset="-122"/>
                <a:cs typeface="Consolas" pitchFamily="34" charset="-120"/>
              </a:rPr>
              <a:t>defaults  </a:t>
            </a:r>
            <a:pPr indent="0" marL="0">
              <a:buNone/>
            </a:pPr>
            <a:r>
              <a:rPr lang="en-US" sz="1500" dirty="0">
                <a:solidFill>
                  <a:srgbClr val="F1F5F9"/>
                </a:solidFill>
                <a:latin typeface="Calibri" pitchFamily="34" charset="0"/>
                <a:ea typeface="Calibri" pitchFamily="34" charset="-122"/>
                <a:cs typeface="Calibri" pitchFamily="34" charset="-120"/>
              </a:rPr>
              <a:t>JS team → React/Next.js  ·  AI/Python → FastAPI  ·  minimal backend → BaaS (hosted DB + auth + storage)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Mobile &amp; Databases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24</a:t>
            </a:r>
            <a:endParaRPr lang="en-US" sz="1000" dirty="0"/>
          </a:p>
        </p:txBody>
      </p:sp>
      <p:sp>
        <p:nvSpPr>
          <p:cNvPr id="5" name="Text 2"/>
          <p:cNvSpPr/>
          <p:nvPr/>
        </p:nvSpPr>
        <p:spPr>
          <a:xfrm>
            <a:off x="548640" y="132588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MOBILE</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394960" cy="914400"/>
        </p:xfrm>
        <a:graphic>
          <a:graphicData uri="http://schemas.openxmlformats.org/drawingml/2006/table">
            <a:tbl>
              <a:tblPr/>
              <a:tblGrid>
                <a:gridCol w="2377440"/>
                <a:gridCol w="3017520"/>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React Native + Expo</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One codebase · QR preview</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Flutter</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Fast, beautiful UI (Dart)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PWA</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 website that installs like an app</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7" name="Shape 3"/>
          <p:cNvSpPr/>
          <p:nvPr/>
        </p:nvSpPr>
        <p:spPr>
          <a:xfrm>
            <a:off x="548640" y="3977640"/>
            <a:ext cx="5394960" cy="1737360"/>
          </a:xfrm>
          <a:prstGeom prst="roundRect">
            <a:avLst>
              <a:gd name="adj" fmla="val 4737"/>
            </a:avLst>
          </a:prstGeom>
          <a:solidFill>
            <a:srgbClr val="141E33"/>
          </a:solidFill>
          <a:ln/>
          <a:effectLst>
            <a:outerShdw sx="100000" sy="100000" kx="0" ky="0" algn="bl" rotWithShape="0" blurRad="114300" dist="38100" dir="5400000">
              <a:srgbClr val="000000">
                <a:alpha val="45000"/>
              </a:srgbClr>
            </a:outerShdw>
          </a:effectLst>
        </p:spPr>
      </p:sp>
      <p:sp>
        <p:nvSpPr>
          <p:cNvPr id="8" name="Shape 4"/>
          <p:cNvSpPr/>
          <p:nvPr/>
        </p:nvSpPr>
        <p:spPr>
          <a:xfrm>
            <a:off x="841248" y="4251960"/>
            <a:ext cx="548640" cy="548640"/>
          </a:xfrm>
          <a:prstGeom prst="ellipse">
            <a:avLst/>
          </a:prstGeom>
          <a:solidFill>
            <a:srgbClr val="1B2842"/>
          </a:solidFill>
          <a:ln/>
        </p:spPr>
      </p:sp>
      <p:pic>
        <p:nvPicPr>
          <p:cNvPr id="9" name="Image 0" descr="C:\Users\User\AppData\Local\Temp\claude\C--Users-User-OneDrive-Music-Hackathon\67e3d9e6-0718-4380-8c09-13d83fcd8fa7\scratchpad\pptbuild\v2\assets\icons\lightbulb-cyan.png">    </p:cNvPr>
          <p:cNvPicPr>
            <a:picLocks noChangeAspect="1"/>
          </p:cNvPicPr>
          <p:nvPr/>
        </p:nvPicPr>
        <p:blipFill>
          <a:blip r:embed="rId1"/>
          <a:stretch>
            <a:fillRect/>
          </a:stretch>
        </p:blipFill>
        <p:spPr>
          <a:xfrm>
            <a:off x="972922" y="4383634"/>
            <a:ext cx="285293" cy="285293"/>
          </a:xfrm>
          <a:prstGeom prst="rect">
            <a:avLst/>
          </a:prstGeom>
        </p:spPr>
      </p:pic>
      <p:sp>
        <p:nvSpPr>
          <p:cNvPr id="10" name="Text 5"/>
          <p:cNvSpPr/>
          <p:nvPr/>
        </p:nvSpPr>
        <p:spPr>
          <a:xfrm>
            <a:off x="1572768" y="4114800"/>
            <a:ext cx="4206240" cy="1463040"/>
          </a:xfrm>
          <a:prstGeom prst="rect">
            <a:avLst/>
          </a:prstGeom>
          <a:noFill/>
          <a:ln/>
        </p:spPr>
        <p:txBody>
          <a:bodyPr wrap="square" lIns="0" tIns="0" rIns="0" bIns="0" rtlCol="0" anchor="t"/>
          <a:lstStyle/>
          <a:p>
            <a:pPr indent="0" marL="0">
              <a:spcAft>
                <a:spcPts val="500"/>
              </a:spcAft>
              <a:buNone/>
            </a:pPr>
            <a:r>
              <a:rPr lang="en-US" sz="1550" b="1" dirty="0">
                <a:solidFill>
                  <a:srgbClr val="22D3EE"/>
                </a:solidFill>
                <a:latin typeface="Calibri" pitchFamily="34" charset="0"/>
                <a:ea typeface="Calibri" pitchFamily="34" charset="-122"/>
                <a:cs typeface="Calibri" pitchFamily="34" charset="-120"/>
              </a:rPr>
              <a:t>No camera or sensors needed?</a:t>
            </a:r>
            <a:endParaRPr lang="en-US" sz="1550" dirty="0"/>
          </a:p>
          <a:p>
            <a:pPr indent="0" marL="0">
              <a:buNone/>
            </a:pPr>
            <a:r>
              <a:rPr lang="en-US" sz="1450" dirty="0">
                <a:solidFill>
                  <a:srgbClr val="F1F5F9"/>
                </a:solidFill>
                <a:latin typeface="Calibri" pitchFamily="34" charset="0"/>
                <a:ea typeface="Calibri" pitchFamily="34" charset="-122"/>
                <a:cs typeface="Calibri" pitchFamily="34" charset="-120"/>
              </a:rPr>
              <a:t>A responsive web app or PWA is faster — judges just open a link.</a:t>
            </a:r>
            <a:endParaRPr lang="en-US" sz="1550" dirty="0"/>
          </a:p>
        </p:txBody>
      </p:sp>
      <p:sp>
        <p:nvSpPr>
          <p:cNvPr id="11" name="Text 6"/>
          <p:cNvSpPr/>
          <p:nvPr/>
        </p:nvSpPr>
        <p:spPr>
          <a:xfrm>
            <a:off x="6263640" y="132588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DATABASE — PICK BY NEED</a:t>
            </a:r>
            <a:endParaRPr lang="en-US" sz="14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63640" y="1691640"/>
          <a:ext cx="5376672" cy="914400"/>
        </p:xfrm>
        <a:graphic>
          <a:graphicData uri="http://schemas.openxmlformats.org/drawingml/2006/table">
            <a:tbl>
              <a:tblPr/>
              <a:tblGrid>
                <a:gridCol w="2697480"/>
                <a:gridCol w="2679192"/>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You need…</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Pick</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Structured + relations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PostgreSQL / MySQL</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Zero-setup / tiny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SQLite — a file!</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Flexible, fast-moving</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MongoDB</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Realtime, no backend</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Firebase Firestore</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SQL + BaaS comfort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Supabase (Postgres)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13" name="Text 7"/>
          <p:cNvSpPr/>
          <p:nvPr/>
        </p:nvSpPr>
        <p:spPr>
          <a:xfrm>
            <a:off x="6263640" y="5120640"/>
            <a:ext cx="5394960" cy="64008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SQL </a:t>
            </a:r>
            <a:pPr indent="0" marL="0">
              <a:buNone/>
            </a:pPr>
            <a:r>
              <a:rPr lang="en-US" sz="1400" dirty="0">
                <a:solidFill>
                  <a:srgbClr val="F1F5F9"/>
                </a:solidFill>
                <a:latin typeface="Calibri" pitchFamily="34" charset="0"/>
                <a:ea typeface="Calibri" pitchFamily="34" charset="-122"/>
                <a:cs typeface="Calibri" pitchFamily="34" charset="-120"/>
              </a:rPr>
              <a:t>= tables + enforced relations   ·   </a:t>
            </a:r>
            <a:pPr indent="0" marL="0">
              <a:buNone/>
            </a:pPr>
            <a:r>
              <a:rPr lang="en-US" sz="1400" b="1" dirty="0">
                <a:solidFill>
                  <a:srgbClr val="22D3EE"/>
                </a:solidFill>
                <a:latin typeface="Calibri" pitchFamily="34" charset="0"/>
                <a:ea typeface="Calibri" pitchFamily="34" charset="-122"/>
                <a:cs typeface="Calibri" pitchFamily="34" charset="-120"/>
              </a:rPr>
              <a:t>NoSQL </a:t>
            </a:r>
            <a:pPr indent="0" marL="0">
              <a:buNone/>
            </a:pPr>
            <a:r>
              <a:rPr lang="en-US" sz="1400" dirty="0">
                <a:solidFill>
                  <a:srgbClr val="F1F5F9"/>
                </a:solidFill>
                <a:latin typeface="Calibri" pitchFamily="34" charset="0"/>
                <a:ea typeface="Calibri" pitchFamily="34" charset="-122"/>
                <a:cs typeface="Calibri" pitchFamily="34" charset="-120"/>
              </a:rPr>
              <a:t>= flexible documents, fast iteration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Auth · Hosting · APIs &amp; SDKs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25</a:t>
            </a:r>
            <a:endParaRPr lang="en-US" sz="1000" dirty="0"/>
          </a:p>
        </p:txBody>
      </p:sp>
      <p:sp>
        <p:nvSpPr>
          <p:cNvPr id="5" name="Text 2"/>
          <p:cNvSpPr/>
          <p:nvPr/>
        </p:nvSpPr>
        <p:spPr>
          <a:xfrm>
            <a:off x="548640" y="1371600"/>
            <a:ext cx="347472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AUTH — DON'T BUILD IT</a:t>
            </a:r>
            <a:endParaRPr lang="en-US" sz="1400" dirty="0"/>
          </a:p>
        </p:txBody>
      </p:sp>
      <p:sp>
        <p:nvSpPr>
          <p:cNvPr id="6" name="Shape 3"/>
          <p:cNvSpPr/>
          <p:nvPr/>
        </p:nvSpPr>
        <p:spPr>
          <a:xfrm>
            <a:off x="548640" y="1783080"/>
            <a:ext cx="566928" cy="566928"/>
          </a:xfrm>
          <a:prstGeom prst="ellipse">
            <a:avLst/>
          </a:prstGeom>
          <a:solidFill>
            <a:srgbClr val="1B2842"/>
          </a:solidFill>
          <a:ln/>
        </p:spPr>
      </p:sp>
      <p:pic>
        <p:nvPicPr>
          <p:cNvPr id="7" name="Image 0" descr="C:\Users\User\AppData\Local\Temp\claude\C--Users-User-OneDrive-Music-Hackathon\67e3d9e6-0718-4380-8c09-13d83fcd8fa7\scratchpad\pptbuild\v2\assets\icons\key-cyan.png">    </p:cNvPr>
          <p:cNvPicPr>
            <a:picLocks noChangeAspect="1"/>
          </p:cNvPicPr>
          <p:nvPr/>
        </p:nvPicPr>
        <p:blipFill>
          <a:blip r:embed="rId1"/>
          <a:stretch>
            <a:fillRect/>
          </a:stretch>
        </p:blipFill>
        <p:spPr>
          <a:xfrm>
            <a:off x="684703" y="1919143"/>
            <a:ext cx="294803" cy="294803"/>
          </a:xfrm>
          <a:prstGeom prst="rect">
            <a:avLst/>
          </a:prstGeom>
        </p:spPr>
      </p:pic>
      <p:sp>
        <p:nvSpPr>
          <p:cNvPr id="8" name="Text 4"/>
          <p:cNvSpPr/>
          <p:nvPr/>
        </p:nvSpPr>
        <p:spPr>
          <a:xfrm>
            <a:off x="1280160" y="1737360"/>
            <a:ext cx="2880360" cy="822960"/>
          </a:xfrm>
          <a:prstGeom prst="rect">
            <a:avLst/>
          </a:prstGeom>
          <a:noFill/>
          <a:ln/>
        </p:spPr>
        <p:txBody>
          <a:bodyPr wrap="square" lIns="0" tIns="0" rIns="0" bIns="0" rtlCol="0" anchor="ctr"/>
          <a:lstStyle/>
          <a:p>
            <a:pPr indent="0" marL="0">
              <a:lnSpc>
                <a:spcPct val="115000"/>
              </a:lnSpc>
              <a:buNone/>
            </a:pPr>
            <a:r>
              <a:rPr lang="en-US" sz="1450" b="1" dirty="0">
                <a:solidFill>
                  <a:srgbClr val="22D3EE"/>
                </a:solidFill>
                <a:latin typeface="Calibri" pitchFamily="34" charset="0"/>
                <a:ea typeface="Calibri" pitchFamily="34" charset="-122"/>
                <a:cs typeface="Calibri" pitchFamily="34" charset="-120"/>
              </a:rPr>
              <a:t>authN </a:t>
            </a:r>
            <a:pPr indent="0" marL="0">
              <a:lnSpc>
                <a:spcPct val="115000"/>
              </a:lnSpc>
              <a:buNone/>
            </a:pPr>
            <a:r>
              <a:rPr lang="en-US" sz="1450" dirty="0">
                <a:solidFill>
                  <a:srgbClr val="F1F5F9"/>
                </a:solidFill>
                <a:latin typeface="Calibri" pitchFamily="34" charset="0"/>
                <a:ea typeface="Calibri" pitchFamily="34" charset="-122"/>
                <a:cs typeface="Calibri" pitchFamily="34" charset="-120"/>
              </a:rPr>
              <a:t>who are you? (login)
</a:t>
            </a:r>
            <a:pPr indent="0" marL="0">
              <a:lnSpc>
                <a:spcPct val="115000"/>
              </a:lnSpc>
              <a:buNone/>
            </a:pPr>
            <a:r>
              <a:rPr lang="en-US" sz="1450" b="1" dirty="0">
                <a:solidFill>
                  <a:srgbClr val="22D3EE"/>
                </a:solidFill>
                <a:latin typeface="Calibri" pitchFamily="34" charset="0"/>
                <a:ea typeface="Calibri" pitchFamily="34" charset="-122"/>
                <a:cs typeface="Calibri" pitchFamily="34" charset="-120"/>
              </a:rPr>
              <a:t>authZ </a:t>
            </a:r>
            <a:pPr indent="0" marL="0">
              <a:lnSpc>
                <a:spcPct val="115000"/>
              </a:lnSpc>
              <a:buNone/>
            </a:pPr>
            <a:r>
              <a:rPr lang="en-US" sz="1450" dirty="0">
                <a:solidFill>
                  <a:srgbClr val="F1F5F9"/>
                </a:solidFill>
                <a:latin typeface="Calibri" pitchFamily="34" charset="0"/>
                <a:ea typeface="Calibri" pitchFamily="34" charset="-122"/>
                <a:cs typeface="Calibri" pitchFamily="34" charset="-120"/>
              </a:rPr>
              <a:t>what may you do?</a:t>
            </a:r>
            <a:endParaRPr lang="en-US" sz="1450" dirty="0"/>
          </a:p>
        </p:txBody>
      </p:sp>
      <p:sp>
        <p:nvSpPr>
          <p:cNvPr id="9" name="Shape 5"/>
          <p:cNvSpPr/>
          <p:nvPr/>
        </p:nvSpPr>
        <p:spPr>
          <a:xfrm>
            <a:off x="548640" y="2788920"/>
            <a:ext cx="3611880" cy="1371600"/>
          </a:xfrm>
          <a:prstGeom prst="roundRect">
            <a:avLst>
              <a:gd name="adj" fmla="val 6000"/>
            </a:avLst>
          </a:prstGeom>
          <a:solidFill>
            <a:srgbClr val="141E33"/>
          </a:solidFill>
          <a:ln/>
          <a:effectLst>
            <a:outerShdw sx="100000" sy="100000" kx="0" ky="0" algn="bl" rotWithShape="0" blurRad="114300" dist="38100" dir="5400000">
              <a:srgbClr val="000000">
                <a:alpha val="45000"/>
              </a:srgbClr>
            </a:outerShdw>
          </a:effectLst>
        </p:spPr>
      </p:sp>
      <p:sp>
        <p:nvSpPr>
          <p:cNvPr id="10" name="Text 6"/>
          <p:cNvSpPr/>
          <p:nvPr/>
        </p:nvSpPr>
        <p:spPr>
          <a:xfrm>
            <a:off x="777240" y="2788920"/>
            <a:ext cx="3200400" cy="1371600"/>
          </a:xfrm>
          <a:prstGeom prst="rect">
            <a:avLst/>
          </a:prstGeom>
          <a:noFill/>
          <a:ln/>
        </p:spPr>
        <p:txBody>
          <a:bodyPr wrap="square" lIns="0" tIns="0" rIns="0" bIns="0" rtlCol="0" anchor="ctr"/>
          <a:lstStyle/>
          <a:p>
            <a:pPr indent="0" marL="0">
              <a:lnSpc>
                <a:spcPct val="115000"/>
              </a:lnSpc>
              <a:buNone/>
            </a:pPr>
            <a:r>
              <a:rPr lang="en-US" sz="1450" b="1" dirty="0">
                <a:solidFill>
                  <a:srgbClr val="F1F5F9"/>
                </a:solidFill>
                <a:latin typeface="Calibri" pitchFamily="34" charset="0"/>
                <a:ea typeface="Calibri" pitchFamily="34" charset="-122"/>
                <a:cs typeface="Calibri" pitchFamily="34" charset="-120"/>
              </a:rPr>
              <a:t>Use a provider:
</a:t>
            </a:r>
            <a:pPr indent="0" marL="0">
              <a:lnSpc>
                <a:spcPct val="115000"/>
              </a:lnSpc>
              <a:buNone/>
            </a:pPr>
            <a:r>
              <a:rPr lang="en-US" sz="1300" dirty="0">
                <a:solidFill>
                  <a:srgbClr val="22D3EE"/>
                </a:solidFill>
                <a:latin typeface="Consolas" pitchFamily="34" charset="0"/>
                <a:ea typeface="Consolas" pitchFamily="34" charset="-122"/>
                <a:cs typeface="Consolas" pitchFamily="34" charset="-120"/>
              </a:rPr>
              <a:t>Firebase · Supabase · Auth0 · Clerk · NextAuth</a:t>
            </a:r>
            <a:endParaRPr lang="en-US" sz="1450" dirty="0"/>
          </a:p>
        </p:txBody>
      </p:sp>
      <p:sp>
        <p:nvSpPr>
          <p:cNvPr id="11" name="Text 7"/>
          <p:cNvSpPr/>
          <p:nvPr/>
        </p:nvSpPr>
        <p:spPr>
          <a:xfrm>
            <a:off x="548640" y="4297680"/>
            <a:ext cx="3566160" cy="365760"/>
          </a:xfrm>
          <a:prstGeom prst="rect">
            <a:avLst/>
          </a:prstGeom>
          <a:noFill/>
          <a:ln/>
        </p:spPr>
        <p:txBody>
          <a:bodyPr wrap="square" lIns="0" tIns="0" rIns="0" bIns="0" rtlCol="0" anchor="ctr"/>
          <a:lstStyle/>
          <a:p>
            <a:pPr indent="0" marL="0">
              <a:buNone/>
            </a:pPr>
            <a:r>
              <a:rPr lang="en-US" sz="1300" i="1" dirty="0">
                <a:solidFill>
                  <a:srgbClr val="7C8CA5"/>
                </a:solidFill>
                <a:latin typeface="Calibri" pitchFamily="34" charset="0"/>
                <a:ea typeface="Calibri" pitchFamily="34" charset="-122"/>
                <a:cs typeface="Calibri" pitchFamily="34" charset="-120"/>
              </a:rPr>
              <a:t>Match your stack. Move on.</a:t>
            </a:r>
            <a:endParaRPr lang="en-US" sz="1300" dirty="0"/>
          </a:p>
        </p:txBody>
      </p:sp>
      <p:sp>
        <p:nvSpPr>
          <p:cNvPr id="12" name="Text 8"/>
          <p:cNvSpPr/>
          <p:nvPr/>
        </p:nvSpPr>
        <p:spPr>
          <a:xfrm>
            <a:off x="4434840" y="1371600"/>
            <a:ext cx="347472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DEPLOY MAP</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434840" y="1783080"/>
          <a:ext cx="3611880" cy="914400"/>
        </p:xfrm>
        <a:graphic>
          <a:graphicData uri="http://schemas.openxmlformats.org/drawingml/2006/table">
            <a:tbl>
              <a:tblPr/>
              <a:tblGrid>
                <a:gridCol w="1691640"/>
                <a:gridCol w="1920240"/>
              </a:tblGrid>
              <a:tr h="566928">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You built…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Host 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66928">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Static front-end</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Vercel / Netlify</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66928">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Next.js full-stack</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Vercel</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66928">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Node / Python API</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Render / Railway</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66928">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BaaS app</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22D3EE"/>
                          </a:solidFill>
                          <a:latin typeface="Consolas" pitchFamily="34" charset="0"/>
                          <a:ea typeface="Consolas" pitchFamily="34" charset="-122"/>
                          <a:cs typeface="Consolas" pitchFamily="34" charset="-120"/>
                        </a:rPr>
                        <a:t>Firebase / Supabase</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14" name="Text 9"/>
          <p:cNvSpPr/>
          <p:nvPr/>
        </p:nvSpPr>
        <p:spPr>
          <a:xfrm>
            <a:off x="8366760" y="1371600"/>
            <a:ext cx="329184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APIS &amp; SDKS</a:t>
            </a:r>
            <a:endParaRPr lang="en-US" sz="1400" dirty="0"/>
          </a:p>
        </p:txBody>
      </p:sp>
      <p:sp>
        <p:nvSpPr>
          <p:cNvPr id="15" name="Text 10"/>
          <p:cNvSpPr/>
          <p:nvPr/>
        </p:nvSpPr>
        <p:spPr>
          <a:xfrm>
            <a:off x="8366760" y="1783080"/>
            <a:ext cx="3246120" cy="1463040"/>
          </a:xfrm>
          <a:prstGeom prst="rect">
            <a:avLst/>
          </a:prstGeom>
          <a:noFill/>
          <a:ln/>
        </p:spPr>
        <p:txBody>
          <a:bodyPr wrap="square" lIns="0" tIns="0" rIns="0" bIns="0" rtlCol="0" anchor="ctr"/>
          <a:lstStyle/>
          <a:p>
            <a:pPr indent="0" marL="0">
              <a:lnSpc>
                <a:spcPct val="115000"/>
              </a:lnSpc>
              <a:buNone/>
            </a:pPr>
            <a:r>
              <a:rPr lang="en-US" sz="1450" b="1" dirty="0">
                <a:solidFill>
                  <a:srgbClr val="22D3EE"/>
                </a:solidFill>
                <a:latin typeface="Calibri" pitchFamily="34" charset="0"/>
                <a:ea typeface="Calibri" pitchFamily="34" charset="-122"/>
                <a:cs typeface="Calibri" pitchFamily="34" charset="-120"/>
              </a:rPr>
              <a:t>API </a:t>
            </a:r>
            <a:pPr indent="0" marL="0">
              <a:lnSpc>
                <a:spcPct val="115000"/>
              </a:lnSpc>
              <a:buNone/>
            </a:pPr>
            <a:r>
              <a:rPr lang="en-US" sz="1450" dirty="0">
                <a:solidFill>
                  <a:srgbClr val="F1F5F9"/>
                </a:solidFill>
                <a:latin typeface="Calibri" pitchFamily="34" charset="0"/>
                <a:ea typeface="Calibri" pitchFamily="34" charset="-122"/>
                <a:cs typeface="Calibri" pitchFamily="34" charset="-120"/>
              </a:rPr>
              <a:t>how programs request services
</a:t>
            </a:r>
            <a:pPr indent="0" marL="0">
              <a:lnSpc>
                <a:spcPct val="115000"/>
              </a:lnSpc>
              <a:buNone/>
            </a:pPr>
            <a:r>
              <a:rPr lang="en-US" sz="1450" b="1" dirty="0">
                <a:solidFill>
                  <a:srgbClr val="22D3EE"/>
                </a:solidFill>
                <a:latin typeface="Calibri" pitchFamily="34" charset="0"/>
                <a:ea typeface="Calibri" pitchFamily="34" charset="-122"/>
                <a:cs typeface="Calibri" pitchFamily="34" charset="-120"/>
              </a:rPr>
              <a:t>SDK </a:t>
            </a:r>
            <a:pPr indent="0" marL="0">
              <a:lnSpc>
                <a:spcPct val="115000"/>
              </a:lnSpc>
              <a:buNone/>
            </a:pPr>
            <a:r>
              <a:rPr lang="en-US" sz="1450" dirty="0">
                <a:solidFill>
                  <a:srgbClr val="F1F5F9"/>
                </a:solidFill>
                <a:latin typeface="Calibri" pitchFamily="34" charset="0"/>
                <a:ea typeface="Calibri" pitchFamily="34" charset="-122"/>
                <a:cs typeface="Calibri" pitchFamily="34" charset="-120"/>
              </a:rPr>
              <a:t>that API wrapped in your language — prefer official</a:t>
            </a:r>
            <a:endParaRPr lang="en-US" sz="1450" dirty="0"/>
          </a:p>
        </p:txBody>
      </p:sp>
      <p:sp>
        <p:nvSpPr>
          <p:cNvPr id="16" name="Shape 11"/>
          <p:cNvSpPr/>
          <p:nvPr/>
        </p:nvSpPr>
        <p:spPr>
          <a:xfrm>
            <a:off x="8366760" y="3429000"/>
            <a:ext cx="3273552" cy="2194560"/>
          </a:xfrm>
          <a:prstGeom prst="roundRect">
            <a:avLst>
              <a:gd name="adj" fmla="val 3750"/>
            </a:avLst>
          </a:prstGeom>
          <a:solidFill>
            <a:srgbClr val="1B2842"/>
          </a:solidFill>
          <a:ln/>
          <a:effectLst>
            <a:outerShdw sx="100000" sy="100000" kx="0" ky="0" algn="bl" rotWithShape="0" blurRad="114300" dist="38100" dir="5400000">
              <a:srgbClr val="000000">
                <a:alpha val="45000"/>
              </a:srgbClr>
            </a:outerShdw>
          </a:effectLst>
        </p:spPr>
      </p:sp>
      <p:sp>
        <p:nvSpPr>
          <p:cNvPr id="17" name="Shape 12"/>
          <p:cNvSpPr/>
          <p:nvPr/>
        </p:nvSpPr>
        <p:spPr>
          <a:xfrm>
            <a:off x="9692640" y="3657600"/>
            <a:ext cx="603504" cy="603504"/>
          </a:xfrm>
          <a:prstGeom prst="ellipse">
            <a:avLst/>
          </a:prstGeom>
          <a:solidFill>
            <a:srgbClr val="141E33"/>
          </a:solidFill>
          <a:ln/>
        </p:spPr>
      </p:sp>
      <p:pic>
        <p:nvPicPr>
          <p:cNvPr id="18" name="Image 1" descr="C:\Users\User\AppData\Local\Temp\claude\C--Users-User-OneDrive-Music-Hackathon\67e3d9e6-0718-4380-8c09-13d83fcd8fa7\scratchpad\pptbuild\v2\assets\icons\puzzle-cyan.png">    </p:cNvPr>
          <p:cNvPicPr>
            <a:picLocks noChangeAspect="1"/>
          </p:cNvPicPr>
          <p:nvPr/>
        </p:nvPicPr>
        <p:blipFill>
          <a:blip r:embed="rId2"/>
          <a:stretch>
            <a:fillRect/>
          </a:stretch>
        </p:blipFill>
        <p:spPr>
          <a:xfrm>
            <a:off x="9837481" y="3802441"/>
            <a:ext cx="313822" cy="313822"/>
          </a:xfrm>
          <a:prstGeom prst="rect">
            <a:avLst/>
          </a:prstGeom>
        </p:spPr>
      </p:pic>
      <p:sp>
        <p:nvSpPr>
          <p:cNvPr id="19" name="Text 13"/>
          <p:cNvSpPr/>
          <p:nvPr/>
        </p:nvSpPr>
        <p:spPr>
          <a:xfrm>
            <a:off x="8549640" y="4343400"/>
            <a:ext cx="2907792" cy="1097280"/>
          </a:xfrm>
          <a:prstGeom prst="rect">
            <a:avLst/>
          </a:prstGeom>
          <a:noFill/>
          <a:ln/>
        </p:spPr>
        <p:txBody>
          <a:bodyPr wrap="square" lIns="0" tIns="0" rIns="0" bIns="0" rtlCol="0" anchor="t"/>
          <a:lstStyle/>
          <a:p>
            <a:pPr algn="ctr" indent="0" marL="0">
              <a:lnSpc>
                <a:spcPct val="110000"/>
              </a:lnSpc>
              <a:buNone/>
            </a:pPr>
            <a:r>
              <a:rPr lang="en-US" sz="1550" b="1" dirty="0">
                <a:solidFill>
                  <a:srgbClr val="F1F5F9"/>
                </a:solidFill>
                <a:latin typeface="Calibri" pitchFamily="34" charset="0"/>
                <a:ea typeface="Calibri" pitchFamily="34" charset="-122"/>
                <a:cs typeface="Calibri" pitchFamily="34" charset="-120"/>
              </a:rPr>
              <a:t>Not your core innovation?
</a:t>
            </a:r>
            <a:pPr algn="ctr" indent="0" marL="0">
              <a:lnSpc>
                <a:spcPct val="110000"/>
              </a:lnSpc>
              <a:buNone/>
            </a:pPr>
            <a:r>
              <a:rPr lang="en-US" sz="1550" b="1" dirty="0">
                <a:solidFill>
                  <a:srgbClr val="22D3EE"/>
                </a:solidFill>
                <a:latin typeface="Calibri" pitchFamily="34" charset="0"/>
                <a:ea typeface="Calibri" pitchFamily="34" charset="-122"/>
                <a:cs typeface="Calibri" pitchFamily="34" charset="-120"/>
              </a:rPr>
              <a:t>Integrate — don't build.</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Decision Matrix: Your Stack in 60s</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26</a:t>
            </a:r>
            <a:endParaRPr lang="en-US" sz="1000" dirty="0"/>
          </a:p>
        </p:txBody>
      </p:sp>
      <p:sp>
        <p:nvSpPr>
          <p:cNvPr id="5" name="Shape 2"/>
          <p:cNvSpPr/>
          <p:nvPr/>
        </p:nvSpPr>
        <p:spPr>
          <a:xfrm>
            <a:off x="548640" y="1371600"/>
            <a:ext cx="3611880" cy="566928"/>
          </a:xfrm>
          <a:prstGeom prst="roundRect">
            <a:avLst>
              <a:gd name="adj" fmla="val 14516"/>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640080" y="1417320"/>
            <a:ext cx="475488" cy="475488"/>
          </a:xfrm>
          <a:prstGeom prst="ellipse">
            <a:avLst/>
          </a:prstGeom>
          <a:solidFill>
            <a:srgbClr val="1B2842"/>
          </a:solidFill>
          <a:ln/>
        </p:spPr>
      </p:sp>
      <p:pic>
        <p:nvPicPr>
          <p:cNvPr id="7" name="Image 0" descr="C:\Users\User\AppData\Local\Temp\claude\C--Users-User-OneDrive-Music-Hackathon\67e3d9e6-0718-4380-8c09-13d83fcd8fa7\scratchpad\pptbuild\v2\assets\icons\brain-cyan.png">    </p:cNvPr>
          <p:cNvPicPr>
            <a:picLocks noChangeAspect="1"/>
          </p:cNvPicPr>
          <p:nvPr/>
        </p:nvPicPr>
        <p:blipFill>
          <a:blip r:embed="rId1"/>
          <a:stretch>
            <a:fillRect/>
          </a:stretch>
        </p:blipFill>
        <p:spPr>
          <a:xfrm>
            <a:off x="754197" y="1531437"/>
            <a:ext cx="247254" cy="247254"/>
          </a:xfrm>
          <a:prstGeom prst="rect">
            <a:avLst/>
          </a:prstGeom>
        </p:spPr>
      </p:pic>
      <p:sp>
        <p:nvSpPr>
          <p:cNvPr id="8" name="Text 4"/>
          <p:cNvSpPr/>
          <p:nvPr/>
        </p:nvSpPr>
        <p:spPr>
          <a:xfrm>
            <a:off x="1234440" y="1371600"/>
            <a:ext cx="2880360" cy="566928"/>
          </a:xfrm>
          <a:prstGeom prst="rect">
            <a:avLst/>
          </a:prstGeom>
          <a:noFill/>
          <a:ln/>
        </p:spPr>
        <p:txBody>
          <a:bodyPr wrap="square" lIns="0" tIns="0" rIns="0" bIns="0" rtlCol="0" anchor="ctr"/>
          <a:lstStyle/>
          <a:p>
            <a:pPr indent="0" marL="0">
              <a:buNone/>
            </a:pPr>
            <a:r>
              <a:rPr lang="en-US" sz="1250" b="1" dirty="0">
                <a:solidFill>
                  <a:srgbClr val="F1F5F9"/>
                </a:solidFill>
                <a:latin typeface="Calibri" pitchFamily="34" charset="0"/>
                <a:ea typeface="Calibri" pitchFamily="34" charset="-122"/>
                <a:cs typeface="Calibri" pitchFamily="34" charset="-120"/>
              </a:rPr>
              <a:t>AI: call pre-trained APIs — never train</a:t>
            </a:r>
            <a:endParaRPr lang="en-US" sz="1250" dirty="0"/>
          </a:p>
        </p:txBody>
      </p:sp>
      <p:sp>
        <p:nvSpPr>
          <p:cNvPr id="9" name="Shape 5"/>
          <p:cNvSpPr/>
          <p:nvPr/>
        </p:nvSpPr>
        <p:spPr>
          <a:xfrm>
            <a:off x="4370832" y="1371600"/>
            <a:ext cx="3611880" cy="566928"/>
          </a:xfrm>
          <a:prstGeom prst="roundRect">
            <a:avLst>
              <a:gd name="adj" fmla="val 14516"/>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462272" y="1417320"/>
            <a:ext cx="475488" cy="475488"/>
          </a:xfrm>
          <a:prstGeom prst="ellipse">
            <a:avLst/>
          </a:prstGeom>
          <a:solidFill>
            <a:srgbClr val="1B2842"/>
          </a:solidFill>
          <a:ln/>
        </p:spPr>
      </p:sp>
      <p:pic>
        <p:nvPicPr>
          <p:cNvPr id="11" name="Image 1" descr="C:\Users\User\AppData\Local\Temp\claude\C--Users-User-OneDrive-Music-Hackathon\67e3d9e6-0718-4380-8c09-13d83fcd8fa7\scratchpad\pptbuild\v2\assets\icons\mic-cyan.png">    </p:cNvPr>
          <p:cNvPicPr>
            <a:picLocks noChangeAspect="1"/>
          </p:cNvPicPr>
          <p:nvPr/>
        </p:nvPicPr>
        <p:blipFill>
          <a:blip r:embed="rId2"/>
          <a:stretch>
            <a:fillRect/>
          </a:stretch>
        </p:blipFill>
        <p:spPr>
          <a:xfrm>
            <a:off x="4576389" y="1531437"/>
            <a:ext cx="247254" cy="247254"/>
          </a:xfrm>
          <a:prstGeom prst="rect">
            <a:avLst/>
          </a:prstGeom>
        </p:spPr>
      </p:pic>
      <p:sp>
        <p:nvSpPr>
          <p:cNvPr id="12" name="Text 7"/>
          <p:cNvSpPr/>
          <p:nvPr/>
        </p:nvSpPr>
        <p:spPr>
          <a:xfrm>
            <a:off x="5056632" y="1371600"/>
            <a:ext cx="2880360" cy="566928"/>
          </a:xfrm>
          <a:prstGeom prst="rect">
            <a:avLst/>
          </a:prstGeom>
          <a:noFill/>
          <a:ln/>
        </p:spPr>
        <p:txBody>
          <a:bodyPr wrap="square" lIns="0" tIns="0" rIns="0" bIns="0" rtlCol="0" anchor="ctr"/>
          <a:lstStyle/>
          <a:p>
            <a:pPr indent="0" marL="0">
              <a:buNone/>
            </a:pPr>
            <a:r>
              <a:rPr lang="en-US" sz="1250" b="1" dirty="0">
                <a:solidFill>
                  <a:srgbClr val="F1F5F9"/>
                </a:solidFill>
                <a:latin typeface="Calibri" pitchFamily="34" charset="0"/>
                <a:ea typeface="Calibri" pitchFamily="34" charset="-122"/>
                <a:cs typeface="Calibri" pitchFamily="34" charset="-120"/>
              </a:rPr>
              <a:t>Vision · speech · translation via API</a:t>
            </a:r>
            <a:endParaRPr lang="en-US" sz="1250" dirty="0"/>
          </a:p>
        </p:txBody>
      </p:sp>
      <p:sp>
        <p:nvSpPr>
          <p:cNvPr id="13" name="Shape 8"/>
          <p:cNvSpPr/>
          <p:nvPr/>
        </p:nvSpPr>
        <p:spPr>
          <a:xfrm>
            <a:off x="8193024" y="1371600"/>
            <a:ext cx="3611880" cy="566928"/>
          </a:xfrm>
          <a:prstGeom prst="roundRect">
            <a:avLst>
              <a:gd name="adj" fmla="val 14516"/>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284464" y="1417320"/>
            <a:ext cx="475488" cy="475488"/>
          </a:xfrm>
          <a:prstGeom prst="ellipse">
            <a:avLst/>
          </a:prstGeom>
          <a:solidFill>
            <a:srgbClr val="1B2842"/>
          </a:solidFill>
          <a:ln/>
        </p:spPr>
      </p:sp>
      <p:pic>
        <p:nvPicPr>
          <p:cNvPr id="15" name="Image 2" descr="C:\Users\User\AppData\Local\Temp\claude\C--Users-User-OneDrive-Music-Hackathon\67e3d9e6-0718-4380-8c09-13d83fcd8fa7\scratchpad\pptbuild\v2\assets\icons\wifi-cyan.png">    </p:cNvPr>
          <p:cNvPicPr>
            <a:picLocks noChangeAspect="1"/>
          </p:cNvPicPr>
          <p:nvPr/>
        </p:nvPicPr>
        <p:blipFill>
          <a:blip r:embed="rId3"/>
          <a:stretch>
            <a:fillRect/>
          </a:stretch>
        </p:blipFill>
        <p:spPr>
          <a:xfrm>
            <a:off x="8398581" y="1531437"/>
            <a:ext cx="247254" cy="247254"/>
          </a:xfrm>
          <a:prstGeom prst="rect">
            <a:avLst/>
          </a:prstGeom>
        </p:spPr>
      </p:pic>
      <p:sp>
        <p:nvSpPr>
          <p:cNvPr id="16" name="Text 10"/>
          <p:cNvSpPr/>
          <p:nvPr/>
        </p:nvSpPr>
        <p:spPr>
          <a:xfrm>
            <a:off x="8878824" y="1371600"/>
            <a:ext cx="2880360" cy="566928"/>
          </a:xfrm>
          <a:prstGeom prst="rect">
            <a:avLst/>
          </a:prstGeom>
          <a:noFill/>
          <a:ln/>
        </p:spPr>
        <p:txBody>
          <a:bodyPr wrap="square" lIns="0" tIns="0" rIns="0" bIns="0" rtlCol="0" anchor="ctr"/>
          <a:lstStyle/>
          <a:p>
            <a:pPr indent="0" marL="0">
              <a:buNone/>
            </a:pPr>
            <a:r>
              <a:rPr lang="en-US" sz="1250" b="1" dirty="0">
                <a:solidFill>
                  <a:srgbClr val="F1F5F9"/>
                </a:solidFill>
                <a:latin typeface="Calibri" pitchFamily="34" charset="0"/>
                <a:ea typeface="Calibri" pitchFamily="34" charset="-122"/>
                <a:cs typeface="Calibri" pitchFamily="34" charset="-120"/>
              </a:rPr>
              <a:t>IoT: ESP32 + MQTT — mock the hardware</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286000"/>
                <a:gridCol w="2651760"/>
                <a:gridCol w="2953512"/>
                <a:gridCol w="3200400"/>
              </a:tblGrid>
              <a:tr h="566928">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Team knows…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Front-end</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Back-end</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Data + deploy</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66928">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JavaScript</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React / Next.js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Next.js API / Express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Supabase → Vercel</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66928">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Python</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HTML+JS or React</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FastAPI / Flask</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SQLite/Supabase → Render</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66928">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Little coding</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No-code + HTML</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Firebase (BaaS)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Firebase end-to-end</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18" name="Text 11"/>
          <p:cNvSpPr/>
          <p:nvPr/>
        </p:nvSpPr>
        <p:spPr>
          <a:xfrm>
            <a:off x="548640" y="461772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BY DURATION</a:t>
            </a:r>
            <a:endParaRPr lang="en-US" sz="1400" dirty="0"/>
          </a:p>
        </p:txBody>
      </p:sp>
      <p:sp>
        <p:nvSpPr>
          <p:cNvPr id="19" name="Text 12"/>
          <p:cNvSpPr/>
          <p:nvPr/>
        </p:nvSpPr>
        <p:spPr>
          <a:xfrm>
            <a:off x="548640" y="4983480"/>
            <a:ext cx="5394960" cy="13258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400" b="1" dirty="0">
                <a:solidFill>
                  <a:srgbClr val="22D3EE"/>
                </a:solidFill>
                <a:latin typeface="Calibri" pitchFamily="34" charset="0"/>
                <a:ea typeface="Calibri" pitchFamily="34" charset="-122"/>
                <a:cs typeface="Calibri" pitchFamily="34" charset="-120"/>
              </a:rPr>
              <a:t>24h  </a:t>
            </a:r>
            <a:pPr algn="l" indent="0" marL="0">
              <a:lnSpc>
                <a:spcPct val="110000"/>
              </a:lnSpc>
              <a:spcAft>
                <a:spcPts val="600"/>
              </a:spcAft>
              <a:buNone/>
            </a:pPr>
            <a:r>
              <a:rPr lang="en-US" sz="1400" dirty="0">
                <a:solidFill>
                  <a:srgbClr val="F1F5F9"/>
                </a:solidFill>
                <a:latin typeface="Calibri" pitchFamily="34" charset="0"/>
                <a:ea typeface="Calibri" pitchFamily="34" charset="-122"/>
                <a:cs typeface="Calibri" pitchFamily="34" charset="-120"/>
              </a:rPr>
              <a:t>max BaaS + one API — minimal custom backend</a:t>
            </a:r>
            <a:endParaRPr lang="en-US" sz="1400" dirty="0"/>
          </a:p>
          <a:p>
            <a:pPr algn="l" marL="177800" indent="-177800">
              <a:lnSpc>
                <a:spcPct val="110000"/>
              </a:lnSpc>
              <a:spcAft>
                <a:spcPts val="600"/>
              </a:spcAft>
              <a:buSzPct val="100000"/>
              <a:buChar char="•"/>
            </a:pPr>
            <a:r>
              <a:rPr lang="en-US" sz="1400" b="1" dirty="0">
                <a:solidFill>
                  <a:srgbClr val="22D3EE"/>
                </a:solidFill>
                <a:latin typeface="Calibri" pitchFamily="34" charset="0"/>
                <a:ea typeface="Calibri" pitchFamily="34" charset="-122"/>
                <a:cs typeface="Calibri" pitchFamily="34" charset="-120"/>
              </a:rPr>
              <a:t>36h  </a:t>
            </a:r>
            <a:pPr algn="l" indent="0" marL="0">
              <a:lnSpc>
                <a:spcPct val="110000"/>
              </a:lnSpc>
              <a:spcAft>
                <a:spcPts val="600"/>
              </a:spcAft>
              <a:buNone/>
            </a:pPr>
            <a:r>
              <a:rPr lang="en-US" sz="1400" dirty="0">
                <a:solidFill>
                  <a:srgbClr val="F1F5F9"/>
                </a:solidFill>
                <a:latin typeface="Calibri" pitchFamily="34" charset="0"/>
                <a:ea typeface="Calibri" pitchFamily="34" charset="-122"/>
                <a:cs typeface="Calibri" pitchFamily="34" charset="-120"/>
              </a:rPr>
              <a:t>one custom backend service is fine</a:t>
            </a:r>
            <a:endParaRPr lang="en-US" sz="1400" dirty="0"/>
          </a:p>
          <a:p>
            <a:pPr algn="l" marL="177800" indent="-177800">
              <a:lnSpc>
                <a:spcPct val="110000"/>
              </a:lnSpc>
              <a:spcAft>
                <a:spcPts val="600"/>
              </a:spcAft>
              <a:buSzPct val="100000"/>
              <a:buChar char="•"/>
            </a:pPr>
            <a:r>
              <a:rPr lang="en-US" sz="1400" b="1" dirty="0">
                <a:solidFill>
                  <a:srgbClr val="22D3EE"/>
                </a:solidFill>
                <a:latin typeface="Calibri" pitchFamily="34" charset="0"/>
                <a:ea typeface="Calibri" pitchFamily="34" charset="-122"/>
                <a:cs typeface="Calibri" pitchFamily="34" charset="-120"/>
              </a:rPr>
              <a:t>48h  </a:t>
            </a:r>
            <a:pPr algn="l" indent="0" marL="0">
              <a:lnSpc>
                <a:spcPct val="110000"/>
              </a:lnSpc>
              <a:spcAft>
                <a:spcPts val="600"/>
              </a:spcAft>
              <a:buNone/>
            </a:pPr>
            <a:r>
              <a:rPr lang="en-US" sz="1400" dirty="0">
                <a:solidFill>
                  <a:srgbClr val="F1F5F9"/>
                </a:solidFill>
                <a:latin typeface="Calibri" pitchFamily="34" charset="0"/>
                <a:ea typeface="Calibri" pitchFamily="34" charset="-122"/>
                <a:cs typeface="Calibri" pitchFamily="34" charset="-120"/>
              </a:rPr>
              <a:t>richer architecture — still freeze scope early</a:t>
            </a:r>
            <a:endParaRPr lang="en-US" sz="1400" dirty="0"/>
          </a:p>
        </p:txBody>
      </p:sp>
      <p:sp>
        <p:nvSpPr>
          <p:cNvPr id="20" name="Text 13"/>
          <p:cNvSpPr/>
          <p:nvPr/>
        </p:nvSpPr>
        <p:spPr>
          <a:xfrm>
            <a:off x="6263640" y="461772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BY JUDGING EMPHASIS</a:t>
            </a:r>
            <a:endParaRPr lang="en-US" sz="1400" dirty="0"/>
          </a:p>
        </p:txBody>
      </p:sp>
      <p:sp>
        <p:nvSpPr>
          <p:cNvPr id="21" name="Text 14"/>
          <p:cNvSpPr/>
          <p:nvPr/>
        </p:nvSpPr>
        <p:spPr>
          <a:xfrm>
            <a:off x="6263640" y="4983480"/>
            <a:ext cx="5394960" cy="13258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400" b="1" dirty="0">
                <a:solidFill>
                  <a:srgbClr val="22D3EE"/>
                </a:solidFill>
                <a:latin typeface="Calibri" pitchFamily="34" charset="0"/>
                <a:ea typeface="Calibri" pitchFamily="34" charset="-122"/>
                <a:cs typeface="Calibri" pitchFamily="34" charset="-120"/>
              </a:rPr>
              <a:t>AI novelty  </a:t>
            </a:r>
            <a:pPr algn="l" indent="0" marL="0">
              <a:lnSpc>
                <a:spcPct val="110000"/>
              </a:lnSpc>
              <a:spcAft>
                <a:spcPts val="600"/>
              </a:spcAft>
              <a:buNone/>
            </a:pPr>
            <a:r>
              <a:rPr lang="en-US" sz="1400" dirty="0">
                <a:solidFill>
                  <a:srgbClr val="F1F5F9"/>
                </a:solidFill>
                <a:latin typeface="Calibri" pitchFamily="34" charset="0"/>
                <a:ea typeface="Calibri" pitchFamily="34" charset="-122"/>
                <a:cs typeface="Calibri" pitchFamily="34" charset="-120"/>
              </a:rPr>
              <a:t>budget → the AI integration; rest boring</a:t>
            </a:r>
            <a:endParaRPr lang="en-US" sz="1400" dirty="0"/>
          </a:p>
          <a:p>
            <a:pPr algn="l" marL="177800" indent="-177800">
              <a:lnSpc>
                <a:spcPct val="110000"/>
              </a:lnSpc>
              <a:spcAft>
                <a:spcPts val="600"/>
              </a:spcAft>
              <a:buSzPct val="100000"/>
              <a:buChar char="•"/>
            </a:pPr>
            <a:r>
              <a:rPr lang="en-US" sz="1400" b="1" dirty="0">
                <a:solidFill>
                  <a:srgbClr val="22D3EE"/>
                </a:solidFill>
                <a:latin typeface="Calibri" pitchFamily="34" charset="0"/>
                <a:ea typeface="Calibri" pitchFamily="34" charset="-122"/>
                <a:cs typeface="Calibri" pitchFamily="34" charset="-120"/>
              </a:rPr>
              <a:t>UX  </a:t>
            </a:r>
            <a:pPr algn="l" indent="0" marL="0">
              <a:lnSpc>
                <a:spcPct val="110000"/>
              </a:lnSpc>
              <a:spcAft>
                <a:spcPts val="600"/>
              </a:spcAft>
              <a:buNone/>
            </a:pPr>
            <a:r>
              <a:rPr lang="en-US" sz="1400" dirty="0">
                <a:solidFill>
                  <a:srgbClr val="F1F5F9"/>
                </a:solidFill>
                <a:latin typeface="Calibri" pitchFamily="34" charset="0"/>
                <a:ea typeface="Calibri" pitchFamily="34" charset="-122"/>
                <a:cs typeface="Calibri" pitchFamily="34" charset="-120"/>
              </a:rPr>
              <a:t>clean front-end; backend via BaaS</a:t>
            </a:r>
            <a:endParaRPr lang="en-US" sz="1400" dirty="0"/>
          </a:p>
          <a:p>
            <a:pPr algn="l" marL="177800" indent="-177800">
              <a:lnSpc>
                <a:spcPct val="110000"/>
              </a:lnSpc>
              <a:spcAft>
                <a:spcPts val="600"/>
              </a:spcAft>
              <a:buSzPct val="100000"/>
              <a:buChar char="•"/>
            </a:pPr>
            <a:r>
              <a:rPr lang="en-US" sz="1400" b="1" dirty="0">
                <a:solidFill>
                  <a:srgbClr val="22D3EE"/>
                </a:solidFill>
                <a:latin typeface="Calibri" pitchFamily="34" charset="0"/>
                <a:ea typeface="Calibri" pitchFamily="34" charset="-122"/>
                <a:cs typeface="Calibri" pitchFamily="34" charset="-120"/>
              </a:rPr>
              <a:t>Depth  </a:t>
            </a:r>
            <a:pPr algn="l" indent="0" marL="0">
              <a:lnSpc>
                <a:spcPct val="110000"/>
              </a:lnSpc>
              <a:spcAft>
                <a:spcPts val="600"/>
              </a:spcAft>
              <a:buNone/>
            </a:pPr>
            <a:r>
              <a:rPr lang="en-US" sz="1400" dirty="0">
                <a:solidFill>
                  <a:srgbClr val="F1F5F9"/>
                </a:solidFill>
                <a:latin typeface="Calibri" pitchFamily="34" charset="0"/>
                <a:ea typeface="Calibri" pitchFamily="34" charset="-122"/>
                <a:cs typeface="Calibri" pitchFamily="34" charset="-120"/>
              </a:rPr>
              <a:t>one hard component; rest minimal</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05 — SOFTWARE ENGINEERING WORKFLOW</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Engineering Workflow, Thin</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27</a:t>
            </a:r>
            <a:endParaRPr lang="en-US" sz="1000" dirty="0"/>
          </a:p>
        </p:txBody>
      </p:sp>
      <p:sp>
        <p:nvSpPr>
          <p:cNvPr id="6" name="Shape 3"/>
          <p:cNvSpPr/>
          <p:nvPr/>
        </p:nvSpPr>
        <p:spPr>
          <a:xfrm>
            <a:off x="548640" y="1673352"/>
            <a:ext cx="11091672" cy="1225296"/>
          </a:xfrm>
          <a:prstGeom prst="roundRect">
            <a:avLst>
              <a:gd name="adj" fmla="val 8955"/>
            </a:avLst>
          </a:prstGeom>
          <a:solidFill>
            <a:srgbClr val="0F1830"/>
          </a:solidFill>
          <a:ln/>
        </p:spPr>
      </p:sp>
      <p:sp>
        <p:nvSpPr>
          <p:cNvPr id="7" name="Text 4"/>
          <p:cNvSpPr/>
          <p:nvPr/>
        </p:nvSpPr>
        <p:spPr>
          <a:xfrm>
            <a:off x="749808" y="265176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DESIGN — MINUTES, NOT DAYS</a:t>
            </a:r>
            <a:endParaRPr lang="en-US" sz="1050" dirty="0"/>
          </a:p>
        </p:txBody>
      </p:sp>
      <p:sp>
        <p:nvSpPr>
          <p:cNvPr id="8" name="Shape 5"/>
          <p:cNvSpPr/>
          <p:nvPr/>
        </p:nvSpPr>
        <p:spPr>
          <a:xfrm>
            <a:off x="548640" y="3502152"/>
            <a:ext cx="11091672" cy="1225296"/>
          </a:xfrm>
          <a:prstGeom prst="roundRect">
            <a:avLst>
              <a:gd name="adj" fmla="val 8955"/>
            </a:avLst>
          </a:prstGeom>
          <a:solidFill>
            <a:srgbClr val="0F1830"/>
          </a:solidFill>
          <a:ln/>
        </p:spPr>
      </p:sp>
      <p:sp>
        <p:nvSpPr>
          <p:cNvPr id="9" name="Text 6"/>
          <p:cNvSpPr/>
          <p:nvPr/>
        </p:nvSpPr>
        <p:spPr>
          <a:xfrm>
            <a:off x="749808" y="448056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BUILD</a:t>
            </a:r>
            <a:endParaRPr lang="en-US" sz="1050" dirty="0"/>
          </a:p>
        </p:txBody>
      </p:sp>
      <p:sp>
        <p:nvSpPr>
          <p:cNvPr id="10" name="Shape 7"/>
          <p:cNvSpPr/>
          <p:nvPr/>
        </p:nvSpPr>
        <p:spPr>
          <a:xfrm>
            <a:off x="2499970" y="2286000"/>
            <a:ext cx="457200" cy="0"/>
          </a:xfrm>
          <a:prstGeom prst="line">
            <a:avLst/>
          </a:prstGeom>
          <a:noFill/>
          <a:ln w="31750">
            <a:solidFill>
              <a:srgbClr val="22D3EE"/>
            </a:solidFill>
            <a:prstDash val="solid"/>
            <a:tailEnd type="triangle"/>
          </a:ln>
        </p:spPr>
      </p:sp>
      <p:sp>
        <p:nvSpPr>
          <p:cNvPr id="11" name="Shape 8"/>
          <p:cNvSpPr/>
          <p:nvPr/>
        </p:nvSpPr>
        <p:spPr>
          <a:xfrm>
            <a:off x="4743907" y="2286000"/>
            <a:ext cx="457200" cy="0"/>
          </a:xfrm>
          <a:prstGeom prst="line">
            <a:avLst/>
          </a:prstGeom>
          <a:noFill/>
          <a:ln w="31750">
            <a:solidFill>
              <a:srgbClr val="22D3EE"/>
            </a:solidFill>
            <a:prstDash val="solid"/>
            <a:tailEnd type="triangle"/>
          </a:ln>
        </p:spPr>
      </p:sp>
      <p:sp>
        <p:nvSpPr>
          <p:cNvPr id="12" name="Shape 9"/>
          <p:cNvSpPr/>
          <p:nvPr/>
        </p:nvSpPr>
        <p:spPr>
          <a:xfrm>
            <a:off x="6987845" y="2286000"/>
            <a:ext cx="457200" cy="0"/>
          </a:xfrm>
          <a:prstGeom prst="line">
            <a:avLst/>
          </a:prstGeom>
          <a:noFill/>
          <a:ln w="31750">
            <a:solidFill>
              <a:srgbClr val="22D3EE"/>
            </a:solidFill>
            <a:prstDash val="solid"/>
            <a:tailEnd type="triangle"/>
          </a:ln>
        </p:spPr>
      </p:sp>
      <p:sp>
        <p:nvSpPr>
          <p:cNvPr id="13" name="Shape 10"/>
          <p:cNvSpPr/>
          <p:nvPr/>
        </p:nvSpPr>
        <p:spPr>
          <a:xfrm>
            <a:off x="9231782" y="2286000"/>
            <a:ext cx="457200" cy="0"/>
          </a:xfrm>
          <a:prstGeom prst="line">
            <a:avLst/>
          </a:prstGeom>
          <a:noFill/>
          <a:ln w="31750">
            <a:solidFill>
              <a:srgbClr val="22D3EE"/>
            </a:solidFill>
            <a:prstDash val="solid"/>
            <a:tailEnd type="triangle"/>
          </a:ln>
        </p:spPr>
      </p:sp>
      <p:sp>
        <p:nvSpPr>
          <p:cNvPr id="14" name="Shape 11"/>
          <p:cNvSpPr/>
          <p:nvPr/>
        </p:nvSpPr>
        <p:spPr>
          <a:xfrm>
            <a:off x="10582351" y="2697480"/>
            <a:ext cx="0" cy="1005840"/>
          </a:xfrm>
          <a:prstGeom prst="line">
            <a:avLst/>
          </a:prstGeom>
          <a:noFill/>
          <a:ln w="31750">
            <a:solidFill>
              <a:srgbClr val="22D3EE"/>
            </a:solidFill>
            <a:prstDash val="solid"/>
            <a:tailEnd type="triangle"/>
          </a:ln>
        </p:spPr>
      </p:sp>
      <p:sp>
        <p:nvSpPr>
          <p:cNvPr id="15" name="Shape 12"/>
          <p:cNvSpPr/>
          <p:nvPr/>
        </p:nvSpPr>
        <p:spPr>
          <a:xfrm flipH="1">
            <a:off x="9231782" y="4114800"/>
            <a:ext cx="457200" cy="0"/>
          </a:xfrm>
          <a:prstGeom prst="line">
            <a:avLst/>
          </a:prstGeom>
          <a:noFill/>
          <a:ln w="31750">
            <a:solidFill>
              <a:srgbClr val="22D3EE"/>
            </a:solidFill>
            <a:prstDash val="solid"/>
            <a:tailEnd type="triangle"/>
          </a:ln>
        </p:spPr>
      </p:sp>
      <p:sp>
        <p:nvSpPr>
          <p:cNvPr id="16" name="Shape 13"/>
          <p:cNvSpPr/>
          <p:nvPr/>
        </p:nvSpPr>
        <p:spPr>
          <a:xfrm flipH="1">
            <a:off x="6987845" y="4114800"/>
            <a:ext cx="457200" cy="0"/>
          </a:xfrm>
          <a:prstGeom prst="line">
            <a:avLst/>
          </a:prstGeom>
          <a:noFill/>
          <a:ln w="31750">
            <a:solidFill>
              <a:srgbClr val="22D3EE"/>
            </a:solidFill>
            <a:prstDash val="solid"/>
            <a:tailEnd type="triangle"/>
          </a:ln>
        </p:spPr>
      </p:sp>
      <p:sp>
        <p:nvSpPr>
          <p:cNvPr id="17" name="Shape 14"/>
          <p:cNvSpPr/>
          <p:nvPr/>
        </p:nvSpPr>
        <p:spPr>
          <a:xfrm flipH="1">
            <a:off x="4743907" y="4114800"/>
            <a:ext cx="457200" cy="0"/>
          </a:xfrm>
          <a:prstGeom prst="line">
            <a:avLst/>
          </a:prstGeom>
          <a:noFill/>
          <a:ln w="31750">
            <a:solidFill>
              <a:srgbClr val="22D3EE"/>
            </a:solidFill>
            <a:prstDash val="solid"/>
            <a:tailEnd type="triangle"/>
          </a:ln>
        </p:spPr>
      </p:sp>
      <p:sp>
        <p:nvSpPr>
          <p:cNvPr id="18" name="Shape 15"/>
          <p:cNvSpPr/>
          <p:nvPr/>
        </p:nvSpPr>
        <p:spPr>
          <a:xfrm flipH="1">
            <a:off x="2499970" y="4114800"/>
            <a:ext cx="457200" cy="0"/>
          </a:xfrm>
          <a:prstGeom prst="line">
            <a:avLst/>
          </a:prstGeom>
          <a:noFill/>
          <a:ln w="31750">
            <a:solidFill>
              <a:srgbClr val="22D3EE"/>
            </a:solidFill>
            <a:prstDash val="solid"/>
            <a:tailEnd type="triangle"/>
          </a:ln>
        </p:spPr>
      </p:sp>
      <p:sp>
        <p:nvSpPr>
          <p:cNvPr id="19" name="Shape 16"/>
          <p:cNvSpPr/>
          <p:nvPr/>
        </p:nvSpPr>
        <p:spPr>
          <a:xfrm>
            <a:off x="713232"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20" name="Text 17"/>
          <p:cNvSpPr/>
          <p:nvPr/>
        </p:nvSpPr>
        <p:spPr>
          <a:xfrm>
            <a:off x="786384"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Requirements</a:t>
            </a:r>
            <a:endParaRPr lang="en-US" sz="1400" dirty="0"/>
          </a:p>
        </p:txBody>
      </p:sp>
      <p:sp>
        <p:nvSpPr>
          <p:cNvPr id="21" name="Shape 18"/>
          <p:cNvSpPr/>
          <p:nvPr/>
        </p:nvSpPr>
        <p:spPr>
          <a:xfrm>
            <a:off x="566928" y="1728216"/>
            <a:ext cx="384048" cy="384048"/>
          </a:xfrm>
          <a:prstGeom prst="ellipse">
            <a:avLst/>
          </a:prstGeom>
          <a:solidFill>
            <a:srgbClr val="22D3EE"/>
          </a:solidFill>
          <a:ln/>
        </p:spPr>
      </p:sp>
      <p:sp>
        <p:nvSpPr>
          <p:cNvPr id="22" name="Text 19"/>
          <p:cNvSpPr/>
          <p:nvPr/>
        </p:nvSpPr>
        <p:spPr>
          <a:xfrm>
            <a:off x="566928"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a:t>
            </a:r>
            <a:endParaRPr lang="en-US" sz="1400" dirty="0"/>
          </a:p>
        </p:txBody>
      </p:sp>
      <p:sp>
        <p:nvSpPr>
          <p:cNvPr id="23" name="Shape 20"/>
          <p:cNvSpPr/>
          <p:nvPr/>
        </p:nvSpPr>
        <p:spPr>
          <a:xfrm>
            <a:off x="2957170"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24" name="Text 21"/>
          <p:cNvSpPr/>
          <p:nvPr/>
        </p:nvSpPr>
        <p:spPr>
          <a:xfrm>
            <a:off x="3030322"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User stories</a:t>
            </a:r>
            <a:endParaRPr lang="en-US" sz="1400" dirty="0"/>
          </a:p>
        </p:txBody>
      </p:sp>
      <p:sp>
        <p:nvSpPr>
          <p:cNvPr id="25" name="Shape 22"/>
          <p:cNvSpPr/>
          <p:nvPr/>
        </p:nvSpPr>
        <p:spPr>
          <a:xfrm>
            <a:off x="2810866" y="1728216"/>
            <a:ext cx="384048" cy="384048"/>
          </a:xfrm>
          <a:prstGeom prst="ellipse">
            <a:avLst/>
          </a:prstGeom>
          <a:solidFill>
            <a:srgbClr val="22D3EE"/>
          </a:solidFill>
          <a:ln/>
        </p:spPr>
      </p:sp>
      <p:sp>
        <p:nvSpPr>
          <p:cNvPr id="26" name="Text 23"/>
          <p:cNvSpPr/>
          <p:nvPr/>
        </p:nvSpPr>
        <p:spPr>
          <a:xfrm>
            <a:off x="2810866"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2</a:t>
            </a:r>
            <a:endParaRPr lang="en-US" sz="1400" dirty="0"/>
          </a:p>
        </p:txBody>
      </p:sp>
      <p:sp>
        <p:nvSpPr>
          <p:cNvPr id="27" name="Shape 24"/>
          <p:cNvSpPr/>
          <p:nvPr/>
        </p:nvSpPr>
        <p:spPr>
          <a:xfrm>
            <a:off x="5201107"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28" name="Text 25"/>
          <p:cNvSpPr/>
          <p:nvPr/>
        </p:nvSpPr>
        <p:spPr>
          <a:xfrm>
            <a:off x="5274259"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Wireframes</a:t>
            </a:r>
            <a:endParaRPr lang="en-US" sz="1400" dirty="0"/>
          </a:p>
        </p:txBody>
      </p:sp>
      <p:sp>
        <p:nvSpPr>
          <p:cNvPr id="29" name="Shape 26"/>
          <p:cNvSpPr/>
          <p:nvPr/>
        </p:nvSpPr>
        <p:spPr>
          <a:xfrm>
            <a:off x="5054803" y="1728216"/>
            <a:ext cx="384048" cy="384048"/>
          </a:xfrm>
          <a:prstGeom prst="ellipse">
            <a:avLst/>
          </a:prstGeom>
          <a:solidFill>
            <a:srgbClr val="22D3EE"/>
          </a:solidFill>
          <a:ln/>
        </p:spPr>
      </p:sp>
      <p:sp>
        <p:nvSpPr>
          <p:cNvPr id="30" name="Text 27"/>
          <p:cNvSpPr/>
          <p:nvPr/>
        </p:nvSpPr>
        <p:spPr>
          <a:xfrm>
            <a:off x="5054803"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3</a:t>
            </a:r>
            <a:endParaRPr lang="en-US" sz="1400" dirty="0"/>
          </a:p>
        </p:txBody>
      </p:sp>
      <p:sp>
        <p:nvSpPr>
          <p:cNvPr id="31" name="Shape 28"/>
          <p:cNvSpPr/>
          <p:nvPr/>
        </p:nvSpPr>
        <p:spPr>
          <a:xfrm>
            <a:off x="7445045"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32" name="Text 29"/>
          <p:cNvSpPr/>
          <p:nvPr/>
        </p:nvSpPr>
        <p:spPr>
          <a:xfrm>
            <a:off x="7518197"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Data model / ER</a:t>
            </a:r>
            <a:endParaRPr lang="en-US" sz="1400" dirty="0"/>
          </a:p>
        </p:txBody>
      </p:sp>
      <p:sp>
        <p:nvSpPr>
          <p:cNvPr id="33" name="Shape 30"/>
          <p:cNvSpPr/>
          <p:nvPr/>
        </p:nvSpPr>
        <p:spPr>
          <a:xfrm>
            <a:off x="7298741" y="1728216"/>
            <a:ext cx="384048" cy="384048"/>
          </a:xfrm>
          <a:prstGeom prst="ellipse">
            <a:avLst/>
          </a:prstGeom>
          <a:solidFill>
            <a:srgbClr val="22D3EE"/>
          </a:solidFill>
          <a:ln/>
        </p:spPr>
      </p:sp>
      <p:sp>
        <p:nvSpPr>
          <p:cNvPr id="34" name="Text 31"/>
          <p:cNvSpPr/>
          <p:nvPr/>
        </p:nvSpPr>
        <p:spPr>
          <a:xfrm>
            <a:off x="7298741"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4</a:t>
            </a:r>
            <a:endParaRPr lang="en-US" sz="1400" dirty="0"/>
          </a:p>
        </p:txBody>
      </p:sp>
      <p:sp>
        <p:nvSpPr>
          <p:cNvPr id="35" name="Shape 32"/>
          <p:cNvSpPr/>
          <p:nvPr/>
        </p:nvSpPr>
        <p:spPr>
          <a:xfrm>
            <a:off x="9688982"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36" name="Text 33"/>
          <p:cNvSpPr/>
          <p:nvPr/>
        </p:nvSpPr>
        <p:spPr>
          <a:xfrm>
            <a:off x="9762134"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API plan</a:t>
            </a:r>
            <a:endParaRPr lang="en-US" sz="1400" dirty="0"/>
          </a:p>
        </p:txBody>
      </p:sp>
      <p:sp>
        <p:nvSpPr>
          <p:cNvPr id="37" name="Shape 34"/>
          <p:cNvSpPr/>
          <p:nvPr/>
        </p:nvSpPr>
        <p:spPr>
          <a:xfrm>
            <a:off x="9542678" y="1728216"/>
            <a:ext cx="384048" cy="384048"/>
          </a:xfrm>
          <a:prstGeom prst="ellipse">
            <a:avLst/>
          </a:prstGeom>
          <a:solidFill>
            <a:srgbClr val="22D3EE"/>
          </a:solidFill>
          <a:ln/>
        </p:spPr>
      </p:sp>
      <p:sp>
        <p:nvSpPr>
          <p:cNvPr id="38" name="Text 35"/>
          <p:cNvSpPr/>
          <p:nvPr/>
        </p:nvSpPr>
        <p:spPr>
          <a:xfrm>
            <a:off x="9542678"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5</a:t>
            </a:r>
            <a:endParaRPr lang="en-US" sz="1400" dirty="0"/>
          </a:p>
        </p:txBody>
      </p:sp>
      <p:sp>
        <p:nvSpPr>
          <p:cNvPr id="39" name="Shape 36"/>
          <p:cNvSpPr/>
          <p:nvPr/>
        </p:nvSpPr>
        <p:spPr>
          <a:xfrm>
            <a:off x="9688982"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40" name="Text 37"/>
          <p:cNvSpPr/>
          <p:nvPr/>
        </p:nvSpPr>
        <p:spPr>
          <a:xfrm>
            <a:off x="9762134"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Architecture</a:t>
            </a:r>
            <a:endParaRPr lang="en-US" sz="1400" dirty="0"/>
          </a:p>
        </p:txBody>
      </p:sp>
      <p:sp>
        <p:nvSpPr>
          <p:cNvPr id="41" name="Shape 38"/>
          <p:cNvSpPr/>
          <p:nvPr/>
        </p:nvSpPr>
        <p:spPr>
          <a:xfrm>
            <a:off x="9542678" y="3557016"/>
            <a:ext cx="384048" cy="384048"/>
          </a:xfrm>
          <a:prstGeom prst="ellipse">
            <a:avLst/>
          </a:prstGeom>
          <a:solidFill>
            <a:srgbClr val="22D3EE"/>
          </a:solidFill>
          <a:ln/>
        </p:spPr>
      </p:sp>
      <p:sp>
        <p:nvSpPr>
          <p:cNvPr id="42" name="Text 39"/>
          <p:cNvSpPr/>
          <p:nvPr/>
        </p:nvSpPr>
        <p:spPr>
          <a:xfrm>
            <a:off x="9542678"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6</a:t>
            </a:r>
            <a:endParaRPr lang="en-US" sz="1400" dirty="0"/>
          </a:p>
        </p:txBody>
      </p:sp>
      <p:sp>
        <p:nvSpPr>
          <p:cNvPr id="43" name="Shape 40"/>
          <p:cNvSpPr/>
          <p:nvPr/>
        </p:nvSpPr>
        <p:spPr>
          <a:xfrm>
            <a:off x="7445045"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44" name="Text 41"/>
          <p:cNvSpPr/>
          <p:nvPr/>
        </p:nvSpPr>
        <p:spPr>
          <a:xfrm>
            <a:off x="7518197"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Folder structure</a:t>
            </a:r>
            <a:endParaRPr lang="en-US" sz="1400" dirty="0"/>
          </a:p>
        </p:txBody>
      </p:sp>
      <p:sp>
        <p:nvSpPr>
          <p:cNvPr id="45" name="Shape 42"/>
          <p:cNvSpPr/>
          <p:nvPr/>
        </p:nvSpPr>
        <p:spPr>
          <a:xfrm>
            <a:off x="7298741" y="3557016"/>
            <a:ext cx="384048" cy="384048"/>
          </a:xfrm>
          <a:prstGeom prst="ellipse">
            <a:avLst/>
          </a:prstGeom>
          <a:solidFill>
            <a:srgbClr val="22D3EE"/>
          </a:solidFill>
          <a:ln/>
        </p:spPr>
      </p:sp>
      <p:sp>
        <p:nvSpPr>
          <p:cNvPr id="46" name="Text 43"/>
          <p:cNvSpPr/>
          <p:nvPr/>
        </p:nvSpPr>
        <p:spPr>
          <a:xfrm>
            <a:off x="7298741"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7</a:t>
            </a:r>
            <a:endParaRPr lang="en-US" sz="1400" dirty="0"/>
          </a:p>
        </p:txBody>
      </p:sp>
      <p:sp>
        <p:nvSpPr>
          <p:cNvPr id="47" name="Shape 44"/>
          <p:cNvSpPr/>
          <p:nvPr/>
        </p:nvSpPr>
        <p:spPr>
          <a:xfrm>
            <a:off x="5201107"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48" name="Text 45"/>
          <p:cNvSpPr/>
          <p:nvPr/>
        </p:nvSpPr>
        <p:spPr>
          <a:xfrm>
            <a:off x="5274259"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22D3EE"/>
                </a:solidFill>
                <a:latin typeface="Calibri" pitchFamily="34" charset="0"/>
                <a:ea typeface="Calibri" pitchFamily="34" charset="-122"/>
                <a:cs typeface="Calibri" pitchFamily="34" charset="-120"/>
              </a:rPr>
              <a:t>Build — modular</a:t>
            </a:r>
            <a:endParaRPr lang="en-US" sz="1400" dirty="0"/>
          </a:p>
        </p:txBody>
      </p:sp>
      <p:sp>
        <p:nvSpPr>
          <p:cNvPr id="49" name="Shape 46"/>
          <p:cNvSpPr/>
          <p:nvPr/>
        </p:nvSpPr>
        <p:spPr>
          <a:xfrm>
            <a:off x="5054803" y="3557016"/>
            <a:ext cx="384048" cy="384048"/>
          </a:xfrm>
          <a:prstGeom prst="ellipse">
            <a:avLst/>
          </a:prstGeom>
          <a:solidFill>
            <a:srgbClr val="22D3EE"/>
          </a:solidFill>
          <a:ln/>
        </p:spPr>
      </p:sp>
      <p:sp>
        <p:nvSpPr>
          <p:cNvPr id="50" name="Text 47"/>
          <p:cNvSpPr/>
          <p:nvPr/>
        </p:nvSpPr>
        <p:spPr>
          <a:xfrm>
            <a:off x="5054803"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8</a:t>
            </a:r>
            <a:endParaRPr lang="en-US" sz="1400" dirty="0"/>
          </a:p>
        </p:txBody>
      </p:sp>
      <p:sp>
        <p:nvSpPr>
          <p:cNvPr id="51" name="Shape 48"/>
          <p:cNvSpPr/>
          <p:nvPr/>
        </p:nvSpPr>
        <p:spPr>
          <a:xfrm>
            <a:off x="2957170"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52" name="Text 49"/>
          <p:cNvSpPr/>
          <p:nvPr/>
        </p:nvSpPr>
        <p:spPr>
          <a:xfrm>
            <a:off x="3030322"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Integrate</a:t>
            </a:r>
            <a:endParaRPr lang="en-US" sz="1400" dirty="0"/>
          </a:p>
        </p:txBody>
      </p:sp>
      <p:sp>
        <p:nvSpPr>
          <p:cNvPr id="53" name="Shape 50"/>
          <p:cNvSpPr/>
          <p:nvPr/>
        </p:nvSpPr>
        <p:spPr>
          <a:xfrm>
            <a:off x="2810866" y="3557016"/>
            <a:ext cx="384048" cy="384048"/>
          </a:xfrm>
          <a:prstGeom prst="ellipse">
            <a:avLst/>
          </a:prstGeom>
          <a:solidFill>
            <a:srgbClr val="22D3EE"/>
          </a:solidFill>
          <a:ln/>
        </p:spPr>
      </p:sp>
      <p:sp>
        <p:nvSpPr>
          <p:cNvPr id="54" name="Text 51"/>
          <p:cNvSpPr/>
          <p:nvPr/>
        </p:nvSpPr>
        <p:spPr>
          <a:xfrm>
            <a:off x="2810866"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9</a:t>
            </a:r>
            <a:endParaRPr lang="en-US" sz="1400" dirty="0"/>
          </a:p>
        </p:txBody>
      </p:sp>
      <p:sp>
        <p:nvSpPr>
          <p:cNvPr id="55" name="Shape 52"/>
          <p:cNvSpPr/>
          <p:nvPr/>
        </p:nvSpPr>
        <p:spPr>
          <a:xfrm>
            <a:off x="713232"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56" name="Text 53"/>
          <p:cNvSpPr/>
          <p:nvPr/>
        </p:nvSpPr>
        <p:spPr>
          <a:xfrm>
            <a:off x="786384"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Test</a:t>
            </a:r>
            <a:endParaRPr lang="en-US" sz="1400" dirty="0"/>
          </a:p>
        </p:txBody>
      </p:sp>
      <p:sp>
        <p:nvSpPr>
          <p:cNvPr id="57" name="Shape 54"/>
          <p:cNvSpPr/>
          <p:nvPr/>
        </p:nvSpPr>
        <p:spPr>
          <a:xfrm>
            <a:off x="566928" y="3557016"/>
            <a:ext cx="384048" cy="384048"/>
          </a:xfrm>
          <a:prstGeom prst="ellipse">
            <a:avLst/>
          </a:prstGeom>
          <a:solidFill>
            <a:srgbClr val="22D3EE"/>
          </a:solidFill>
          <a:ln/>
        </p:spPr>
      </p:sp>
      <p:sp>
        <p:nvSpPr>
          <p:cNvPr id="58" name="Text 55"/>
          <p:cNvSpPr/>
          <p:nvPr/>
        </p:nvSpPr>
        <p:spPr>
          <a:xfrm>
            <a:off x="566928"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10</a:t>
            </a:r>
            <a:endParaRPr lang="en-US" sz="1400" dirty="0"/>
          </a:p>
        </p:txBody>
      </p:sp>
      <p:sp>
        <p:nvSpPr>
          <p:cNvPr id="59" name="Shape 56"/>
          <p:cNvSpPr/>
          <p:nvPr/>
        </p:nvSpPr>
        <p:spPr>
          <a:xfrm>
            <a:off x="548640" y="5349240"/>
            <a:ext cx="11091672" cy="731520"/>
          </a:xfrm>
          <a:prstGeom prst="roundRect">
            <a:avLst>
              <a:gd name="adj" fmla="val 11250"/>
            </a:avLst>
          </a:prstGeom>
          <a:solidFill>
            <a:srgbClr val="141E33"/>
          </a:solidFill>
          <a:ln/>
          <a:effectLst>
            <a:outerShdw sx="100000" sy="100000" kx="0" ky="0" algn="bl" rotWithShape="0" blurRad="114300" dist="38100" dir="5400000">
              <a:srgbClr val="000000">
                <a:alpha val="45000"/>
              </a:srgbClr>
            </a:outerShdw>
          </a:effectLst>
        </p:spPr>
      </p:sp>
      <p:sp>
        <p:nvSpPr>
          <p:cNvPr id="60" name="Text 57"/>
          <p:cNvSpPr/>
          <p:nvPr/>
        </p:nvSpPr>
        <p:spPr>
          <a:xfrm>
            <a:off x="868680" y="5349240"/>
            <a:ext cx="10424160" cy="731520"/>
          </a:xfrm>
          <a:prstGeom prst="rect">
            <a:avLst/>
          </a:prstGeom>
          <a:noFill/>
          <a:ln/>
        </p:spPr>
        <p:txBody>
          <a:bodyPr wrap="square" lIns="0" tIns="0" rIns="0" bIns="0" rtlCol="0" anchor="ctr"/>
          <a:lstStyle/>
          <a:p>
            <a:pPr indent="0" marL="0">
              <a:buNone/>
            </a:pPr>
            <a:r>
              <a:rPr lang="en-US" sz="1550" b="1" dirty="0">
                <a:solidFill>
                  <a:srgbClr val="22D3EE"/>
                </a:solidFill>
                <a:latin typeface="Consolas" pitchFamily="34" charset="0"/>
                <a:ea typeface="Consolas" pitchFamily="34" charset="-122"/>
                <a:cs typeface="Consolas" pitchFamily="34" charset="-120"/>
              </a:rPr>
              <a:t>&gt; </a:t>
            </a:r>
            <a:pPr indent="0" marL="0">
              <a:buNone/>
            </a:pPr>
            <a:r>
              <a:rPr lang="en-US" sz="1550" dirty="0">
                <a:solidFill>
                  <a:srgbClr val="F1F5F9"/>
                </a:solidFill>
                <a:latin typeface="Calibri" pitchFamily="34" charset="0"/>
                <a:ea typeface="Calibri" pitchFamily="34" charset="-122"/>
                <a:cs typeface="Calibri" pitchFamily="34" charset="-120"/>
              </a:rPr>
              <a:t>Skip these entirely → pieces that don't connect at 2 AM.</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Requirements, Stories &amp; “Done”</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28</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REQUIREMENTS — 5.2</a:t>
            </a:r>
            <a:endParaRPr lang="en-US" sz="1400" dirty="0"/>
          </a:p>
        </p:txBody>
      </p:sp>
      <p:sp>
        <p:nvSpPr>
          <p:cNvPr id="6" name="Text 3"/>
          <p:cNvSpPr/>
          <p:nvPr/>
        </p:nvSpPr>
        <p:spPr>
          <a:xfrm>
            <a:off x="548640" y="1783080"/>
            <a:ext cx="5394960" cy="2377440"/>
          </a:xfrm>
          <a:prstGeom prst="rect">
            <a:avLst/>
          </a:prstGeom>
          <a:noFill/>
          <a:ln/>
        </p:spPr>
        <p:txBody>
          <a:bodyPr wrap="square" lIns="0" tIns="0" rIns="0" bIns="0" rtlCol="0" anchor="t"/>
          <a:lstStyle/>
          <a:p>
            <a:pPr algn="l" marL="177800" indent="-177800">
              <a:lnSpc>
                <a:spcPct val="110000"/>
              </a:lnSpc>
              <a:spcAft>
                <a:spcPts val="1200"/>
              </a:spcAft>
              <a:buSzPct val="100000"/>
              <a:buChar char="•"/>
            </a:pPr>
            <a:r>
              <a:rPr lang="en-US" sz="1500" b="1" dirty="0">
                <a:solidFill>
                  <a:srgbClr val="22D3EE"/>
                </a:solidFill>
                <a:latin typeface="Calibri" pitchFamily="34" charset="0"/>
                <a:ea typeface="Calibri" pitchFamily="34" charset="-122"/>
                <a:cs typeface="Calibri" pitchFamily="34" charset="-120"/>
              </a:rPr>
              <a:t>Functional  </a:t>
            </a:r>
            <a:pPr algn="l" indent="0" marL="0">
              <a:lnSpc>
                <a:spcPct val="110000"/>
              </a:lnSpc>
              <a:spcAft>
                <a:spcPts val="1200"/>
              </a:spcAft>
              <a:buNone/>
            </a:pPr>
            <a:r>
              <a:rPr lang="en-US" sz="1500" dirty="0">
                <a:solidFill>
                  <a:srgbClr val="F1F5F9"/>
                </a:solidFill>
                <a:latin typeface="Calibri" pitchFamily="34" charset="0"/>
                <a:ea typeface="Calibri" pitchFamily="34" charset="-122"/>
                <a:cs typeface="Calibri" pitchFamily="34" charset="-120"/>
              </a:rPr>
              <a:t>what it does — “user can add an expense”</a:t>
            </a:r>
            <a:endParaRPr lang="en-US" sz="1500" dirty="0"/>
          </a:p>
          <a:p>
            <a:pPr algn="l" marL="177800" indent="-177800">
              <a:lnSpc>
                <a:spcPct val="110000"/>
              </a:lnSpc>
              <a:spcAft>
                <a:spcPts val="1200"/>
              </a:spcAft>
              <a:buSzPct val="100000"/>
              <a:buChar char="•"/>
            </a:pPr>
            <a:r>
              <a:rPr lang="en-US" sz="1500" b="1" dirty="0">
                <a:solidFill>
                  <a:srgbClr val="22D3EE"/>
                </a:solidFill>
                <a:latin typeface="Calibri" pitchFamily="34" charset="0"/>
                <a:ea typeface="Calibri" pitchFamily="34" charset="-122"/>
                <a:cs typeface="Calibri" pitchFamily="34" charset="-120"/>
              </a:rPr>
              <a:t>Non-functional  </a:t>
            </a:r>
            <a:pPr algn="l" indent="0" marL="0">
              <a:lnSpc>
                <a:spcPct val="110000"/>
              </a:lnSpc>
              <a:spcAft>
                <a:spcPts val="1200"/>
              </a:spcAft>
              <a:buNone/>
            </a:pPr>
            <a:r>
              <a:rPr lang="en-US" sz="1500" dirty="0">
                <a:solidFill>
                  <a:srgbClr val="F1F5F9"/>
                </a:solidFill>
                <a:latin typeface="Calibri" pitchFamily="34" charset="0"/>
                <a:ea typeface="Calibri" pitchFamily="34" charset="-122"/>
                <a:cs typeface="Calibri" pitchFamily="34" charset="-120"/>
              </a:rPr>
              <a:t>how well — “updates &lt; 1s” · “no plaintext passwords”</a:t>
            </a:r>
            <a:endParaRPr lang="en-US" sz="1500" dirty="0"/>
          </a:p>
          <a:p>
            <a:pPr algn="l" marL="177800" indent="-177800">
              <a:lnSpc>
                <a:spcPct val="110000"/>
              </a:lnSpc>
              <a:spcAft>
                <a:spcPts val="1200"/>
              </a:spcAft>
              <a:buSzPct val="100000"/>
              <a:buChar char="•"/>
            </a:pPr>
            <a:r>
              <a:rPr lang="en-US" sz="1500" b="1" dirty="0">
                <a:solidFill>
                  <a:srgbClr val="22D3EE"/>
                </a:solidFill>
                <a:latin typeface="Calibri" pitchFamily="34" charset="0"/>
                <a:ea typeface="Calibri" pitchFamily="34" charset="-122"/>
                <a:cs typeface="Calibri" pitchFamily="34" charset="-120"/>
              </a:rPr>
              <a:t>List 3–7 functional (your Musts) + 2–3 NFRs for the demo</a:t>
            </a:r>
            <a:endParaRPr lang="en-US" sz="1500" dirty="0"/>
          </a:p>
        </p:txBody>
      </p:sp>
      <p:sp>
        <p:nvSpPr>
          <p:cNvPr id="7" name="Shape 4"/>
          <p:cNvSpPr/>
          <p:nvPr/>
        </p:nvSpPr>
        <p:spPr>
          <a:xfrm>
            <a:off x="548640" y="5029200"/>
            <a:ext cx="5029200" cy="420624"/>
          </a:xfrm>
          <a:prstGeom prst="roundRect">
            <a:avLst>
              <a:gd name="adj" fmla="val 15217"/>
            </a:avLst>
          </a:prstGeom>
          <a:solidFill>
            <a:srgbClr val="141E33"/>
          </a:solidFill>
          <a:ln/>
        </p:spPr>
      </p:sp>
      <p:sp>
        <p:nvSpPr>
          <p:cNvPr id="8" name="Text 5"/>
          <p:cNvSpPr/>
          <p:nvPr/>
        </p:nvSpPr>
        <p:spPr>
          <a:xfrm>
            <a:off x="603504" y="5029200"/>
            <a:ext cx="4919472" cy="420624"/>
          </a:xfrm>
          <a:prstGeom prst="rect">
            <a:avLst/>
          </a:prstGeom>
          <a:noFill/>
          <a:ln/>
        </p:spPr>
        <p:txBody>
          <a:bodyPr wrap="square" lIns="0" tIns="0" rIns="0" bIns="0" rtlCol="0" anchor="ctr"/>
          <a:lstStyle/>
          <a:p>
            <a:pPr algn="l" indent="0" marL="0">
              <a:buNone/>
            </a:pPr>
            <a:r>
              <a:rPr lang="en-US" sz="1300" dirty="0">
                <a:solidFill>
                  <a:srgbClr val="A3E635"/>
                </a:solidFill>
                <a:latin typeface="Consolas" pitchFamily="34" charset="0"/>
                <a:ea typeface="Consolas" pitchFamily="34" charset="-122"/>
                <a:cs typeface="Consolas" pitchFamily="34" charset="-120"/>
              </a:rPr>
              <a:t>&gt; Musts → stories → criteria → manual tests</a:t>
            </a:r>
            <a:endParaRPr lang="en-US" sz="1300" dirty="0"/>
          </a:p>
        </p:txBody>
      </p:sp>
      <p:sp>
        <p:nvSpPr>
          <p:cNvPr id="9" name="Text 6"/>
          <p:cNvSpPr/>
          <p:nvPr/>
        </p:nvSpPr>
        <p:spPr>
          <a:xfrm>
            <a:off x="6263640" y="137160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USER STORY + ACCEPTANCE CRITERIA — 5.3</a:t>
            </a:r>
            <a:endParaRPr lang="en-US" sz="1400" dirty="0"/>
          </a:p>
        </p:txBody>
      </p:sp>
      <p:sp>
        <p:nvSpPr>
          <p:cNvPr id="10" name="Shape 7"/>
          <p:cNvSpPr/>
          <p:nvPr/>
        </p:nvSpPr>
        <p:spPr>
          <a:xfrm>
            <a:off x="6263640" y="1783080"/>
            <a:ext cx="5376672" cy="1234440"/>
          </a:xfrm>
          <a:prstGeom prst="roundRect">
            <a:avLst>
              <a:gd name="adj" fmla="val 6667"/>
            </a:avLst>
          </a:prstGeom>
          <a:solidFill>
            <a:srgbClr val="1B2842"/>
          </a:solidFill>
          <a:ln/>
          <a:effectLst>
            <a:outerShdw sx="100000" sy="100000" kx="0" ky="0" algn="bl" rotWithShape="0" blurRad="114300" dist="38100" dir="5400000">
              <a:srgbClr val="000000">
                <a:alpha val="45000"/>
              </a:srgbClr>
            </a:outerShdw>
          </a:effectLst>
        </p:spPr>
      </p:sp>
      <p:sp>
        <p:nvSpPr>
          <p:cNvPr id="11" name="Text 8"/>
          <p:cNvSpPr/>
          <p:nvPr/>
        </p:nvSpPr>
        <p:spPr>
          <a:xfrm>
            <a:off x="6537960" y="1783080"/>
            <a:ext cx="4846320" cy="1234440"/>
          </a:xfrm>
          <a:prstGeom prst="rect">
            <a:avLst/>
          </a:prstGeom>
          <a:noFill/>
          <a:ln/>
        </p:spPr>
        <p:txBody>
          <a:bodyPr wrap="square" lIns="0" tIns="0" rIns="0" bIns="0" rtlCol="0" anchor="ctr"/>
          <a:lstStyle/>
          <a:p>
            <a:pPr indent="0" marL="0">
              <a:buNone/>
            </a:pPr>
            <a:r>
              <a:rPr lang="en-US" sz="1550" dirty="0">
                <a:solidFill>
                  <a:srgbClr val="F1F5F9"/>
                </a:solidFill>
                <a:latin typeface="Calibri" pitchFamily="34" charset="0"/>
                <a:ea typeface="Calibri" pitchFamily="34" charset="-122"/>
                <a:cs typeface="Calibri" pitchFamily="34" charset="-120"/>
              </a:rPr>
              <a:t>“As a </a:t>
            </a:r>
            <a:pPr indent="0" marL="0">
              <a:buNone/>
            </a:pPr>
            <a:r>
              <a:rPr lang="en-US" sz="1550" b="1" dirty="0">
                <a:solidFill>
                  <a:srgbClr val="22D3EE"/>
                </a:solidFill>
                <a:latin typeface="Calibri" pitchFamily="34" charset="0"/>
                <a:ea typeface="Calibri" pitchFamily="34" charset="-122"/>
                <a:cs typeface="Calibri" pitchFamily="34" charset="-120"/>
              </a:rPr>
              <a:t>[user]</a:t>
            </a:r>
            <a:pPr indent="0" marL="0">
              <a:buNone/>
            </a:pPr>
            <a:r>
              <a:rPr lang="en-US" sz="1550" dirty="0">
                <a:solidFill>
                  <a:srgbClr val="F1F5F9"/>
                </a:solidFill>
                <a:latin typeface="Calibri" pitchFamily="34" charset="0"/>
                <a:ea typeface="Calibri" pitchFamily="34" charset="-122"/>
                <a:cs typeface="Calibri" pitchFamily="34" charset="-120"/>
              </a:rPr>
              <a:t>, I want to </a:t>
            </a:r>
            <a:pPr indent="0" marL="0">
              <a:buNone/>
            </a:pPr>
            <a:r>
              <a:rPr lang="en-US" sz="1550" b="1" dirty="0">
                <a:solidFill>
                  <a:srgbClr val="22D3EE"/>
                </a:solidFill>
                <a:latin typeface="Calibri" pitchFamily="34" charset="0"/>
                <a:ea typeface="Calibri" pitchFamily="34" charset="-122"/>
                <a:cs typeface="Calibri" pitchFamily="34" charset="-120"/>
              </a:rPr>
              <a:t>[do something]</a:t>
            </a:r>
            <a:pPr indent="0" marL="0">
              <a:buNone/>
            </a:pPr>
            <a:r>
              <a:rPr lang="en-US" sz="1550" dirty="0">
                <a:solidFill>
                  <a:srgbClr val="F1F5F9"/>
                </a:solidFill>
                <a:latin typeface="Calibri" pitchFamily="34" charset="0"/>
                <a:ea typeface="Calibri" pitchFamily="34" charset="-122"/>
                <a:cs typeface="Calibri" pitchFamily="34" charset="-120"/>
              </a:rPr>
              <a:t>, so that </a:t>
            </a:r>
            <a:pPr indent="0" marL="0">
              <a:buNone/>
            </a:pPr>
            <a:r>
              <a:rPr lang="en-US" sz="1550" b="1" dirty="0">
                <a:solidFill>
                  <a:srgbClr val="22D3EE"/>
                </a:solidFill>
                <a:latin typeface="Calibri" pitchFamily="34" charset="0"/>
                <a:ea typeface="Calibri" pitchFamily="34" charset="-122"/>
                <a:cs typeface="Calibri" pitchFamily="34" charset="-120"/>
              </a:rPr>
              <a:t>[benefit]</a:t>
            </a:r>
            <a:pPr indent="0" marL="0">
              <a:buNone/>
            </a:pPr>
            <a:r>
              <a:rPr lang="en-US" sz="1550" dirty="0">
                <a:solidFill>
                  <a:srgbClr val="F1F5F9"/>
                </a:solidFill>
                <a:latin typeface="Calibri" pitchFamily="34" charset="0"/>
                <a:ea typeface="Calibri" pitchFamily="34" charset="-122"/>
                <a:cs typeface="Calibri" pitchFamily="34" charset="-120"/>
              </a:rPr>
              <a:t>.”</a:t>
            </a:r>
            <a:endParaRPr lang="en-US" sz="1550" dirty="0"/>
          </a:p>
        </p:txBody>
      </p:sp>
      <p:sp>
        <p:nvSpPr>
          <p:cNvPr id="12" name="Shape 9"/>
          <p:cNvSpPr/>
          <p:nvPr/>
        </p:nvSpPr>
        <p:spPr>
          <a:xfrm>
            <a:off x="6263640" y="3246120"/>
            <a:ext cx="5376672" cy="2606040"/>
          </a:xfrm>
          <a:prstGeom prst="roundRect">
            <a:avLst>
              <a:gd name="adj" fmla="val 3158"/>
            </a:avLst>
          </a:prstGeom>
          <a:solidFill>
            <a:srgbClr val="141E33"/>
          </a:solidFill>
          <a:ln/>
          <a:effectLst>
            <a:outerShdw sx="100000" sy="100000" kx="0" ky="0" algn="bl" rotWithShape="0" blurRad="114300" dist="38100" dir="5400000">
              <a:srgbClr val="000000">
                <a:alpha val="45000"/>
              </a:srgbClr>
            </a:outerShdw>
          </a:effectLst>
        </p:spPr>
      </p:sp>
      <p:sp>
        <p:nvSpPr>
          <p:cNvPr id="13" name="Text 10"/>
          <p:cNvSpPr/>
          <p:nvPr/>
        </p:nvSpPr>
        <p:spPr>
          <a:xfrm>
            <a:off x="6537960" y="3246120"/>
            <a:ext cx="4846320" cy="2606040"/>
          </a:xfrm>
          <a:prstGeom prst="rect">
            <a:avLst/>
          </a:prstGeom>
          <a:noFill/>
          <a:ln/>
        </p:spPr>
        <p:txBody>
          <a:bodyPr wrap="square" lIns="0" tIns="0" rIns="0" bIns="0" rtlCol="0" anchor="ctr"/>
          <a:lstStyle/>
          <a:p>
            <a:pPr indent="0" marL="0">
              <a:lnSpc>
                <a:spcPct val="106000"/>
              </a:lnSpc>
              <a:spcAft>
                <a:spcPts val="800"/>
              </a:spcAft>
              <a:buNone/>
            </a:pPr>
            <a:r>
              <a:rPr lang="en-US" sz="1250" dirty="0">
                <a:solidFill>
                  <a:srgbClr val="22D3EE"/>
                </a:solidFill>
                <a:latin typeface="Consolas" pitchFamily="34" charset="0"/>
                <a:ea typeface="Consolas" pitchFamily="34" charset="-122"/>
                <a:cs typeface="Consolas" pitchFamily="34" charset="-120"/>
              </a:rPr>
              <a:t>acceptance criteria = mini test cases</a:t>
            </a:r>
            <a:endParaRPr lang="en-US" sz="1250" dirty="0"/>
          </a:p>
          <a:p>
            <a:pPr marL="152400" indent="-152400">
              <a:lnSpc>
                <a:spcPct val="106000"/>
              </a:lnSpc>
              <a:spcAft>
                <a:spcPts val="500"/>
              </a:spcAft>
              <a:buSzPct val="100000"/>
              <a:buChar char="•"/>
            </a:pPr>
            <a:r>
              <a:rPr lang="en-US" sz="1400" dirty="0">
                <a:solidFill>
                  <a:srgbClr val="F1F5F9"/>
                </a:solidFill>
                <a:latin typeface="Calibri" pitchFamily="34" charset="0"/>
                <a:ea typeface="Calibri" pitchFamily="34" charset="-122"/>
                <a:cs typeface="Calibri" pitchFamily="34" charset="-120"/>
              </a:rPr>
              <a:t>Given logged in, when amount + payer entered → expense saves, balances recompute</a:t>
            </a:r>
            <a:endParaRPr lang="en-US" sz="1250" dirty="0"/>
          </a:p>
          <a:p>
            <a:pPr marL="152400" indent="-152400">
              <a:lnSpc>
                <a:spcPct val="106000"/>
              </a:lnSpc>
              <a:spcAft>
                <a:spcPts val="800"/>
              </a:spcAft>
              <a:buSzPct val="100000"/>
              <a:buChar char="•"/>
            </a:pPr>
            <a:r>
              <a:rPr lang="en-US" sz="1400" dirty="0">
                <a:solidFill>
                  <a:srgbClr val="F1F5F9"/>
                </a:solidFill>
                <a:latin typeface="Calibri" pitchFamily="34" charset="0"/>
                <a:ea typeface="Calibri" pitchFamily="34" charset="-122"/>
                <a:cs typeface="Calibri" pitchFamily="34" charset="-120"/>
              </a:rPr>
              <a:t>Zero / negative amounts rejected</a:t>
            </a:r>
            <a:endParaRPr lang="en-US" sz="1250" dirty="0"/>
          </a:p>
          <a:p>
            <a:pPr indent="0" marL="0">
              <a:lnSpc>
                <a:spcPct val="106000"/>
              </a:lnSpc>
              <a:buNone/>
            </a:pPr>
            <a:r>
              <a:rPr lang="en-US" sz="1300" i="1" dirty="0">
                <a:solidFill>
                  <a:srgbClr val="7C8CA5"/>
                </a:solidFill>
                <a:latin typeface="Calibri" pitchFamily="34" charset="0"/>
                <a:ea typeface="Calibri" pitchFamily="34" charset="-122"/>
                <a:cs typeface="Calibri" pitchFamily="34" charset="-120"/>
              </a:rPr>
              <a:t>…and they end “is it finished?” arguments.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Wireframes &amp; UX Principles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29</a:t>
            </a:r>
            <a:endParaRPr lang="en-US" sz="1000" dirty="0"/>
          </a:p>
        </p:txBody>
      </p:sp>
      <p:sp>
        <p:nvSpPr>
          <p:cNvPr id="5" name="Text 2"/>
          <p:cNvSpPr/>
          <p:nvPr/>
        </p:nvSpPr>
        <p:spPr>
          <a:xfrm>
            <a:off x="548640" y="1508760"/>
            <a:ext cx="5394960" cy="2011680"/>
          </a:xfrm>
          <a:prstGeom prst="rect">
            <a:avLst/>
          </a:prstGeom>
          <a:noFill/>
          <a:ln/>
        </p:spPr>
        <p:txBody>
          <a:bodyPr wrap="square" lIns="0" tIns="0" rIns="0" bIns="0" rtlCol="0" anchor="t"/>
          <a:lstStyle/>
          <a:p>
            <a:pPr algn="l" marL="177800" indent="-177800">
              <a:lnSpc>
                <a:spcPct val="110000"/>
              </a:lnSpc>
              <a:spcAft>
                <a:spcPts val="1100"/>
              </a:spcAft>
              <a:buSzPct val="100000"/>
              <a:buChar char="•"/>
            </a:pPr>
            <a:r>
              <a:rPr lang="en-US" sz="1500" b="1" dirty="0">
                <a:solidFill>
                  <a:srgbClr val="22D3EE"/>
                </a:solidFill>
                <a:latin typeface="Calibri" pitchFamily="34" charset="0"/>
                <a:ea typeface="Calibri" pitchFamily="34" charset="-122"/>
                <a:cs typeface="Calibri" pitchFamily="34" charset="-120"/>
              </a:rPr>
              <a:t>Wireframe  </a:t>
            </a:r>
            <a:pPr algn="l" indent="0" marL="0">
              <a:lnSpc>
                <a:spcPct val="110000"/>
              </a:lnSpc>
              <a:spcAft>
                <a:spcPts val="1100"/>
              </a:spcAft>
              <a:buNone/>
            </a:pPr>
            <a:r>
              <a:rPr lang="en-US" sz="1500" dirty="0">
                <a:solidFill>
                  <a:srgbClr val="F1F5F9"/>
                </a:solidFill>
                <a:latin typeface="Calibri" pitchFamily="34" charset="0"/>
                <a:ea typeface="Calibri" pitchFamily="34" charset="-122"/>
                <a:cs typeface="Calibri" pitchFamily="34" charset="-120"/>
              </a:rPr>
              <a:t>boxes + labels — “what goes where”, fast</a:t>
            </a:r>
            <a:endParaRPr lang="en-US" sz="1500" dirty="0"/>
          </a:p>
          <a:p>
            <a:pPr algn="l" marL="177800" indent="-177800">
              <a:lnSpc>
                <a:spcPct val="110000"/>
              </a:lnSpc>
              <a:spcAft>
                <a:spcPts val="1100"/>
              </a:spcAft>
              <a:buSzPct val="100000"/>
              <a:buChar char="•"/>
            </a:pPr>
            <a:r>
              <a:rPr lang="en-US" sz="1500" b="1" dirty="0">
                <a:solidFill>
                  <a:srgbClr val="22D3EE"/>
                </a:solidFill>
                <a:latin typeface="Calibri" pitchFamily="34" charset="0"/>
                <a:ea typeface="Calibri" pitchFamily="34" charset="-122"/>
                <a:cs typeface="Calibri" pitchFamily="34" charset="-120"/>
              </a:rPr>
              <a:t>Low-fi  </a:t>
            </a:r>
            <a:pPr algn="l" indent="0" marL="0">
              <a:lnSpc>
                <a:spcPct val="110000"/>
              </a:lnSpc>
              <a:spcAft>
                <a:spcPts val="1100"/>
              </a:spcAft>
              <a:buNone/>
            </a:pPr>
            <a:r>
              <a:rPr lang="en-US" sz="1500" dirty="0">
                <a:solidFill>
                  <a:srgbClr val="F1F5F9"/>
                </a:solidFill>
                <a:latin typeface="Calibri" pitchFamily="34" charset="0"/>
                <a:ea typeface="Calibri" pitchFamily="34" charset="-122"/>
                <a:cs typeface="Calibri" pitchFamily="34" charset="-120"/>
              </a:rPr>
              <a:t>rough, non-clickable → aligns the team in minutes</a:t>
            </a:r>
            <a:endParaRPr lang="en-US" sz="1500" dirty="0"/>
          </a:p>
          <a:p>
            <a:pPr algn="l" marL="177800" indent="-177800">
              <a:lnSpc>
                <a:spcPct val="110000"/>
              </a:lnSpc>
              <a:spcAft>
                <a:spcPts val="1100"/>
              </a:spcAft>
              <a:buSzPct val="100000"/>
              <a:buChar char="•"/>
            </a:pPr>
            <a:r>
              <a:rPr lang="en-US" sz="1500" b="1" dirty="0">
                <a:solidFill>
                  <a:srgbClr val="22D3EE"/>
                </a:solidFill>
                <a:latin typeface="Calibri" pitchFamily="34" charset="0"/>
                <a:ea typeface="Calibri" pitchFamily="34" charset="-122"/>
                <a:cs typeface="Calibri" pitchFamily="34" charset="-120"/>
              </a:rPr>
              <a:t>High-fi  </a:t>
            </a:r>
            <a:pPr algn="l" indent="0" marL="0">
              <a:lnSpc>
                <a:spcPct val="110000"/>
              </a:lnSpc>
              <a:spcAft>
                <a:spcPts val="1100"/>
              </a:spcAft>
              <a:buNone/>
            </a:pPr>
            <a:r>
              <a:rPr lang="en-US" sz="1500" dirty="0">
                <a:solidFill>
                  <a:srgbClr val="F1F5F9"/>
                </a:solidFill>
                <a:latin typeface="Calibri" pitchFamily="34" charset="0"/>
                <a:ea typeface="Calibri" pitchFamily="34" charset="-122"/>
                <a:cs typeface="Calibri" pitchFamily="34" charset="-120"/>
              </a:rPr>
              <a:t>skip it — your running app is the high-fi artifact</a:t>
            </a:r>
            <a:endParaRPr lang="en-US" sz="1500" dirty="0"/>
          </a:p>
        </p:txBody>
      </p:sp>
      <p:sp>
        <p:nvSpPr>
          <p:cNvPr id="6" name="Shape 3"/>
          <p:cNvSpPr/>
          <p:nvPr/>
        </p:nvSpPr>
        <p:spPr>
          <a:xfrm>
            <a:off x="548640" y="3794760"/>
            <a:ext cx="2514600" cy="1874520"/>
          </a:xfrm>
          <a:prstGeom prst="roundRect">
            <a:avLst>
              <a:gd name="adj" fmla="val 4390"/>
            </a:avLst>
          </a:prstGeom>
          <a:solidFill>
            <a:srgbClr val="141E33"/>
          </a:solidFill>
          <a:ln/>
          <a:effectLst>
            <a:outerShdw sx="100000" sy="100000" kx="0" ky="0" algn="bl" rotWithShape="0" blurRad="114300" dist="38100" dir="5400000">
              <a:srgbClr val="000000">
                <a:alpha val="45000"/>
              </a:srgbClr>
            </a:outerShdw>
          </a:effectLst>
        </p:spPr>
      </p:sp>
      <p:sp>
        <p:nvSpPr>
          <p:cNvPr id="7" name="Shape 4"/>
          <p:cNvSpPr/>
          <p:nvPr/>
        </p:nvSpPr>
        <p:spPr>
          <a:xfrm>
            <a:off x="749808" y="4023360"/>
            <a:ext cx="2103120" cy="292608"/>
          </a:xfrm>
          <a:prstGeom prst="rect">
            <a:avLst/>
          </a:prstGeom>
          <a:solidFill>
            <a:srgbClr val="1E293B"/>
          </a:solidFill>
          <a:ln/>
        </p:spPr>
      </p:sp>
      <p:sp>
        <p:nvSpPr>
          <p:cNvPr id="8" name="Shape 5"/>
          <p:cNvSpPr/>
          <p:nvPr/>
        </p:nvSpPr>
        <p:spPr>
          <a:xfrm>
            <a:off x="749808" y="4434840"/>
            <a:ext cx="1280160" cy="960120"/>
          </a:xfrm>
          <a:prstGeom prst="rect">
            <a:avLst/>
          </a:prstGeom>
          <a:solidFill>
            <a:srgbClr val="1E293B"/>
          </a:solidFill>
          <a:ln/>
        </p:spPr>
      </p:sp>
      <p:sp>
        <p:nvSpPr>
          <p:cNvPr id="9" name="Shape 6"/>
          <p:cNvSpPr/>
          <p:nvPr/>
        </p:nvSpPr>
        <p:spPr>
          <a:xfrm>
            <a:off x="2148840" y="4434840"/>
            <a:ext cx="713232" cy="960120"/>
          </a:xfrm>
          <a:prstGeom prst="rect">
            <a:avLst/>
          </a:prstGeom>
          <a:solidFill>
            <a:srgbClr val="22D3EE">
              <a:alpha val="60000"/>
            </a:srgbClr>
          </a:solidFill>
          <a:ln/>
        </p:spPr>
      </p:sp>
      <p:sp>
        <p:nvSpPr>
          <p:cNvPr id="10" name="Shape 7"/>
          <p:cNvSpPr/>
          <p:nvPr/>
        </p:nvSpPr>
        <p:spPr>
          <a:xfrm>
            <a:off x="3291840" y="3794760"/>
            <a:ext cx="2514600" cy="1874520"/>
          </a:xfrm>
          <a:prstGeom prst="roundRect">
            <a:avLst>
              <a:gd name="adj" fmla="val 4390"/>
            </a:avLst>
          </a:prstGeom>
          <a:solidFill>
            <a:srgbClr val="141E33"/>
          </a:solidFill>
          <a:ln/>
          <a:effectLst>
            <a:outerShdw sx="100000" sy="100000" kx="0" ky="0" algn="bl" rotWithShape="0" blurRad="114300" dist="38100" dir="5400000">
              <a:srgbClr val="000000">
                <a:alpha val="45000"/>
              </a:srgbClr>
            </a:outerShdw>
          </a:effectLst>
        </p:spPr>
      </p:sp>
      <p:sp>
        <p:nvSpPr>
          <p:cNvPr id="11" name="Shape 8"/>
          <p:cNvSpPr/>
          <p:nvPr/>
        </p:nvSpPr>
        <p:spPr>
          <a:xfrm>
            <a:off x="3493008" y="4023360"/>
            <a:ext cx="2103120" cy="292608"/>
          </a:xfrm>
          <a:prstGeom prst="rect">
            <a:avLst/>
          </a:prstGeom>
          <a:solidFill>
            <a:srgbClr val="1E293B"/>
          </a:solidFill>
          <a:ln/>
        </p:spPr>
      </p:sp>
      <p:sp>
        <p:nvSpPr>
          <p:cNvPr id="12" name="Shape 9"/>
          <p:cNvSpPr/>
          <p:nvPr/>
        </p:nvSpPr>
        <p:spPr>
          <a:xfrm>
            <a:off x="3493008" y="4434840"/>
            <a:ext cx="1280160" cy="960120"/>
          </a:xfrm>
          <a:prstGeom prst="rect">
            <a:avLst/>
          </a:prstGeom>
          <a:solidFill>
            <a:srgbClr val="1E293B"/>
          </a:solidFill>
          <a:ln/>
        </p:spPr>
      </p:sp>
      <p:sp>
        <p:nvSpPr>
          <p:cNvPr id="13" name="Shape 10"/>
          <p:cNvSpPr/>
          <p:nvPr/>
        </p:nvSpPr>
        <p:spPr>
          <a:xfrm>
            <a:off x="4892040" y="4434840"/>
            <a:ext cx="713232" cy="960120"/>
          </a:xfrm>
          <a:prstGeom prst="rect">
            <a:avLst/>
          </a:prstGeom>
          <a:solidFill>
            <a:srgbClr val="22D3EE">
              <a:alpha val="60000"/>
            </a:srgbClr>
          </a:solidFill>
          <a:ln/>
        </p:spPr>
      </p:sp>
      <p:sp>
        <p:nvSpPr>
          <p:cNvPr id="14" name="Text 11"/>
          <p:cNvSpPr/>
          <p:nvPr/>
        </p:nvSpPr>
        <p:spPr>
          <a:xfrm>
            <a:off x="6263640" y="137160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UX PRINCIPLES — 5.5</a:t>
            </a:r>
            <a:endParaRPr lang="en-US" sz="1400" dirty="0"/>
          </a:p>
        </p:txBody>
      </p:sp>
      <p:sp>
        <p:nvSpPr>
          <p:cNvPr id="15" name="Text 12"/>
          <p:cNvSpPr/>
          <p:nvPr/>
        </p:nvSpPr>
        <p:spPr>
          <a:xfrm>
            <a:off x="6263640" y="1783080"/>
            <a:ext cx="5394960" cy="2468880"/>
          </a:xfrm>
          <a:prstGeom prst="rect">
            <a:avLst/>
          </a:prstGeom>
          <a:noFill/>
          <a:ln/>
        </p:spPr>
        <p:txBody>
          <a:bodyPr wrap="square" lIns="0" tIns="0" rIns="0" bIns="0" rtlCol="0" anchor="t"/>
          <a:lstStyle/>
          <a:p>
            <a:pPr algn="l" marL="177800" indent="-177800">
              <a:lnSpc>
                <a:spcPct val="110000"/>
              </a:lnSpc>
              <a:spcAft>
                <a:spcPts val="900"/>
              </a:spcAft>
              <a:buSzPct val="100000"/>
              <a:buChar char="•"/>
            </a:pPr>
            <a:r>
              <a:rPr lang="en-US" sz="1500" dirty="0">
                <a:solidFill>
                  <a:srgbClr val="F1F5F9"/>
                </a:solidFill>
                <a:latin typeface="Calibri" pitchFamily="34" charset="0"/>
                <a:ea typeface="Calibri" pitchFamily="34" charset="-122"/>
                <a:cs typeface="Calibri" pitchFamily="34" charset="-120"/>
              </a:rPr>
              <a:t>Clarity over cleverness</a:t>
            </a:r>
            <a:endParaRPr lang="en-US" sz="1500" dirty="0"/>
          </a:p>
          <a:p>
            <a:pPr algn="l" marL="177800" indent="-177800">
              <a:lnSpc>
                <a:spcPct val="110000"/>
              </a:lnSpc>
              <a:spcAft>
                <a:spcPts val="900"/>
              </a:spcAft>
              <a:buSzPct val="100000"/>
              <a:buChar char="•"/>
            </a:pPr>
            <a:r>
              <a:rPr lang="en-US" sz="1500" dirty="0">
                <a:solidFill>
                  <a:srgbClr val="F1F5F9"/>
                </a:solidFill>
                <a:latin typeface="Calibri" pitchFamily="34" charset="0"/>
                <a:ea typeface="Calibri" pitchFamily="34" charset="-122"/>
                <a:cs typeface="Calibri" pitchFamily="34" charset="-120"/>
              </a:rPr>
              <a:t>One primary action per screen</a:t>
            </a:r>
            <a:endParaRPr lang="en-US" sz="1500" dirty="0"/>
          </a:p>
          <a:p>
            <a:pPr algn="l" marL="177800" indent="-177800">
              <a:lnSpc>
                <a:spcPct val="110000"/>
              </a:lnSpc>
              <a:spcAft>
                <a:spcPts val="900"/>
              </a:spcAft>
              <a:buSzPct val="100000"/>
              <a:buChar char="•"/>
            </a:pPr>
            <a:r>
              <a:rPr lang="en-US" sz="1500" dirty="0">
                <a:solidFill>
                  <a:srgbClr val="F1F5F9"/>
                </a:solidFill>
                <a:latin typeface="Calibri" pitchFamily="34" charset="0"/>
                <a:ea typeface="Calibri" pitchFamily="34" charset="-122"/>
                <a:cs typeface="Calibri" pitchFamily="34" charset="-120"/>
              </a:rPr>
              <a:t>Feedback for every action — spinner / success</a:t>
            </a:r>
            <a:endParaRPr lang="en-US" sz="1500" dirty="0"/>
          </a:p>
          <a:p>
            <a:pPr algn="l" marL="177800" indent="-177800">
              <a:lnSpc>
                <a:spcPct val="110000"/>
              </a:lnSpc>
              <a:spcAft>
                <a:spcPts val="900"/>
              </a:spcAft>
              <a:buSzPct val="100000"/>
              <a:buChar char="•"/>
            </a:pPr>
            <a:r>
              <a:rPr lang="en-US" sz="1500" dirty="0">
                <a:solidFill>
                  <a:srgbClr val="F1F5F9"/>
                </a:solidFill>
                <a:latin typeface="Calibri" pitchFamily="34" charset="0"/>
                <a:ea typeface="Calibri" pitchFamily="34" charset="-122"/>
                <a:cs typeface="Calibri" pitchFamily="34" charset="-120"/>
              </a:rPr>
              <a:t>Forgiveness — validate inputs, helpful errors</a:t>
            </a:r>
            <a:endParaRPr lang="en-US" sz="1500" dirty="0"/>
          </a:p>
          <a:p>
            <a:pPr algn="l" marL="177800" indent="-177800">
              <a:lnSpc>
                <a:spcPct val="110000"/>
              </a:lnSpc>
              <a:spcAft>
                <a:spcPts val="900"/>
              </a:spcAft>
              <a:buSzPct val="100000"/>
              <a:buChar char="•"/>
            </a:pPr>
            <a:r>
              <a:rPr lang="en-US" sz="1500" dirty="0">
                <a:solidFill>
                  <a:srgbClr val="F1F5F9"/>
                </a:solidFill>
                <a:latin typeface="Calibri" pitchFamily="34" charset="0"/>
                <a:ea typeface="Calibri" pitchFamily="34" charset="-122"/>
                <a:cs typeface="Calibri" pitchFamily="34" charset="-120"/>
              </a:rPr>
              <a:t>Consistency — reuse components · shallow IA</a:t>
            </a:r>
            <a:endParaRPr lang="en-US" sz="1500" dirty="0"/>
          </a:p>
        </p:txBody>
      </p:sp>
      <p:sp>
        <p:nvSpPr>
          <p:cNvPr id="16" name="Shape 13"/>
          <p:cNvSpPr/>
          <p:nvPr/>
        </p:nvSpPr>
        <p:spPr>
          <a:xfrm>
            <a:off x="6263640" y="4572000"/>
            <a:ext cx="5376672" cy="1097280"/>
          </a:xfrm>
          <a:prstGeom prst="roundRect">
            <a:avLst>
              <a:gd name="adj" fmla="val 7500"/>
            </a:avLst>
          </a:prstGeom>
          <a:solidFill>
            <a:srgbClr val="1B2842"/>
          </a:solidFill>
          <a:ln/>
          <a:effectLst>
            <a:outerShdw sx="100000" sy="100000" kx="0" ky="0" algn="bl" rotWithShape="0" blurRad="114300" dist="38100" dir="5400000">
              <a:srgbClr val="000000">
                <a:alpha val="45000"/>
              </a:srgbClr>
            </a:outerShdw>
          </a:effectLst>
        </p:spPr>
      </p:sp>
      <p:sp>
        <p:nvSpPr>
          <p:cNvPr id="17" name="Shape 14"/>
          <p:cNvSpPr/>
          <p:nvPr/>
        </p:nvSpPr>
        <p:spPr>
          <a:xfrm>
            <a:off x="6537960" y="4837176"/>
            <a:ext cx="566928" cy="566928"/>
          </a:xfrm>
          <a:prstGeom prst="ellipse">
            <a:avLst/>
          </a:prstGeom>
          <a:solidFill>
            <a:srgbClr val="141E33"/>
          </a:solidFill>
          <a:ln/>
        </p:spPr>
      </p:sp>
      <p:pic>
        <p:nvPicPr>
          <p:cNvPr id="18" name="Image 0" descr="C:\Users\User\AppData\Local\Temp\claude\C--Users-User-OneDrive-Music-Hackathon\67e3d9e6-0718-4380-8c09-13d83fcd8fa7\scratchpad\pptbuild\v2\assets\icons\route-cyan.png">    </p:cNvPr>
          <p:cNvPicPr>
            <a:picLocks noChangeAspect="1"/>
          </p:cNvPicPr>
          <p:nvPr/>
        </p:nvPicPr>
        <p:blipFill>
          <a:blip r:embed="rId1"/>
          <a:stretch>
            <a:fillRect/>
          </a:stretch>
        </p:blipFill>
        <p:spPr>
          <a:xfrm>
            <a:off x="6674023" y="4973239"/>
            <a:ext cx="294803" cy="294803"/>
          </a:xfrm>
          <a:prstGeom prst="rect">
            <a:avLst/>
          </a:prstGeom>
        </p:spPr>
      </p:pic>
      <p:sp>
        <p:nvSpPr>
          <p:cNvPr id="19" name="Text 15"/>
          <p:cNvSpPr/>
          <p:nvPr/>
        </p:nvSpPr>
        <p:spPr>
          <a:xfrm>
            <a:off x="7269480" y="4572000"/>
            <a:ext cx="4206240" cy="1097280"/>
          </a:xfrm>
          <a:prstGeom prst="rect">
            <a:avLst/>
          </a:prstGeom>
          <a:noFill/>
          <a:ln/>
        </p:spPr>
        <p:txBody>
          <a:bodyPr wrap="square" lIns="0" tIns="0" rIns="0" bIns="0" rtlCol="0" anchor="ctr"/>
          <a:lstStyle/>
          <a:p>
            <a:pPr indent="0" marL="0">
              <a:buNone/>
            </a:pPr>
            <a:r>
              <a:rPr lang="en-US" sz="1450" b="1" dirty="0">
                <a:solidFill>
                  <a:srgbClr val="22D3EE"/>
                </a:solidFill>
                <a:latin typeface="Calibri" pitchFamily="34" charset="0"/>
                <a:ea typeface="Calibri" pitchFamily="34" charset="-122"/>
                <a:cs typeface="Calibri" pitchFamily="34" charset="-120"/>
              </a:rPr>
              <a:t>Map the demo path — </a:t>
            </a:r>
            <a:pPr indent="0" marL="0">
              <a:buNone/>
            </a:pPr>
            <a:r>
              <a:rPr lang="en-US" sz="1450" dirty="0">
                <a:solidFill>
                  <a:srgbClr val="F1F5F9"/>
                </a:solidFill>
                <a:latin typeface="Calibri" pitchFamily="34" charset="0"/>
                <a:ea typeface="Calibri" pitchFamily="34" charset="-122"/>
                <a:cs typeface="Calibri" pitchFamily="34" charset="-120"/>
              </a:rPr>
              <a:t>the exact clicks judges will see. Make it flawless.</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Data Model &amp; API Contract</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30</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MINI ER SKETCH — 5.6</a:t>
            </a:r>
            <a:endParaRPr lang="en-US" sz="1400" dirty="0"/>
          </a:p>
        </p:txBody>
      </p:sp>
      <p:sp>
        <p:nvSpPr>
          <p:cNvPr id="6" name="Shape 3"/>
          <p:cNvSpPr/>
          <p:nvPr/>
        </p:nvSpPr>
        <p:spPr>
          <a:xfrm>
            <a:off x="640080" y="1783080"/>
            <a:ext cx="1783080" cy="1188720"/>
          </a:xfrm>
          <a:prstGeom prst="roundRect">
            <a:avLst>
              <a:gd name="adj" fmla="val 6923"/>
            </a:avLst>
          </a:prstGeom>
          <a:solidFill>
            <a:srgbClr val="141E33"/>
          </a:solidFill>
          <a:ln/>
          <a:effectLst>
            <a:outerShdw sx="100000" sy="100000" kx="0" ky="0" algn="bl" rotWithShape="0" blurRad="114300" dist="38100" dir="5400000">
              <a:srgbClr val="000000">
                <a:alpha val="45000"/>
              </a:srgbClr>
            </a:outerShdw>
          </a:effectLst>
        </p:spPr>
      </p:sp>
      <p:sp>
        <p:nvSpPr>
          <p:cNvPr id="7" name="Text 4"/>
          <p:cNvSpPr/>
          <p:nvPr/>
        </p:nvSpPr>
        <p:spPr>
          <a:xfrm>
            <a:off x="768096" y="1783080"/>
            <a:ext cx="1554480" cy="1188720"/>
          </a:xfrm>
          <a:prstGeom prst="rect">
            <a:avLst/>
          </a:prstGeom>
          <a:noFill/>
          <a:ln/>
        </p:spPr>
        <p:txBody>
          <a:bodyPr wrap="square" lIns="0" tIns="0" rIns="0" bIns="0" rtlCol="0" anchor="ctr"/>
          <a:lstStyle/>
          <a:p>
            <a:pPr indent="0" marL="0">
              <a:spcAft>
                <a:spcPts val="200"/>
              </a:spcAft>
              <a:buNone/>
            </a:pPr>
            <a:r>
              <a:rPr lang="en-US" sz="1450" b="1" dirty="0">
                <a:solidFill>
                  <a:srgbClr val="22D3EE"/>
                </a:solidFill>
                <a:latin typeface="Calibri" pitchFamily="34" charset="0"/>
                <a:ea typeface="Calibri" pitchFamily="34" charset="-122"/>
                <a:cs typeface="Calibri" pitchFamily="34" charset="-120"/>
              </a:rPr>
              <a:t>User
</a:t>
            </a:r>
            <a:pPr indent="0" marL="0">
              <a:buNone/>
            </a:pPr>
            <a:r>
              <a:rPr lang="en-US" sz="1150" dirty="0">
                <a:solidFill>
                  <a:srgbClr val="7C8CA5"/>
                </a:solidFill>
                <a:latin typeface="Consolas" pitchFamily="34" charset="0"/>
                <a:ea typeface="Consolas" pitchFamily="34" charset="-122"/>
                <a:cs typeface="Consolas" pitchFamily="34" charset="-120"/>
              </a:rPr>
              <a:t>id · name</a:t>
            </a:r>
            <a:endParaRPr lang="en-US" sz="1450" dirty="0"/>
          </a:p>
        </p:txBody>
      </p:sp>
      <p:sp>
        <p:nvSpPr>
          <p:cNvPr id="8" name="Shape 5"/>
          <p:cNvSpPr/>
          <p:nvPr/>
        </p:nvSpPr>
        <p:spPr>
          <a:xfrm>
            <a:off x="2423160" y="3246120"/>
            <a:ext cx="1783080" cy="1188720"/>
          </a:xfrm>
          <a:prstGeom prst="roundRect">
            <a:avLst>
              <a:gd name="adj" fmla="val 6923"/>
            </a:avLst>
          </a:prstGeom>
          <a:solidFill>
            <a:srgbClr val="141E33"/>
          </a:solidFill>
          <a:ln/>
          <a:effectLst>
            <a:outerShdw sx="100000" sy="100000" kx="0" ky="0" algn="bl" rotWithShape="0" blurRad="114300" dist="38100" dir="5400000">
              <a:srgbClr val="000000">
                <a:alpha val="45000"/>
              </a:srgbClr>
            </a:outerShdw>
          </a:effectLst>
        </p:spPr>
      </p:sp>
      <p:sp>
        <p:nvSpPr>
          <p:cNvPr id="9" name="Text 6"/>
          <p:cNvSpPr/>
          <p:nvPr/>
        </p:nvSpPr>
        <p:spPr>
          <a:xfrm>
            <a:off x="2551176" y="3246120"/>
            <a:ext cx="1554480" cy="1188720"/>
          </a:xfrm>
          <a:prstGeom prst="rect">
            <a:avLst/>
          </a:prstGeom>
          <a:noFill/>
          <a:ln/>
        </p:spPr>
        <p:txBody>
          <a:bodyPr wrap="square" lIns="0" tIns="0" rIns="0" bIns="0" rtlCol="0" anchor="ctr"/>
          <a:lstStyle/>
          <a:p>
            <a:pPr indent="0" marL="0">
              <a:spcAft>
                <a:spcPts val="200"/>
              </a:spcAft>
              <a:buNone/>
            </a:pPr>
            <a:r>
              <a:rPr lang="en-US" sz="1450" b="1" dirty="0">
                <a:solidFill>
                  <a:srgbClr val="22D3EE"/>
                </a:solidFill>
                <a:latin typeface="Calibri" pitchFamily="34" charset="0"/>
                <a:ea typeface="Calibri" pitchFamily="34" charset="-122"/>
                <a:cs typeface="Calibri" pitchFamily="34" charset="-120"/>
              </a:rPr>
              <a:t>Group
</a:t>
            </a:r>
            <a:pPr indent="0" marL="0">
              <a:buNone/>
            </a:pPr>
            <a:r>
              <a:rPr lang="en-US" sz="1150" dirty="0">
                <a:solidFill>
                  <a:srgbClr val="7C8CA5"/>
                </a:solidFill>
                <a:latin typeface="Consolas" pitchFamily="34" charset="0"/>
                <a:ea typeface="Consolas" pitchFamily="34" charset="-122"/>
                <a:cs typeface="Consolas" pitchFamily="34" charset="-120"/>
              </a:rPr>
              <a:t>id · name</a:t>
            </a:r>
            <a:endParaRPr lang="en-US" sz="1450" dirty="0"/>
          </a:p>
        </p:txBody>
      </p:sp>
      <p:sp>
        <p:nvSpPr>
          <p:cNvPr id="10" name="Shape 7"/>
          <p:cNvSpPr/>
          <p:nvPr/>
        </p:nvSpPr>
        <p:spPr>
          <a:xfrm>
            <a:off x="4206240" y="1783080"/>
            <a:ext cx="1783080" cy="1188720"/>
          </a:xfrm>
          <a:prstGeom prst="roundRect">
            <a:avLst>
              <a:gd name="adj" fmla="val 6923"/>
            </a:avLst>
          </a:prstGeom>
          <a:solidFill>
            <a:srgbClr val="141E33"/>
          </a:solidFill>
          <a:ln/>
          <a:effectLst>
            <a:outerShdw sx="100000" sy="100000" kx="0" ky="0" algn="bl" rotWithShape="0" blurRad="114300" dist="38100" dir="5400000">
              <a:srgbClr val="000000">
                <a:alpha val="45000"/>
              </a:srgbClr>
            </a:outerShdw>
          </a:effectLst>
        </p:spPr>
      </p:sp>
      <p:sp>
        <p:nvSpPr>
          <p:cNvPr id="11" name="Text 8"/>
          <p:cNvSpPr/>
          <p:nvPr/>
        </p:nvSpPr>
        <p:spPr>
          <a:xfrm>
            <a:off x="4334256" y="1783080"/>
            <a:ext cx="1554480" cy="1188720"/>
          </a:xfrm>
          <a:prstGeom prst="rect">
            <a:avLst/>
          </a:prstGeom>
          <a:noFill/>
          <a:ln/>
        </p:spPr>
        <p:txBody>
          <a:bodyPr wrap="square" lIns="0" tIns="0" rIns="0" bIns="0" rtlCol="0" anchor="ctr"/>
          <a:lstStyle/>
          <a:p>
            <a:pPr indent="0" marL="0">
              <a:spcAft>
                <a:spcPts val="200"/>
              </a:spcAft>
              <a:buNone/>
            </a:pPr>
            <a:r>
              <a:rPr lang="en-US" sz="1450" b="1" dirty="0">
                <a:solidFill>
                  <a:srgbClr val="22D3EE"/>
                </a:solidFill>
                <a:latin typeface="Calibri" pitchFamily="34" charset="0"/>
                <a:ea typeface="Calibri" pitchFamily="34" charset="-122"/>
                <a:cs typeface="Calibri" pitchFamily="34" charset="-120"/>
              </a:rPr>
              <a:t>Expense
</a:t>
            </a:r>
            <a:pPr indent="0" marL="0">
              <a:buNone/>
            </a:pPr>
            <a:r>
              <a:rPr lang="en-US" sz="1150" dirty="0">
                <a:solidFill>
                  <a:srgbClr val="7C8CA5"/>
                </a:solidFill>
                <a:latin typeface="Consolas" pitchFamily="34" charset="0"/>
                <a:ea typeface="Consolas" pitchFamily="34" charset="-122"/>
                <a:cs typeface="Consolas" pitchFamily="34" charset="-120"/>
              </a:rPr>
              <a:t>id · amount · payer</a:t>
            </a:r>
            <a:endParaRPr lang="en-US" sz="1450" dirty="0"/>
          </a:p>
        </p:txBody>
      </p:sp>
      <p:sp>
        <p:nvSpPr>
          <p:cNvPr id="12" name="Shape 9"/>
          <p:cNvSpPr/>
          <p:nvPr/>
        </p:nvSpPr>
        <p:spPr>
          <a:xfrm>
            <a:off x="2011680" y="2971800"/>
            <a:ext cx="777240" cy="274320"/>
          </a:xfrm>
          <a:prstGeom prst="line">
            <a:avLst/>
          </a:prstGeom>
          <a:noFill/>
          <a:ln w="25400">
            <a:solidFill>
              <a:srgbClr val="22D3EE"/>
            </a:solidFill>
            <a:prstDash val="solid"/>
          </a:ln>
        </p:spPr>
      </p:sp>
      <p:sp>
        <p:nvSpPr>
          <p:cNvPr id="13" name="Shape 10"/>
          <p:cNvSpPr/>
          <p:nvPr/>
        </p:nvSpPr>
        <p:spPr>
          <a:xfrm flipV="1">
            <a:off x="3886200" y="2971800"/>
            <a:ext cx="685800" cy="274320"/>
          </a:xfrm>
          <a:prstGeom prst="line">
            <a:avLst/>
          </a:prstGeom>
          <a:noFill/>
          <a:ln w="25400">
            <a:solidFill>
              <a:srgbClr val="22D3EE"/>
            </a:solidFill>
            <a:prstDash val="solid"/>
          </a:ln>
        </p:spPr>
      </p:sp>
      <p:sp>
        <p:nvSpPr>
          <p:cNvPr id="14" name="Text 11"/>
          <p:cNvSpPr/>
          <p:nvPr/>
        </p:nvSpPr>
        <p:spPr>
          <a:xfrm>
            <a:off x="640080" y="4617720"/>
            <a:ext cx="5303520" cy="365760"/>
          </a:xfrm>
          <a:prstGeom prst="rect">
            <a:avLst/>
          </a:prstGeom>
          <a:noFill/>
          <a:ln/>
        </p:spPr>
        <p:txBody>
          <a:bodyPr wrap="square" lIns="0" tIns="0" rIns="0" bIns="0" rtlCol="0" anchor="ctr"/>
          <a:lstStyle/>
          <a:p>
            <a:pPr indent="0" marL="0">
              <a:buNone/>
            </a:pPr>
            <a:r>
              <a:rPr lang="en-US" sz="1300" i="1" dirty="0">
                <a:solidFill>
                  <a:srgbClr val="7C8CA5"/>
                </a:solidFill>
                <a:latin typeface="Calibri" pitchFamily="34" charset="0"/>
                <a:ea typeface="Calibri" pitchFamily="34" charset="-122"/>
                <a:cs typeface="Calibri" pitchFamily="34" charset="-120"/>
              </a:rPr>
              <a:t>1 ⟶ many: a User has many Expenses · a Group has many Expenses</a:t>
            </a:r>
            <a:endParaRPr lang="en-US" sz="1300" dirty="0"/>
          </a:p>
        </p:txBody>
      </p:sp>
      <p:sp>
        <p:nvSpPr>
          <p:cNvPr id="15" name="Text 12"/>
          <p:cNvSpPr/>
          <p:nvPr/>
        </p:nvSpPr>
        <p:spPr>
          <a:xfrm>
            <a:off x="640080" y="5074920"/>
            <a:ext cx="5303520" cy="365760"/>
          </a:xfrm>
          <a:prstGeom prst="rect">
            <a:avLst/>
          </a:prstGeom>
          <a:noFill/>
          <a:ln/>
        </p:spPr>
        <p:txBody>
          <a:bodyPr wrap="square" lIns="0" tIns="0" rIns="0" bIns="0" rtlCol="0" anchor="ctr"/>
          <a:lstStyle/>
          <a:p>
            <a:pPr indent="0" marL="0">
              <a:buNone/>
            </a:pPr>
            <a:r>
              <a:rPr lang="en-US" sz="1300" dirty="0">
                <a:solidFill>
                  <a:srgbClr val="A3E635"/>
                </a:solidFill>
                <a:latin typeface="Consolas" pitchFamily="34" charset="0"/>
                <a:ea typeface="Consolas" pitchFamily="34" charset="-122"/>
                <a:cs typeface="Consolas" pitchFamily="34" charset="-120"/>
              </a:rPr>
              <a:t>nouns → entities → fields → relationships → tables</a:t>
            </a:r>
            <a:endParaRPr lang="en-US" sz="1300" dirty="0"/>
          </a:p>
        </p:txBody>
      </p:sp>
      <p:sp>
        <p:nvSpPr>
          <p:cNvPr id="16" name="Text 13"/>
          <p:cNvSpPr/>
          <p:nvPr/>
        </p:nvSpPr>
        <p:spPr>
          <a:xfrm>
            <a:off x="6263640" y="137160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API CONTRACT — 5.7</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263640" y="1783080"/>
          <a:ext cx="5376672" cy="914400"/>
        </p:xfrm>
        <a:graphic>
          <a:graphicData uri="http://schemas.openxmlformats.org/drawingml/2006/table">
            <a:tbl>
              <a:tblPr/>
              <a:tblGrid>
                <a:gridCol w="1051560"/>
                <a:gridCol w="2587752"/>
                <a:gridCol w="1737360"/>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Path</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A3E635"/>
                          </a:solidFill>
                          <a:latin typeface="Consolas" pitchFamily="34" charset="0"/>
                          <a:ea typeface="Consolas" pitchFamily="34" charset="-122"/>
                          <a:cs typeface="Consolas" pitchFamily="34" charset="-120"/>
                        </a:rPr>
                        <a:t>POST</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/expenses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add an expense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A3E635"/>
                          </a:solidFill>
                          <a:latin typeface="Consolas" pitchFamily="34" charset="0"/>
                          <a:ea typeface="Consolas" pitchFamily="34" charset="-122"/>
                          <a:cs typeface="Consolas" pitchFamily="34" charset="-120"/>
                        </a:rPr>
                        <a:t>GET</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/groups/:id/balances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get balances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18" name="Text 14"/>
          <p:cNvSpPr/>
          <p:nvPr/>
        </p:nvSpPr>
        <p:spPr>
          <a:xfrm>
            <a:off x="6263640" y="3657600"/>
            <a:ext cx="5394960" cy="2103120"/>
          </a:xfrm>
          <a:prstGeom prst="rect">
            <a:avLst/>
          </a:prstGeom>
          <a:noFill/>
          <a:ln/>
        </p:spPr>
        <p:txBody>
          <a:bodyPr wrap="square" lIns="0" tIns="0" rIns="0" bIns="0" rtlCol="0" anchor="t"/>
          <a:lstStyle/>
          <a:p>
            <a:pPr algn="l" marL="177800" indent="-177800">
              <a:lnSpc>
                <a:spcPct val="110000"/>
              </a:lnSpc>
              <a:spcAft>
                <a:spcPts val="1100"/>
              </a:spcAft>
              <a:buSzPct val="100000"/>
              <a:buChar char="•"/>
            </a:pPr>
            <a:r>
              <a:rPr lang="en-US" sz="1450" b="1" dirty="0">
                <a:solidFill>
                  <a:srgbClr val="22D3EE"/>
                </a:solidFill>
                <a:latin typeface="Calibri" pitchFamily="34" charset="0"/>
                <a:ea typeface="Calibri" pitchFamily="34" charset="-122"/>
                <a:cs typeface="Calibri" pitchFamily="34" charset="-120"/>
              </a:rPr>
              <a:t>REST  </a:t>
            </a:r>
            <a:pPr algn="l" indent="0" marL="0">
              <a:lnSpc>
                <a:spcPct val="110000"/>
              </a:lnSpc>
              <a:spcAft>
                <a:spcPts val="1100"/>
              </a:spcAft>
              <a:buNone/>
            </a:pPr>
            <a:r>
              <a:rPr lang="en-US" sz="1450" dirty="0">
                <a:solidFill>
                  <a:srgbClr val="F1F5F9"/>
                </a:solidFill>
                <a:latin typeface="Calibri" pitchFamily="34" charset="0"/>
                <a:ea typeface="Calibri" pitchFamily="34" charset="-122"/>
                <a:cs typeface="Calibri" pitchFamily="34" charset="-120"/>
              </a:rPr>
              <a:t>GET · POST · PUT · DELETE on resources — the default</a:t>
            </a:r>
            <a:endParaRPr lang="en-US" sz="1450" dirty="0"/>
          </a:p>
          <a:p>
            <a:pPr algn="l" marL="177800" indent="-177800">
              <a:lnSpc>
                <a:spcPct val="110000"/>
              </a:lnSpc>
              <a:spcAft>
                <a:spcPts val="1100"/>
              </a:spcAft>
              <a:buSzPct val="100000"/>
              <a:buChar char="•"/>
            </a:pPr>
            <a:r>
              <a:rPr lang="en-US" sz="1450" b="1" dirty="0">
                <a:solidFill>
                  <a:srgbClr val="22D3EE"/>
                </a:solidFill>
                <a:latin typeface="Calibri" pitchFamily="34" charset="0"/>
                <a:ea typeface="Calibri" pitchFamily="34" charset="-122"/>
                <a:cs typeface="Calibri" pitchFamily="34" charset="-120"/>
              </a:rPr>
              <a:t>GraphQL  </a:t>
            </a:r>
            <a:pPr algn="l" indent="0" marL="0">
              <a:lnSpc>
                <a:spcPct val="110000"/>
              </a:lnSpc>
              <a:spcAft>
                <a:spcPts val="1100"/>
              </a:spcAft>
              <a:buNone/>
            </a:pPr>
            <a:r>
              <a:rPr lang="en-US" sz="1450" dirty="0">
                <a:solidFill>
                  <a:srgbClr val="F1F5F9"/>
                </a:solidFill>
                <a:latin typeface="Calibri" pitchFamily="34" charset="0"/>
                <a:ea typeface="Calibri" pitchFamily="34" charset="-122"/>
                <a:cs typeface="Calibri" pitchFamily="34" charset="-120"/>
              </a:rPr>
              <a:t>ask for exactly what you need — usually overkill</a:t>
            </a:r>
            <a:endParaRPr lang="en-US" sz="1450" dirty="0"/>
          </a:p>
          <a:p>
            <a:pPr algn="l" marL="177800" indent="-177800">
              <a:lnSpc>
                <a:spcPct val="110000"/>
              </a:lnSpc>
              <a:spcAft>
                <a:spcPts val="1100"/>
              </a:spcAft>
              <a:buSzPct val="100000"/>
              <a:buChar char="•"/>
            </a:pPr>
            <a:r>
              <a:rPr lang="en-US" sz="1450" b="1" dirty="0">
                <a:solidFill>
                  <a:srgbClr val="22D3EE"/>
                </a:solidFill>
                <a:latin typeface="Calibri" pitchFamily="34" charset="0"/>
                <a:ea typeface="Calibri" pitchFamily="34" charset="-122"/>
                <a:cs typeface="Calibri" pitchFamily="34" charset="-120"/>
              </a:rPr>
              <a:t>Agree the contract first → front &amp; back build in parallel</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Architecture &amp; Structure</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31</a:t>
            </a:r>
            <a:endParaRPr lang="en-US" sz="1000" dirty="0"/>
          </a:p>
        </p:txBody>
      </p:sp>
      <p:sp>
        <p:nvSpPr>
          <p:cNvPr id="5" name="Text 2"/>
          <p:cNvSpPr/>
          <p:nvPr/>
        </p:nvSpPr>
        <p:spPr>
          <a:xfrm>
            <a:off x="548640" y="1463040"/>
            <a:ext cx="5577840" cy="3017520"/>
          </a:xfrm>
          <a:prstGeom prst="rect">
            <a:avLst/>
          </a:prstGeom>
          <a:noFill/>
          <a:ln/>
        </p:spPr>
        <p:txBody>
          <a:bodyPr wrap="square" lIns="0" tIns="0" rIns="0" bIns="0" rtlCol="0" anchor="t"/>
          <a:lstStyle/>
          <a:p>
            <a:pPr algn="l" marL="177800" indent="-177800">
              <a:lnSpc>
                <a:spcPct val="110000"/>
              </a:lnSpc>
              <a:spcAft>
                <a:spcPts val="900"/>
              </a:spcAft>
              <a:buSzPct val="100000"/>
              <a:buChar char="•"/>
            </a:pPr>
            <a:r>
              <a:rPr lang="en-US" sz="1500" b="1" dirty="0">
                <a:solidFill>
                  <a:srgbClr val="A3E635"/>
                </a:solidFill>
                <a:latin typeface="Calibri" pitchFamily="34" charset="0"/>
                <a:ea typeface="Calibri" pitchFamily="34" charset="-122"/>
                <a:cs typeface="Calibri" pitchFamily="34" charset="-120"/>
              </a:rPr>
              <a:t>Monolith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one codebase — the hackathon default</a:t>
            </a:r>
            <a:endParaRPr lang="en-US" sz="1500" dirty="0"/>
          </a:p>
          <a:p>
            <a:pPr algn="l" marL="177800" indent="-177800">
              <a:lnSpc>
                <a:spcPct val="110000"/>
              </a:lnSpc>
              <a:spcAft>
                <a:spcPts val="900"/>
              </a:spcAft>
              <a:buSzPct val="100000"/>
              <a:buChar char="•"/>
            </a:pPr>
            <a:r>
              <a:rPr lang="en-US" sz="1500" b="1" dirty="0">
                <a:solidFill>
                  <a:srgbClr val="F59E0B"/>
                </a:solidFill>
                <a:latin typeface="Calibri" pitchFamily="34" charset="0"/>
                <a:ea typeface="Calibri" pitchFamily="34" charset="-122"/>
                <a:cs typeface="Calibri" pitchFamily="34" charset="-120"/>
              </a:rPr>
              <a:t>Microservices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almost always wrong here — too much plumbing</a:t>
            </a:r>
            <a:endParaRPr lang="en-US" sz="1500" dirty="0"/>
          </a:p>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MVC / layered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routes → logic → data access</a:t>
            </a:r>
            <a:endParaRPr lang="en-US" sz="1500" dirty="0"/>
          </a:p>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Event-driven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only if the core is real-time</a:t>
            </a:r>
            <a:endParaRPr lang="en-US" sz="1500" dirty="0"/>
          </a:p>
          <a:p>
            <a:pPr algn="l" marL="177800" indent="-177800">
              <a:lnSpc>
                <a:spcPct val="110000"/>
              </a:lnSpc>
              <a:spcAft>
                <a:spcPts val="200"/>
              </a:spcAft>
              <a:buSzPct val="100000"/>
              <a:buChar char="•"/>
            </a:pPr>
            <a:r>
              <a:rPr lang="en-US" sz="1500" b="1" dirty="0">
                <a:solidFill>
                  <a:srgbClr val="22D3EE"/>
                </a:solidFill>
                <a:latin typeface="Calibri" pitchFamily="34" charset="0"/>
                <a:ea typeface="Calibri" pitchFamily="34" charset="-122"/>
                <a:cs typeface="Calibri" pitchFamily="34" charset="-120"/>
              </a:rPr>
              <a:t>Modular code + agreed folders = no collisions</a:t>
            </a:r>
            <a:endParaRPr lang="en-US" sz="1500" dirty="0"/>
          </a:p>
        </p:txBody>
      </p:sp>
      <p:sp>
        <p:nvSpPr>
          <p:cNvPr id="6" name="Shape 3"/>
          <p:cNvSpPr/>
          <p:nvPr/>
        </p:nvSpPr>
        <p:spPr>
          <a:xfrm>
            <a:off x="6400800" y="1417320"/>
            <a:ext cx="5239512" cy="3200400"/>
          </a:xfrm>
          <a:prstGeom prst="roundRect">
            <a:avLst>
              <a:gd name="adj" fmla="val 2571"/>
            </a:avLst>
          </a:prstGeom>
          <a:solidFill>
            <a:srgbClr val="141E33"/>
          </a:solidFill>
          <a:ln/>
          <a:effectLst>
            <a:outerShdw sx="100000" sy="100000" kx="0" ky="0" algn="bl" rotWithShape="0" blurRad="114300" dist="38100" dir="5400000">
              <a:srgbClr val="000000">
                <a:alpha val="45000"/>
              </a:srgbClr>
            </a:outerShdw>
          </a:effectLst>
        </p:spPr>
      </p:sp>
      <p:sp>
        <p:nvSpPr>
          <p:cNvPr id="7" name="Text 4"/>
          <p:cNvSpPr/>
          <p:nvPr/>
        </p:nvSpPr>
        <p:spPr>
          <a:xfrm>
            <a:off x="6720840" y="1600200"/>
            <a:ext cx="4663440" cy="2834640"/>
          </a:xfrm>
          <a:prstGeom prst="rect">
            <a:avLst/>
          </a:prstGeom>
          <a:noFill/>
          <a:ln/>
        </p:spPr>
        <p:txBody>
          <a:bodyPr wrap="square" lIns="0" tIns="0" rIns="0" bIns="0" rtlCol="0" anchor="ctr"/>
          <a:lstStyle/>
          <a:p>
            <a:pPr indent="0" marL="0">
              <a:lnSpc>
                <a:spcPct val="125000"/>
              </a:lnSpc>
              <a:buNone/>
            </a:pPr>
            <a:r>
              <a:rPr lang="en-US" sz="1350" b="1" dirty="0">
                <a:solidFill>
                  <a:srgbClr val="22D3EE"/>
                </a:solidFill>
                <a:latin typeface="Consolas" pitchFamily="34" charset="0"/>
                <a:ea typeface="Consolas" pitchFamily="34" charset="-122"/>
                <a:cs typeface="Consolas" pitchFamily="34" charset="-120"/>
              </a:rPr>
              <a:t>/src
</a:t>
            </a:r>
            <a:pPr indent="0" marL="0">
              <a:lnSpc>
                <a:spcPct val="125000"/>
              </a:lnSpc>
              <a:buNone/>
            </a:pPr>
            <a:r>
              <a:rPr lang="en-US" sz="1350" dirty="0">
                <a:solidFill>
                  <a:srgbClr val="A3E635"/>
                </a:solidFill>
                <a:latin typeface="Consolas" pitchFamily="34" charset="0"/>
                <a:ea typeface="Consolas" pitchFamily="34" charset="-122"/>
                <a:cs typeface="Consolas" pitchFamily="34" charset="-120"/>
              </a:rPr>
              <a:t>  /components  </a:t>
            </a:r>
            <a:pPr indent="0" marL="0">
              <a:lnSpc>
                <a:spcPct val="125000"/>
              </a:lnSpc>
              <a:buNone/>
            </a:pPr>
            <a:r>
              <a:rPr lang="en-US" sz="1350" dirty="0">
                <a:solidFill>
                  <a:srgbClr val="7C8CA5"/>
                </a:solidFill>
                <a:latin typeface="Consolas" pitchFamily="34" charset="0"/>
                <a:ea typeface="Consolas" pitchFamily="34" charset="-122"/>
                <a:cs typeface="Consolas" pitchFamily="34" charset="-120"/>
              </a:rPr>
              <a:t>reusable UI
</a:t>
            </a:r>
            <a:pPr indent="0" marL="0">
              <a:lnSpc>
                <a:spcPct val="125000"/>
              </a:lnSpc>
              <a:buNone/>
            </a:pPr>
            <a:r>
              <a:rPr lang="en-US" sz="1350" dirty="0">
                <a:solidFill>
                  <a:srgbClr val="A3E635"/>
                </a:solidFill>
                <a:latin typeface="Consolas" pitchFamily="34" charset="0"/>
                <a:ea typeface="Consolas" pitchFamily="34" charset="-122"/>
                <a:cs typeface="Consolas" pitchFamily="34" charset="-120"/>
              </a:rPr>
              <a:t>  /pages       </a:t>
            </a:r>
            <a:pPr indent="0" marL="0">
              <a:lnSpc>
                <a:spcPct val="125000"/>
              </a:lnSpc>
              <a:buNone/>
            </a:pPr>
            <a:r>
              <a:rPr lang="en-US" sz="1350" dirty="0">
                <a:solidFill>
                  <a:srgbClr val="7C8CA5"/>
                </a:solidFill>
                <a:latin typeface="Consolas" pitchFamily="34" charset="0"/>
                <a:ea typeface="Consolas" pitchFamily="34" charset="-122"/>
                <a:cs typeface="Consolas" pitchFamily="34" charset="-120"/>
              </a:rPr>
              <a:t>screens / routes
</a:t>
            </a:r>
            <a:pPr indent="0" marL="0">
              <a:lnSpc>
                <a:spcPct val="125000"/>
              </a:lnSpc>
              <a:buNone/>
            </a:pPr>
            <a:r>
              <a:rPr lang="en-US" sz="1350" dirty="0">
                <a:solidFill>
                  <a:srgbClr val="A3E635"/>
                </a:solidFill>
                <a:latin typeface="Consolas" pitchFamily="34" charset="0"/>
                <a:ea typeface="Consolas" pitchFamily="34" charset="-122"/>
                <a:cs typeface="Consolas" pitchFamily="34" charset="-120"/>
              </a:rPr>
              <a:t>  /lib         </a:t>
            </a:r>
            <a:pPr indent="0" marL="0">
              <a:lnSpc>
                <a:spcPct val="125000"/>
              </a:lnSpc>
              <a:buNone/>
            </a:pPr>
            <a:r>
              <a:rPr lang="en-US" sz="1350" dirty="0">
                <a:solidFill>
                  <a:srgbClr val="7C8CA5"/>
                </a:solidFill>
                <a:latin typeface="Consolas" pitchFamily="34" charset="0"/>
                <a:ea typeface="Consolas" pitchFamily="34" charset="-122"/>
                <a:cs typeface="Consolas" pitchFamily="34" charset="-120"/>
              </a:rPr>
              <a:t>API client, helpers
</a:t>
            </a:r>
            <a:pPr indent="0" marL="0">
              <a:lnSpc>
                <a:spcPct val="125000"/>
              </a:lnSpc>
              <a:buNone/>
            </a:pPr>
            <a:r>
              <a:rPr lang="en-US" sz="1350" dirty="0">
                <a:solidFill>
                  <a:srgbClr val="A3E635"/>
                </a:solidFill>
                <a:latin typeface="Consolas" pitchFamily="34" charset="0"/>
                <a:ea typeface="Consolas" pitchFamily="34" charset="-122"/>
                <a:cs typeface="Consolas" pitchFamily="34" charset="-120"/>
              </a:rPr>
              <a:t>  /server      </a:t>
            </a:r>
            <a:pPr indent="0" marL="0">
              <a:lnSpc>
                <a:spcPct val="125000"/>
              </a:lnSpc>
              <a:buNone/>
            </a:pPr>
            <a:r>
              <a:rPr lang="en-US" sz="1350" dirty="0">
                <a:solidFill>
                  <a:srgbClr val="7C8CA5"/>
                </a:solidFill>
                <a:latin typeface="Consolas" pitchFamily="34" charset="0"/>
                <a:ea typeface="Consolas" pitchFamily="34" charset="-122"/>
                <a:cs typeface="Consolas" pitchFamily="34" charset="-120"/>
              </a:rPr>
              <a:t>routes, services
</a:t>
            </a:r>
            <a:pPr indent="0" marL="0">
              <a:lnSpc>
                <a:spcPct val="125000"/>
              </a:lnSpc>
              <a:buNone/>
            </a:pPr>
            <a:r>
              <a:rPr lang="en-US" sz="1350" dirty="0">
                <a:solidFill>
                  <a:srgbClr val="A3E635"/>
                </a:solidFill>
                <a:latin typeface="Consolas" pitchFamily="34" charset="0"/>
                <a:ea typeface="Consolas" pitchFamily="34" charset="-122"/>
                <a:cs typeface="Consolas" pitchFamily="34" charset="-120"/>
              </a:rPr>
              <a:t>  /models      </a:t>
            </a:r>
            <a:pPr indent="0" marL="0">
              <a:lnSpc>
                <a:spcPct val="125000"/>
              </a:lnSpc>
              <a:buNone/>
            </a:pPr>
            <a:r>
              <a:rPr lang="en-US" sz="1350" dirty="0">
                <a:solidFill>
                  <a:srgbClr val="7C8CA5"/>
                </a:solidFill>
                <a:latin typeface="Consolas" pitchFamily="34" charset="0"/>
                <a:ea typeface="Consolas" pitchFamily="34" charset="-122"/>
                <a:cs typeface="Consolas" pitchFamily="34" charset="-120"/>
              </a:rPr>
              <a:t>data models
</a:t>
            </a:r>
            <a:pPr indent="0" marL="0">
              <a:lnSpc>
                <a:spcPct val="125000"/>
              </a:lnSpc>
              <a:buNone/>
            </a:pPr>
            <a:r>
              <a:rPr lang="en-US" sz="1350" dirty="0">
                <a:solidFill>
                  <a:srgbClr val="F59E0B"/>
                </a:solidFill>
                <a:latin typeface="Consolas" pitchFamily="34" charset="0"/>
                <a:ea typeface="Consolas" pitchFamily="34" charset="-122"/>
                <a:cs typeface="Consolas" pitchFamily="34" charset="-120"/>
              </a:rPr>
              <a:t>.env           </a:t>
            </a:r>
            <a:pPr indent="0" marL="0">
              <a:lnSpc>
                <a:spcPct val="125000"/>
              </a:lnSpc>
              <a:buNone/>
            </a:pPr>
            <a:r>
              <a:rPr lang="en-US" sz="1350" dirty="0">
                <a:solidFill>
                  <a:srgbClr val="F59E0B"/>
                </a:solidFill>
                <a:latin typeface="Consolas" pitchFamily="34" charset="0"/>
                <a:ea typeface="Consolas" pitchFamily="34" charset="-122"/>
                <a:cs typeface="Consolas" pitchFamily="34" charset="-120"/>
              </a:rPr>
              <a:t>secrets — never commit
</a:t>
            </a:r>
            <a:pPr indent="0" marL="0">
              <a:lnSpc>
                <a:spcPct val="125000"/>
              </a:lnSpc>
              <a:buNone/>
            </a:pPr>
            <a:r>
              <a:rPr lang="en-US" sz="1350" dirty="0">
                <a:solidFill>
                  <a:srgbClr val="F1F5F9"/>
                </a:solidFill>
                <a:latin typeface="Consolas" pitchFamily="34" charset="0"/>
                <a:ea typeface="Consolas" pitchFamily="34" charset="-122"/>
                <a:cs typeface="Consolas" pitchFamily="34" charset="-120"/>
              </a:rPr>
              <a:t>README.md</a:t>
            </a:r>
            <a:endParaRPr lang="en-US" sz="1350" dirty="0"/>
          </a:p>
        </p:txBody>
      </p:sp>
      <p:sp>
        <p:nvSpPr>
          <p:cNvPr id="8" name="Text 5"/>
          <p:cNvSpPr/>
          <p:nvPr/>
        </p:nvSpPr>
        <p:spPr>
          <a:xfrm>
            <a:off x="548640" y="4800600"/>
            <a:ext cx="73152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THE 30-MINUTE DESIGN PASS — 5.11</a:t>
            </a:r>
            <a:endParaRPr lang="en-US" sz="1400" dirty="0"/>
          </a:p>
        </p:txBody>
      </p:sp>
      <p:sp>
        <p:nvSpPr>
          <p:cNvPr id="9" name="Shape 6"/>
          <p:cNvSpPr/>
          <p:nvPr/>
        </p:nvSpPr>
        <p:spPr>
          <a:xfrm>
            <a:off x="548640" y="5212080"/>
            <a:ext cx="1194435" cy="777240"/>
          </a:xfrm>
          <a:prstGeom prst="roundRect">
            <a:avLst>
              <a:gd name="adj" fmla="val 10588"/>
            </a:avLst>
          </a:prstGeom>
          <a:solidFill>
            <a:srgbClr val="141E33"/>
          </a:solidFill>
          <a:ln/>
        </p:spPr>
      </p:sp>
      <p:sp>
        <p:nvSpPr>
          <p:cNvPr id="10" name="Shape 7"/>
          <p:cNvSpPr/>
          <p:nvPr/>
        </p:nvSpPr>
        <p:spPr>
          <a:xfrm>
            <a:off x="999554" y="5084064"/>
            <a:ext cx="292608" cy="292608"/>
          </a:xfrm>
          <a:prstGeom prst="ellipse">
            <a:avLst/>
          </a:prstGeom>
          <a:solidFill>
            <a:srgbClr val="22D3EE"/>
          </a:solidFill>
          <a:ln/>
        </p:spPr>
      </p:sp>
      <p:sp>
        <p:nvSpPr>
          <p:cNvPr id="11" name="Text 8"/>
          <p:cNvSpPr/>
          <p:nvPr/>
        </p:nvSpPr>
        <p:spPr>
          <a:xfrm>
            <a:off x="999554"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1</a:t>
            </a:r>
            <a:endParaRPr lang="en-US" sz="1100" dirty="0"/>
          </a:p>
        </p:txBody>
      </p:sp>
      <p:sp>
        <p:nvSpPr>
          <p:cNvPr id="12" name="Text 9"/>
          <p:cNvSpPr/>
          <p:nvPr/>
        </p:nvSpPr>
        <p:spPr>
          <a:xfrm>
            <a:off x="585216"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Requirements</a:t>
            </a:r>
            <a:endParaRPr lang="en-US" sz="1150" dirty="0"/>
          </a:p>
        </p:txBody>
      </p:sp>
      <p:sp>
        <p:nvSpPr>
          <p:cNvPr id="13" name="Shape 10"/>
          <p:cNvSpPr/>
          <p:nvPr/>
        </p:nvSpPr>
        <p:spPr>
          <a:xfrm>
            <a:off x="1962531" y="5212080"/>
            <a:ext cx="1194435" cy="777240"/>
          </a:xfrm>
          <a:prstGeom prst="roundRect">
            <a:avLst>
              <a:gd name="adj" fmla="val 10588"/>
            </a:avLst>
          </a:prstGeom>
          <a:solidFill>
            <a:srgbClr val="141E33"/>
          </a:solidFill>
          <a:ln/>
        </p:spPr>
      </p:sp>
      <p:sp>
        <p:nvSpPr>
          <p:cNvPr id="14" name="Shape 11"/>
          <p:cNvSpPr/>
          <p:nvPr/>
        </p:nvSpPr>
        <p:spPr>
          <a:xfrm>
            <a:off x="2413445" y="5084064"/>
            <a:ext cx="292608" cy="292608"/>
          </a:xfrm>
          <a:prstGeom prst="ellipse">
            <a:avLst/>
          </a:prstGeom>
          <a:solidFill>
            <a:srgbClr val="22D3EE"/>
          </a:solidFill>
          <a:ln/>
        </p:spPr>
      </p:sp>
      <p:sp>
        <p:nvSpPr>
          <p:cNvPr id="15" name="Text 12"/>
          <p:cNvSpPr/>
          <p:nvPr/>
        </p:nvSpPr>
        <p:spPr>
          <a:xfrm>
            <a:off x="2413445"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2</a:t>
            </a:r>
            <a:endParaRPr lang="en-US" sz="1100" dirty="0"/>
          </a:p>
        </p:txBody>
      </p:sp>
      <p:sp>
        <p:nvSpPr>
          <p:cNvPr id="16" name="Text 13"/>
          <p:cNvSpPr/>
          <p:nvPr/>
        </p:nvSpPr>
        <p:spPr>
          <a:xfrm>
            <a:off x="1999107"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Stories</a:t>
            </a:r>
            <a:endParaRPr lang="en-US" sz="1150" dirty="0"/>
          </a:p>
        </p:txBody>
      </p:sp>
      <p:sp>
        <p:nvSpPr>
          <p:cNvPr id="17" name="Shape 14"/>
          <p:cNvSpPr/>
          <p:nvPr/>
        </p:nvSpPr>
        <p:spPr>
          <a:xfrm>
            <a:off x="3376422" y="5212080"/>
            <a:ext cx="1194435" cy="777240"/>
          </a:xfrm>
          <a:prstGeom prst="roundRect">
            <a:avLst>
              <a:gd name="adj" fmla="val 10588"/>
            </a:avLst>
          </a:prstGeom>
          <a:solidFill>
            <a:srgbClr val="141E33"/>
          </a:solidFill>
          <a:ln/>
        </p:spPr>
      </p:sp>
      <p:sp>
        <p:nvSpPr>
          <p:cNvPr id="18" name="Shape 15"/>
          <p:cNvSpPr/>
          <p:nvPr/>
        </p:nvSpPr>
        <p:spPr>
          <a:xfrm>
            <a:off x="3827336" y="5084064"/>
            <a:ext cx="292608" cy="292608"/>
          </a:xfrm>
          <a:prstGeom prst="ellipse">
            <a:avLst/>
          </a:prstGeom>
          <a:solidFill>
            <a:srgbClr val="22D3EE"/>
          </a:solidFill>
          <a:ln/>
        </p:spPr>
      </p:sp>
      <p:sp>
        <p:nvSpPr>
          <p:cNvPr id="19" name="Text 16"/>
          <p:cNvSpPr/>
          <p:nvPr/>
        </p:nvSpPr>
        <p:spPr>
          <a:xfrm>
            <a:off x="3827336"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3</a:t>
            </a:r>
            <a:endParaRPr lang="en-US" sz="1100" dirty="0"/>
          </a:p>
        </p:txBody>
      </p:sp>
      <p:sp>
        <p:nvSpPr>
          <p:cNvPr id="20" name="Text 17"/>
          <p:cNvSpPr/>
          <p:nvPr/>
        </p:nvSpPr>
        <p:spPr>
          <a:xfrm>
            <a:off x="3412998"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Wireframes</a:t>
            </a:r>
            <a:endParaRPr lang="en-US" sz="1150" dirty="0"/>
          </a:p>
        </p:txBody>
      </p:sp>
      <p:sp>
        <p:nvSpPr>
          <p:cNvPr id="21" name="Shape 18"/>
          <p:cNvSpPr/>
          <p:nvPr/>
        </p:nvSpPr>
        <p:spPr>
          <a:xfrm>
            <a:off x="4790313" y="5212080"/>
            <a:ext cx="1194435" cy="777240"/>
          </a:xfrm>
          <a:prstGeom prst="roundRect">
            <a:avLst>
              <a:gd name="adj" fmla="val 10588"/>
            </a:avLst>
          </a:prstGeom>
          <a:solidFill>
            <a:srgbClr val="141E33"/>
          </a:solidFill>
          <a:ln/>
        </p:spPr>
      </p:sp>
      <p:sp>
        <p:nvSpPr>
          <p:cNvPr id="22" name="Shape 19"/>
          <p:cNvSpPr/>
          <p:nvPr/>
        </p:nvSpPr>
        <p:spPr>
          <a:xfrm>
            <a:off x="5241227" y="5084064"/>
            <a:ext cx="292608" cy="292608"/>
          </a:xfrm>
          <a:prstGeom prst="ellipse">
            <a:avLst/>
          </a:prstGeom>
          <a:solidFill>
            <a:srgbClr val="22D3EE"/>
          </a:solidFill>
          <a:ln/>
        </p:spPr>
      </p:sp>
      <p:sp>
        <p:nvSpPr>
          <p:cNvPr id="23" name="Text 20"/>
          <p:cNvSpPr/>
          <p:nvPr/>
        </p:nvSpPr>
        <p:spPr>
          <a:xfrm>
            <a:off x="5241227"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4</a:t>
            </a:r>
            <a:endParaRPr lang="en-US" sz="1100" dirty="0"/>
          </a:p>
        </p:txBody>
      </p:sp>
      <p:sp>
        <p:nvSpPr>
          <p:cNvPr id="24" name="Text 21"/>
          <p:cNvSpPr/>
          <p:nvPr/>
        </p:nvSpPr>
        <p:spPr>
          <a:xfrm>
            <a:off x="4826889"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ER sketch</a:t>
            </a:r>
            <a:endParaRPr lang="en-US" sz="1150" dirty="0"/>
          </a:p>
        </p:txBody>
      </p:sp>
      <p:sp>
        <p:nvSpPr>
          <p:cNvPr id="25" name="Shape 22"/>
          <p:cNvSpPr/>
          <p:nvPr/>
        </p:nvSpPr>
        <p:spPr>
          <a:xfrm>
            <a:off x="6204204" y="5212080"/>
            <a:ext cx="1194435" cy="777240"/>
          </a:xfrm>
          <a:prstGeom prst="roundRect">
            <a:avLst>
              <a:gd name="adj" fmla="val 10588"/>
            </a:avLst>
          </a:prstGeom>
          <a:solidFill>
            <a:srgbClr val="141E33"/>
          </a:solidFill>
          <a:ln/>
        </p:spPr>
      </p:sp>
      <p:sp>
        <p:nvSpPr>
          <p:cNvPr id="26" name="Shape 23"/>
          <p:cNvSpPr/>
          <p:nvPr/>
        </p:nvSpPr>
        <p:spPr>
          <a:xfrm>
            <a:off x="6655118" y="5084064"/>
            <a:ext cx="292608" cy="292608"/>
          </a:xfrm>
          <a:prstGeom prst="ellipse">
            <a:avLst/>
          </a:prstGeom>
          <a:solidFill>
            <a:srgbClr val="22D3EE"/>
          </a:solidFill>
          <a:ln/>
        </p:spPr>
      </p:sp>
      <p:sp>
        <p:nvSpPr>
          <p:cNvPr id="27" name="Text 24"/>
          <p:cNvSpPr/>
          <p:nvPr/>
        </p:nvSpPr>
        <p:spPr>
          <a:xfrm>
            <a:off x="6655118"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5</a:t>
            </a:r>
            <a:endParaRPr lang="en-US" sz="1100" dirty="0"/>
          </a:p>
        </p:txBody>
      </p:sp>
      <p:sp>
        <p:nvSpPr>
          <p:cNvPr id="28" name="Text 25"/>
          <p:cNvSpPr/>
          <p:nvPr/>
        </p:nvSpPr>
        <p:spPr>
          <a:xfrm>
            <a:off x="6240780"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API plan</a:t>
            </a:r>
            <a:endParaRPr lang="en-US" sz="1150" dirty="0"/>
          </a:p>
        </p:txBody>
      </p:sp>
      <p:sp>
        <p:nvSpPr>
          <p:cNvPr id="29" name="Shape 26"/>
          <p:cNvSpPr/>
          <p:nvPr/>
        </p:nvSpPr>
        <p:spPr>
          <a:xfrm>
            <a:off x="7618095" y="5212080"/>
            <a:ext cx="1194435" cy="777240"/>
          </a:xfrm>
          <a:prstGeom prst="roundRect">
            <a:avLst>
              <a:gd name="adj" fmla="val 10588"/>
            </a:avLst>
          </a:prstGeom>
          <a:solidFill>
            <a:srgbClr val="141E33"/>
          </a:solidFill>
          <a:ln/>
        </p:spPr>
      </p:sp>
      <p:sp>
        <p:nvSpPr>
          <p:cNvPr id="30" name="Shape 27"/>
          <p:cNvSpPr/>
          <p:nvPr/>
        </p:nvSpPr>
        <p:spPr>
          <a:xfrm>
            <a:off x="8069009" y="5084064"/>
            <a:ext cx="292608" cy="292608"/>
          </a:xfrm>
          <a:prstGeom prst="ellipse">
            <a:avLst/>
          </a:prstGeom>
          <a:solidFill>
            <a:srgbClr val="22D3EE"/>
          </a:solidFill>
          <a:ln/>
        </p:spPr>
      </p:sp>
      <p:sp>
        <p:nvSpPr>
          <p:cNvPr id="31" name="Text 28"/>
          <p:cNvSpPr/>
          <p:nvPr/>
        </p:nvSpPr>
        <p:spPr>
          <a:xfrm>
            <a:off x="8069009"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6</a:t>
            </a:r>
            <a:endParaRPr lang="en-US" sz="1100" dirty="0"/>
          </a:p>
        </p:txBody>
      </p:sp>
      <p:sp>
        <p:nvSpPr>
          <p:cNvPr id="32" name="Text 29"/>
          <p:cNvSpPr/>
          <p:nvPr/>
        </p:nvSpPr>
        <p:spPr>
          <a:xfrm>
            <a:off x="7654671"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Architecture</a:t>
            </a:r>
            <a:endParaRPr lang="en-US" sz="1150" dirty="0"/>
          </a:p>
        </p:txBody>
      </p:sp>
      <p:sp>
        <p:nvSpPr>
          <p:cNvPr id="33" name="Shape 30"/>
          <p:cNvSpPr/>
          <p:nvPr/>
        </p:nvSpPr>
        <p:spPr>
          <a:xfrm>
            <a:off x="9031986" y="5212080"/>
            <a:ext cx="1194435" cy="777240"/>
          </a:xfrm>
          <a:prstGeom prst="roundRect">
            <a:avLst>
              <a:gd name="adj" fmla="val 10588"/>
            </a:avLst>
          </a:prstGeom>
          <a:solidFill>
            <a:srgbClr val="141E33"/>
          </a:solidFill>
          <a:ln/>
        </p:spPr>
      </p:sp>
      <p:sp>
        <p:nvSpPr>
          <p:cNvPr id="34" name="Shape 31"/>
          <p:cNvSpPr/>
          <p:nvPr/>
        </p:nvSpPr>
        <p:spPr>
          <a:xfrm>
            <a:off x="9482899" y="5084064"/>
            <a:ext cx="292608" cy="292608"/>
          </a:xfrm>
          <a:prstGeom prst="ellipse">
            <a:avLst/>
          </a:prstGeom>
          <a:solidFill>
            <a:srgbClr val="22D3EE"/>
          </a:solidFill>
          <a:ln/>
        </p:spPr>
      </p:sp>
      <p:sp>
        <p:nvSpPr>
          <p:cNvPr id="35" name="Text 32"/>
          <p:cNvSpPr/>
          <p:nvPr/>
        </p:nvSpPr>
        <p:spPr>
          <a:xfrm>
            <a:off x="9482899"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7</a:t>
            </a:r>
            <a:endParaRPr lang="en-US" sz="1100" dirty="0"/>
          </a:p>
        </p:txBody>
      </p:sp>
      <p:sp>
        <p:nvSpPr>
          <p:cNvPr id="36" name="Text 33"/>
          <p:cNvSpPr/>
          <p:nvPr/>
        </p:nvSpPr>
        <p:spPr>
          <a:xfrm>
            <a:off x="9068562"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Repo agreed</a:t>
            </a:r>
            <a:endParaRPr lang="en-US" sz="1150" dirty="0"/>
          </a:p>
        </p:txBody>
      </p:sp>
      <p:sp>
        <p:nvSpPr>
          <p:cNvPr id="37" name="Shape 34"/>
          <p:cNvSpPr/>
          <p:nvPr/>
        </p:nvSpPr>
        <p:spPr>
          <a:xfrm>
            <a:off x="10445877" y="5212080"/>
            <a:ext cx="1194435" cy="777240"/>
          </a:xfrm>
          <a:prstGeom prst="roundRect">
            <a:avLst>
              <a:gd name="adj" fmla="val 10588"/>
            </a:avLst>
          </a:prstGeom>
          <a:solidFill>
            <a:srgbClr val="141E33"/>
          </a:solidFill>
          <a:ln/>
        </p:spPr>
      </p:sp>
      <p:sp>
        <p:nvSpPr>
          <p:cNvPr id="38" name="Shape 35"/>
          <p:cNvSpPr/>
          <p:nvPr/>
        </p:nvSpPr>
        <p:spPr>
          <a:xfrm>
            <a:off x="10896791" y="5084064"/>
            <a:ext cx="292608" cy="292608"/>
          </a:xfrm>
          <a:prstGeom prst="ellipse">
            <a:avLst/>
          </a:prstGeom>
          <a:solidFill>
            <a:srgbClr val="22D3EE"/>
          </a:solidFill>
          <a:ln/>
        </p:spPr>
      </p:sp>
      <p:sp>
        <p:nvSpPr>
          <p:cNvPr id="39" name="Text 36"/>
          <p:cNvSpPr/>
          <p:nvPr/>
        </p:nvSpPr>
        <p:spPr>
          <a:xfrm>
            <a:off x="10896791" y="5065776"/>
            <a:ext cx="292608" cy="292608"/>
          </a:xfrm>
          <a:prstGeom prst="rect">
            <a:avLst/>
          </a:prstGeom>
          <a:noFill/>
          <a:ln/>
        </p:spPr>
        <p:txBody>
          <a:bodyPr wrap="square" lIns="0" tIns="0" rIns="0" bIns="0" rtlCol="0" anchor="ctr"/>
          <a:lstStyle/>
          <a:p>
            <a:pPr algn="ctr" indent="0" marL="0">
              <a:buNone/>
            </a:pPr>
            <a:r>
              <a:rPr lang="en-US" sz="1100" dirty="0">
                <a:solidFill>
                  <a:srgbClr val="0B1220"/>
                </a:solidFill>
                <a:latin typeface="Arial Black" pitchFamily="34" charset="0"/>
                <a:ea typeface="Arial Black" pitchFamily="34" charset="-122"/>
                <a:cs typeface="Arial Black" pitchFamily="34" charset="-120"/>
              </a:rPr>
              <a:t>8</a:t>
            </a:r>
            <a:endParaRPr lang="en-US" sz="1100" dirty="0"/>
          </a:p>
        </p:txBody>
      </p:sp>
      <p:sp>
        <p:nvSpPr>
          <p:cNvPr id="40" name="Text 37"/>
          <p:cNvSpPr/>
          <p:nvPr/>
        </p:nvSpPr>
        <p:spPr>
          <a:xfrm>
            <a:off x="10482453" y="5358384"/>
            <a:ext cx="1121283" cy="594360"/>
          </a:xfrm>
          <a:prstGeom prst="rect">
            <a:avLst/>
          </a:prstGeom>
          <a:noFill/>
          <a:ln/>
        </p:spPr>
        <p:txBody>
          <a:bodyPr wrap="square" lIns="0" tIns="0" rIns="0" bIns="0" rtlCol="0" anchor="ctr"/>
          <a:lstStyle/>
          <a:p>
            <a:pPr algn="ctr" indent="0" marL="0">
              <a:lnSpc>
                <a:spcPct val="90000"/>
              </a:lnSpc>
              <a:buNone/>
            </a:pPr>
            <a:r>
              <a:rPr lang="en-US" sz="1150" b="1" dirty="0">
                <a:solidFill>
                  <a:srgbClr val="F1F5F9"/>
                </a:solidFill>
                <a:latin typeface="Calibri" pitchFamily="34" charset="0"/>
                <a:ea typeface="Calibri" pitchFamily="34" charset="-122"/>
                <a:cs typeface="Calibri" pitchFamily="34" charset="-120"/>
              </a:rPr>
              <a:t>Parallel build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98080" y="1097280"/>
            <a:ext cx="4663440" cy="4663440"/>
          </a:xfrm>
          <a:prstGeom prst="rect">
            <a:avLst/>
          </a:prstGeom>
          <a:noFill/>
          <a:ln/>
        </p:spPr>
        <p:txBody>
          <a:bodyPr wrap="square" lIns="0" tIns="0" rIns="0" bIns="0" rtlCol="0" anchor="ctr"/>
          <a:lstStyle/>
          <a:p>
            <a:pPr algn="r" indent="0" marL="0">
              <a:buNone/>
            </a:pPr>
            <a:r>
              <a:rPr lang="en-US" sz="30000" dirty="0">
                <a:solidFill>
                  <a:srgbClr val="0E2A3B"/>
                </a:solidFill>
                <a:latin typeface="Arial Black" pitchFamily="34" charset="0"/>
                <a:ea typeface="Arial Black" pitchFamily="34" charset="-122"/>
                <a:cs typeface="Arial Black" pitchFamily="34" charset="-120"/>
              </a:rPr>
              <a:t>3</a:t>
            </a:r>
            <a:endParaRPr lang="en-US" sz="30000" dirty="0"/>
          </a:p>
        </p:txBody>
      </p:sp>
      <p:sp>
        <p:nvSpPr>
          <p:cNvPr id="4" name="Text 1"/>
          <p:cNvSpPr/>
          <p:nvPr/>
        </p:nvSpPr>
        <p:spPr>
          <a:xfrm>
            <a:off x="822960" y="2148840"/>
            <a:ext cx="7315200" cy="329184"/>
          </a:xfrm>
          <a:prstGeom prst="rect">
            <a:avLst/>
          </a:prstGeom>
          <a:noFill/>
          <a:ln/>
        </p:spPr>
        <p:txBody>
          <a:bodyPr wrap="square" lIns="0" tIns="0" rIns="0" bIns="0" rtlCol="0" anchor="ctr"/>
          <a:lstStyle/>
          <a:p>
            <a:pPr indent="0" marL="0">
              <a:buNone/>
            </a:pPr>
            <a:r>
              <a:rPr lang="en-US" sz="1500" spc="500" kern="0" dirty="0">
                <a:solidFill>
                  <a:srgbClr val="22D3EE"/>
                </a:solidFill>
                <a:latin typeface="Consolas" pitchFamily="34" charset="0"/>
                <a:ea typeface="Consolas" pitchFamily="34" charset="-122"/>
                <a:cs typeface="Consolas" pitchFamily="34" charset="-120"/>
              </a:rPr>
              <a:t>PART 3 OF 5</a:t>
            </a:r>
            <a:endParaRPr lang="en-US" sz="1500" dirty="0"/>
          </a:p>
        </p:txBody>
      </p:sp>
      <p:sp>
        <p:nvSpPr>
          <p:cNvPr id="5" name="Text 2"/>
          <p:cNvSpPr/>
          <p:nvPr/>
        </p:nvSpPr>
        <p:spPr>
          <a:xfrm>
            <a:off x="822960" y="2514600"/>
            <a:ext cx="9692640" cy="1554480"/>
          </a:xfrm>
          <a:prstGeom prst="rect">
            <a:avLst/>
          </a:prstGeom>
          <a:noFill/>
          <a:ln/>
        </p:spPr>
        <p:txBody>
          <a:bodyPr wrap="square" lIns="0" tIns="0" rIns="0" bIns="0" rtlCol="0" anchor="ctr"/>
          <a:lstStyle/>
          <a:p>
            <a:pPr indent="0" marL="0">
              <a:buNone/>
            </a:pPr>
            <a:r>
              <a:rPr lang="en-US" sz="4600" dirty="0">
                <a:solidFill>
                  <a:srgbClr val="FFFFFF"/>
                </a:solidFill>
                <a:latin typeface="Arial Black" pitchFamily="34" charset="0"/>
                <a:ea typeface="Arial Black" pitchFamily="34" charset="-122"/>
                <a:cs typeface="Arial Black" pitchFamily="34" charset="-120"/>
              </a:rPr>
              <a:t>Workshop: AI Whiteboarding</a:t>
            </a:r>
            <a:endParaRPr lang="en-US" sz="4600" dirty="0"/>
          </a:p>
        </p:txBody>
      </p:sp>
      <p:sp>
        <p:nvSpPr>
          <p:cNvPr id="6" name="Text 3"/>
          <p:cNvSpPr/>
          <p:nvPr/>
        </p:nvSpPr>
        <p:spPr>
          <a:xfrm>
            <a:off x="822960" y="4160520"/>
            <a:ext cx="9144000" cy="38404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Align the team in minutes — and prompt diagrams into existence instead of drawing them.</a:t>
            </a:r>
            <a:endParaRPr lang="en-US" sz="1700" dirty="0"/>
          </a:p>
        </p:txBody>
      </p:sp>
      <p:sp>
        <p:nvSpPr>
          <p:cNvPr id="7" name="Shape 4"/>
          <p:cNvSpPr/>
          <p:nvPr/>
        </p:nvSpPr>
        <p:spPr>
          <a:xfrm>
            <a:off x="822960" y="4892040"/>
            <a:ext cx="1156716" cy="402336"/>
          </a:xfrm>
          <a:prstGeom prst="roundRect">
            <a:avLst>
              <a:gd name="adj" fmla="val 15909"/>
            </a:avLst>
          </a:prstGeom>
          <a:solidFill>
            <a:srgbClr val="141E33"/>
          </a:solidFill>
          <a:ln/>
        </p:spPr>
      </p:sp>
      <p:sp>
        <p:nvSpPr>
          <p:cNvPr id="8" name="Text 5"/>
          <p:cNvSpPr/>
          <p:nvPr/>
        </p:nvSpPr>
        <p:spPr>
          <a:xfrm>
            <a:off x="877824" y="4892040"/>
            <a:ext cx="1046988"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M06 tools</a:t>
            </a:r>
            <a:endParaRPr lang="en-US" sz="1250" dirty="0"/>
          </a:p>
        </p:txBody>
      </p:sp>
      <p:sp>
        <p:nvSpPr>
          <p:cNvPr id="9" name="Shape 6"/>
          <p:cNvSpPr/>
          <p:nvPr/>
        </p:nvSpPr>
        <p:spPr>
          <a:xfrm>
            <a:off x="2208276" y="4892040"/>
            <a:ext cx="2404872" cy="402336"/>
          </a:xfrm>
          <a:prstGeom prst="roundRect">
            <a:avLst>
              <a:gd name="adj" fmla="val 15909"/>
            </a:avLst>
          </a:prstGeom>
          <a:solidFill>
            <a:srgbClr val="141E33"/>
          </a:solidFill>
          <a:ln/>
        </p:spPr>
      </p:sp>
      <p:sp>
        <p:nvSpPr>
          <p:cNvPr id="10" name="Text 7"/>
          <p:cNvSpPr/>
          <p:nvPr/>
        </p:nvSpPr>
        <p:spPr>
          <a:xfrm>
            <a:off x="2263140" y="4892040"/>
            <a:ext cx="229514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M07 prompt engineering</a:t>
            </a:r>
            <a:endParaRPr lang="en-US" sz="1250" dirty="0"/>
          </a:p>
        </p:txBody>
      </p:sp>
      <p:sp>
        <p:nvSpPr>
          <p:cNvPr id="11" name="Text 8"/>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06 — AI WHITEBOARDING TOOLS</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Why AI Whiteboards Matter</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33</a:t>
            </a:r>
            <a:endParaRPr lang="en-US" sz="1000" dirty="0"/>
          </a:p>
        </p:txBody>
      </p:sp>
      <p:sp>
        <p:nvSpPr>
          <p:cNvPr id="6" name="Shape 3"/>
          <p:cNvSpPr/>
          <p:nvPr/>
        </p:nvSpPr>
        <p:spPr>
          <a:xfrm>
            <a:off x="548640" y="1463040"/>
            <a:ext cx="5408676" cy="1965960"/>
          </a:xfrm>
          <a:prstGeom prst="roundRect">
            <a:avLst>
              <a:gd name="adj" fmla="val 4186"/>
            </a:avLst>
          </a:prstGeom>
          <a:solidFill>
            <a:srgbClr val="141E33"/>
          </a:solidFill>
          <a:ln/>
          <a:effectLst>
            <a:outerShdw sx="100000" sy="100000" kx="0" ky="0" algn="bl" rotWithShape="0" blurRad="114300" dist="38100" dir="5400000">
              <a:srgbClr val="000000">
                <a:alpha val="45000"/>
              </a:srgbClr>
            </a:outerShdw>
          </a:effectLst>
        </p:spPr>
      </p:sp>
      <p:sp>
        <p:nvSpPr>
          <p:cNvPr id="7" name="Shape 4"/>
          <p:cNvSpPr/>
          <p:nvPr/>
        </p:nvSpPr>
        <p:spPr>
          <a:xfrm>
            <a:off x="786384" y="1700784"/>
            <a:ext cx="603504" cy="603504"/>
          </a:xfrm>
          <a:prstGeom prst="ellipse">
            <a:avLst/>
          </a:prstGeom>
          <a:solidFill>
            <a:srgbClr val="1B2842"/>
          </a:solidFill>
          <a:ln/>
        </p:spPr>
      </p:sp>
      <p:pic>
        <p:nvPicPr>
          <p:cNvPr id="8" name="Image 0" descr="C:\Users\User\AppData\Local\Temp\claude\C--Users-User-OneDrive-Music-Hackathon\67e3d9e6-0718-4380-8c09-13d83fcd8fa7\scratchpad\pptbuild\v2\assets\icons\users-cyan.png">    </p:cNvPr>
          <p:cNvPicPr>
            <a:picLocks noChangeAspect="1"/>
          </p:cNvPicPr>
          <p:nvPr/>
        </p:nvPicPr>
        <p:blipFill>
          <a:blip r:embed="rId1"/>
          <a:stretch>
            <a:fillRect/>
          </a:stretch>
        </p:blipFill>
        <p:spPr>
          <a:xfrm>
            <a:off x="931225" y="1845625"/>
            <a:ext cx="313822" cy="313822"/>
          </a:xfrm>
          <a:prstGeom prst="rect">
            <a:avLst/>
          </a:prstGeom>
        </p:spPr>
      </p:pic>
      <p:sp>
        <p:nvSpPr>
          <p:cNvPr id="9" name="Text 5"/>
          <p:cNvSpPr/>
          <p:nvPr/>
        </p:nvSpPr>
        <p:spPr>
          <a:xfrm>
            <a:off x="786384" y="2414016"/>
            <a:ext cx="4933188" cy="8778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Collaborative whiteboard</a:t>
            </a:r>
            <a:endParaRPr lang="en-US" sz="1600" dirty="0"/>
          </a:p>
          <a:p>
            <a:pPr indent="0" marL="0">
              <a:lnSpc>
                <a:spcPct val="106000"/>
              </a:lnSpc>
              <a:buNone/>
            </a:pPr>
            <a:r>
              <a:rPr lang="en-US" sz="1450" dirty="0">
                <a:solidFill>
                  <a:srgbClr val="7C8CA5"/>
                </a:solidFill>
                <a:latin typeface="Calibri" pitchFamily="34" charset="0"/>
                <a:ea typeface="Calibri" pitchFamily="34" charset="-122"/>
                <a:cs typeface="Calibri" pitchFamily="34" charset="-120"/>
              </a:rPr>
              <a:t>Shared infinite canvas — sticky notes, diagrams, real-time team drawing.</a:t>
            </a:r>
            <a:endParaRPr lang="en-US" sz="1600" dirty="0"/>
          </a:p>
        </p:txBody>
      </p:sp>
      <p:sp>
        <p:nvSpPr>
          <p:cNvPr id="10" name="Shape 6"/>
          <p:cNvSpPr/>
          <p:nvPr/>
        </p:nvSpPr>
        <p:spPr>
          <a:xfrm>
            <a:off x="6231636" y="1463040"/>
            <a:ext cx="5408676" cy="1965960"/>
          </a:xfrm>
          <a:prstGeom prst="roundRect">
            <a:avLst>
              <a:gd name="adj" fmla="val 4186"/>
            </a:avLst>
          </a:prstGeom>
          <a:solidFill>
            <a:srgbClr val="141E33"/>
          </a:solidFill>
          <a:ln/>
          <a:effectLst>
            <a:outerShdw sx="100000" sy="100000" kx="0" ky="0" algn="bl" rotWithShape="0" blurRad="114300" dist="38100" dir="5400000">
              <a:srgbClr val="000000">
                <a:alpha val="45000"/>
              </a:srgbClr>
            </a:outerShdw>
          </a:effectLst>
        </p:spPr>
      </p:sp>
      <p:sp>
        <p:nvSpPr>
          <p:cNvPr id="11" name="Shape 7"/>
          <p:cNvSpPr/>
          <p:nvPr/>
        </p:nvSpPr>
        <p:spPr>
          <a:xfrm>
            <a:off x="6469380" y="1700784"/>
            <a:ext cx="603504" cy="603504"/>
          </a:xfrm>
          <a:prstGeom prst="ellipse">
            <a:avLst/>
          </a:prstGeom>
          <a:solidFill>
            <a:srgbClr val="1B2842"/>
          </a:solidFill>
          <a:ln/>
        </p:spPr>
      </p:sp>
      <p:pic>
        <p:nvPicPr>
          <p:cNvPr id="12" name="Image 1" descr="C:\Users\User\AppData\Local\Temp\claude\C--Users-User-OneDrive-Music-Hackathon\67e3d9e6-0718-4380-8c09-13d83fcd8fa7\scratchpad\pptbuild\v2\assets\icons\sparkles-cyan.png">    </p:cNvPr>
          <p:cNvPicPr>
            <a:picLocks noChangeAspect="1"/>
          </p:cNvPicPr>
          <p:nvPr/>
        </p:nvPicPr>
        <p:blipFill>
          <a:blip r:embed="rId2"/>
          <a:stretch>
            <a:fillRect/>
          </a:stretch>
        </p:blipFill>
        <p:spPr>
          <a:xfrm>
            <a:off x="6614221" y="1845625"/>
            <a:ext cx="313822" cy="313822"/>
          </a:xfrm>
          <a:prstGeom prst="rect">
            <a:avLst/>
          </a:prstGeom>
        </p:spPr>
      </p:pic>
      <p:sp>
        <p:nvSpPr>
          <p:cNvPr id="13" name="Text 8"/>
          <p:cNvSpPr/>
          <p:nvPr/>
        </p:nvSpPr>
        <p:spPr>
          <a:xfrm>
            <a:off x="6469380" y="2414016"/>
            <a:ext cx="4933188" cy="8778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AI whiteboarding</a:t>
            </a:r>
            <a:endParaRPr lang="en-US" sz="1600" dirty="0"/>
          </a:p>
          <a:p>
            <a:pPr indent="0" marL="0">
              <a:lnSpc>
                <a:spcPct val="106000"/>
              </a:lnSpc>
              <a:buNone/>
            </a:pPr>
            <a:r>
              <a:rPr lang="en-US" sz="1450" dirty="0">
                <a:solidFill>
                  <a:srgbClr val="7C8CA5"/>
                </a:solidFill>
                <a:latin typeface="Calibri" pitchFamily="34" charset="0"/>
                <a:ea typeface="Calibri" pitchFamily="34" charset="-122"/>
                <a:cs typeface="Calibri" pitchFamily="34" charset="-120"/>
              </a:rPr>
              <a:t>Prompt → generated diagram / flowchart / mind-map. Draw-by-hand → prompt-then-refine.</a:t>
            </a:r>
            <a:endParaRPr lang="en-US" sz="1600" dirty="0"/>
          </a:p>
        </p:txBody>
      </p:sp>
      <p:sp>
        <p:nvSpPr>
          <p:cNvPr id="14" name="Text 9"/>
          <p:cNvSpPr/>
          <p:nvPr/>
        </p:nvSpPr>
        <p:spPr>
          <a:xfrm>
            <a:off x="548640" y="3703320"/>
            <a:ext cx="45720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USED FOR</a:t>
            </a:r>
            <a:endParaRPr lang="en-US" sz="1400" dirty="0"/>
          </a:p>
        </p:txBody>
      </p:sp>
      <p:sp>
        <p:nvSpPr>
          <p:cNvPr id="15" name="Shape 10"/>
          <p:cNvSpPr/>
          <p:nvPr/>
        </p:nvSpPr>
        <p:spPr>
          <a:xfrm>
            <a:off x="548640" y="4114800"/>
            <a:ext cx="2660904" cy="402336"/>
          </a:xfrm>
          <a:prstGeom prst="roundRect">
            <a:avLst>
              <a:gd name="adj" fmla="val 15909"/>
            </a:avLst>
          </a:prstGeom>
          <a:solidFill>
            <a:srgbClr val="141E33"/>
          </a:solidFill>
          <a:ln/>
        </p:spPr>
      </p:sp>
      <p:sp>
        <p:nvSpPr>
          <p:cNvPr id="16" name="Text 11"/>
          <p:cNvSpPr/>
          <p:nvPr/>
        </p:nvSpPr>
        <p:spPr>
          <a:xfrm>
            <a:off x="603504" y="4114800"/>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brainstorming</a:t>
            </a:r>
            <a:endParaRPr lang="en-US" sz="1250" dirty="0"/>
          </a:p>
        </p:txBody>
      </p:sp>
      <p:sp>
        <p:nvSpPr>
          <p:cNvPr id="17" name="Shape 12"/>
          <p:cNvSpPr/>
          <p:nvPr/>
        </p:nvSpPr>
        <p:spPr>
          <a:xfrm>
            <a:off x="3392424" y="4114800"/>
            <a:ext cx="2660904" cy="402336"/>
          </a:xfrm>
          <a:prstGeom prst="roundRect">
            <a:avLst>
              <a:gd name="adj" fmla="val 15909"/>
            </a:avLst>
          </a:prstGeom>
          <a:solidFill>
            <a:srgbClr val="141E33"/>
          </a:solidFill>
          <a:ln/>
        </p:spPr>
      </p:sp>
      <p:sp>
        <p:nvSpPr>
          <p:cNvPr id="18" name="Text 13"/>
          <p:cNvSpPr/>
          <p:nvPr/>
        </p:nvSpPr>
        <p:spPr>
          <a:xfrm>
            <a:off x="3447288" y="4114800"/>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wireframes</a:t>
            </a:r>
            <a:endParaRPr lang="en-US" sz="1250" dirty="0"/>
          </a:p>
        </p:txBody>
      </p:sp>
      <p:sp>
        <p:nvSpPr>
          <p:cNvPr id="19" name="Shape 14"/>
          <p:cNvSpPr/>
          <p:nvPr/>
        </p:nvSpPr>
        <p:spPr>
          <a:xfrm>
            <a:off x="6236208" y="4114800"/>
            <a:ext cx="2660904" cy="402336"/>
          </a:xfrm>
          <a:prstGeom prst="roundRect">
            <a:avLst>
              <a:gd name="adj" fmla="val 15909"/>
            </a:avLst>
          </a:prstGeom>
          <a:solidFill>
            <a:srgbClr val="141E33"/>
          </a:solidFill>
          <a:ln/>
        </p:spPr>
      </p:sp>
      <p:sp>
        <p:nvSpPr>
          <p:cNvPr id="20" name="Text 15"/>
          <p:cNvSpPr/>
          <p:nvPr/>
        </p:nvSpPr>
        <p:spPr>
          <a:xfrm>
            <a:off x="6291072" y="4114800"/>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flowcharts</a:t>
            </a:r>
            <a:endParaRPr lang="en-US" sz="1250" dirty="0"/>
          </a:p>
        </p:txBody>
      </p:sp>
      <p:sp>
        <p:nvSpPr>
          <p:cNvPr id="21" name="Shape 16"/>
          <p:cNvSpPr/>
          <p:nvPr/>
        </p:nvSpPr>
        <p:spPr>
          <a:xfrm>
            <a:off x="9079992" y="4114800"/>
            <a:ext cx="2660904" cy="402336"/>
          </a:xfrm>
          <a:prstGeom prst="roundRect">
            <a:avLst>
              <a:gd name="adj" fmla="val 15909"/>
            </a:avLst>
          </a:prstGeom>
          <a:solidFill>
            <a:srgbClr val="141E33"/>
          </a:solidFill>
          <a:ln/>
        </p:spPr>
      </p:sp>
      <p:sp>
        <p:nvSpPr>
          <p:cNvPr id="22" name="Text 17"/>
          <p:cNvSpPr/>
          <p:nvPr/>
        </p:nvSpPr>
        <p:spPr>
          <a:xfrm>
            <a:off x="9134856" y="4114800"/>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architecture</a:t>
            </a:r>
            <a:endParaRPr lang="en-US" sz="1250" dirty="0"/>
          </a:p>
        </p:txBody>
      </p:sp>
      <p:sp>
        <p:nvSpPr>
          <p:cNvPr id="23" name="Shape 18"/>
          <p:cNvSpPr/>
          <p:nvPr/>
        </p:nvSpPr>
        <p:spPr>
          <a:xfrm>
            <a:off x="548640" y="4626864"/>
            <a:ext cx="2660904" cy="402336"/>
          </a:xfrm>
          <a:prstGeom prst="roundRect">
            <a:avLst>
              <a:gd name="adj" fmla="val 15909"/>
            </a:avLst>
          </a:prstGeom>
          <a:solidFill>
            <a:srgbClr val="141E33"/>
          </a:solidFill>
          <a:ln/>
        </p:spPr>
      </p:sp>
      <p:sp>
        <p:nvSpPr>
          <p:cNvPr id="24" name="Text 19"/>
          <p:cNvSpPr/>
          <p:nvPr/>
        </p:nvSpPr>
        <p:spPr>
          <a:xfrm>
            <a:off x="603504" y="4626864"/>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ER diagrams</a:t>
            </a:r>
            <a:endParaRPr lang="en-US" sz="1250" dirty="0"/>
          </a:p>
        </p:txBody>
      </p:sp>
      <p:sp>
        <p:nvSpPr>
          <p:cNvPr id="25" name="Shape 20"/>
          <p:cNvSpPr/>
          <p:nvPr/>
        </p:nvSpPr>
        <p:spPr>
          <a:xfrm>
            <a:off x="3392424" y="4626864"/>
            <a:ext cx="2660904" cy="402336"/>
          </a:xfrm>
          <a:prstGeom prst="roundRect">
            <a:avLst>
              <a:gd name="adj" fmla="val 15909"/>
            </a:avLst>
          </a:prstGeom>
          <a:solidFill>
            <a:srgbClr val="141E33"/>
          </a:solidFill>
          <a:ln/>
        </p:spPr>
      </p:sp>
      <p:sp>
        <p:nvSpPr>
          <p:cNvPr id="26" name="Text 21"/>
          <p:cNvSpPr/>
          <p:nvPr/>
        </p:nvSpPr>
        <p:spPr>
          <a:xfrm>
            <a:off x="3447288" y="4626864"/>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story maps</a:t>
            </a:r>
            <a:endParaRPr lang="en-US" sz="1250" dirty="0"/>
          </a:p>
        </p:txBody>
      </p:sp>
      <p:sp>
        <p:nvSpPr>
          <p:cNvPr id="27" name="Shape 22"/>
          <p:cNvSpPr/>
          <p:nvPr/>
        </p:nvSpPr>
        <p:spPr>
          <a:xfrm>
            <a:off x="6236208" y="4626864"/>
            <a:ext cx="2660904" cy="402336"/>
          </a:xfrm>
          <a:prstGeom prst="roundRect">
            <a:avLst>
              <a:gd name="adj" fmla="val 15909"/>
            </a:avLst>
          </a:prstGeom>
          <a:solidFill>
            <a:srgbClr val="141E33"/>
          </a:solidFill>
          <a:ln/>
        </p:spPr>
      </p:sp>
      <p:sp>
        <p:nvSpPr>
          <p:cNvPr id="28" name="Text 23"/>
          <p:cNvSpPr/>
          <p:nvPr/>
        </p:nvSpPr>
        <p:spPr>
          <a:xfrm>
            <a:off x="6291072" y="4626864"/>
            <a:ext cx="25511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sprint plans</a:t>
            </a:r>
            <a:endParaRPr lang="en-US" sz="1250" dirty="0"/>
          </a:p>
        </p:txBody>
      </p:sp>
      <p:sp>
        <p:nvSpPr>
          <p:cNvPr id="29" name="Shape 24"/>
          <p:cNvSpPr/>
          <p:nvPr/>
        </p:nvSpPr>
        <p:spPr>
          <a:xfrm>
            <a:off x="548640" y="5349240"/>
            <a:ext cx="11091672" cy="777240"/>
          </a:xfrm>
          <a:prstGeom prst="roundRect">
            <a:avLst>
              <a:gd name="adj" fmla="val 10588"/>
            </a:avLst>
          </a:prstGeom>
          <a:solidFill>
            <a:srgbClr val="1B2842"/>
          </a:solidFill>
          <a:ln/>
          <a:effectLst>
            <a:outerShdw sx="100000" sy="100000" kx="0" ky="0" algn="bl" rotWithShape="0" blurRad="114300" dist="38100" dir="5400000">
              <a:srgbClr val="000000">
                <a:alpha val="45000"/>
              </a:srgbClr>
            </a:outerShdw>
          </a:effectLst>
        </p:spPr>
      </p:sp>
      <p:sp>
        <p:nvSpPr>
          <p:cNvPr id="30" name="Shape 25"/>
          <p:cNvSpPr/>
          <p:nvPr/>
        </p:nvSpPr>
        <p:spPr>
          <a:xfrm>
            <a:off x="868680" y="5458968"/>
            <a:ext cx="548640" cy="548640"/>
          </a:xfrm>
          <a:prstGeom prst="ellipse">
            <a:avLst/>
          </a:prstGeom>
          <a:solidFill>
            <a:srgbClr val="141E33"/>
          </a:solidFill>
          <a:ln/>
        </p:spPr>
      </p:sp>
      <p:pic>
        <p:nvPicPr>
          <p:cNvPr id="31" name="Image 2" descr="C:\Users\User\AppData\Local\Temp\claude\C--Users-User-OneDrive-Music-Hackathon\67e3d9e6-0718-4380-8c09-13d83fcd8fa7\scratchpad\pptbuild\v2\assets\icons\zap-lime.png">    </p:cNvPr>
          <p:cNvPicPr>
            <a:picLocks noChangeAspect="1"/>
          </p:cNvPicPr>
          <p:nvPr/>
        </p:nvPicPr>
        <p:blipFill>
          <a:blip r:embed="rId3"/>
          <a:stretch>
            <a:fillRect/>
          </a:stretch>
        </p:blipFill>
        <p:spPr>
          <a:xfrm>
            <a:off x="1000354" y="5590642"/>
            <a:ext cx="285293" cy="285293"/>
          </a:xfrm>
          <a:prstGeom prst="rect">
            <a:avLst/>
          </a:prstGeom>
        </p:spPr>
      </p:pic>
      <p:sp>
        <p:nvSpPr>
          <p:cNvPr id="32" name="Text 26"/>
          <p:cNvSpPr/>
          <p:nvPr/>
        </p:nvSpPr>
        <p:spPr>
          <a:xfrm>
            <a:off x="1600200" y="5349240"/>
            <a:ext cx="9784080" cy="777240"/>
          </a:xfrm>
          <a:prstGeom prst="rect">
            <a:avLst/>
          </a:prstGeom>
          <a:noFill/>
          <a:ln/>
        </p:spPr>
        <p:txBody>
          <a:bodyPr wrap="square" lIns="0" tIns="0" rIns="0" bIns="0" rtlCol="0" anchor="ctr"/>
          <a:lstStyle/>
          <a:p>
            <a:pPr indent="0" marL="0">
              <a:buNone/>
            </a:pPr>
            <a:r>
              <a:rPr lang="en-US" sz="1500" b="1" dirty="0">
                <a:solidFill>
                  <a:srgbClr val="A3E635"/>
                </a:solidFill>
                <a:latin typeface="Calibri" pitchFamily="34" charset="0"/>
                <a:ea typeface="Calibri" pitchFamily="34" charset="-122"/>
                <a:cs typeface="Calibri" pitchFamily="34" charset="-120"/>
              </a:rPr>
              <a:t>Payoff: </a:t>
            </a:r>
            <a:pPr indent="0" marL="0">
              <a:buNone/>
            </a:pPr>
            <a:r>
              <a:rPr lang="en-US" sz="1500" dirty="0">
                <a:solidFill>
                  <a:srgbClr val="F1F5F9"/>
                </a:solidFill>
                <a:latin typeface="Calibri" pitchFamily="34" charset="0"/>
                <a:ea typeface="Calibri" pitchFamily="34" charset="-122"/>
                <a:cs typeface="Calibri" pitchFamily="34" charset="-120"/>
              </a:rPr>
              <a:t>team aligned in minutes + diagrams that make your engineering visible to judges.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Tool Landscape (Mid-2026)</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34</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965960"/>
                <a:gridCol w="3291840"/>
                <a:gridCol w="3822192"/>
                <a:gridCol w="2011680"/>
              </a:tblGrid>
              <a:tr h="44348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AI capability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Miro</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Enterprise workshops at scale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Diagrams · mind-maps · summaries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tier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FigJam</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Design teams in Figma</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AI templates + diagram gen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starter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MS Whiteboard</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Microsoft 365 / Teams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Lighter AI, templates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Excalidraw</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Fast hand-drawn sketches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Text→diagram (Plus)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Free + OSS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tldraw</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Dev-friendly, embeddable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“Make real” sketch→UI</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Free + SDK</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Whimsical</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Tidy flows &amp; wireframes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AI flow / mind-map gen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tier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Lucidchart</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Precise technical diagrams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AI diagram gen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tier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Eraser AI</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Diagram-as-code for engineers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Strong prompt→tech diagram</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tier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43484">
                <a:tc>
                  <a:txBody>
                    <a:bodyPr/>
                    <a:lstStyle/>
                    <a:p>
                      <a:pPr algn="l" indent="0" marL="0">
                        <a:buNone/>
                      </a:pPr>
                      <a:r>
                        <a:rPr lang="en-US" sz="1400" b="1" dirty="0">
                          <a:solidFill>
                            <a:srgbClr val="F1F5F9"/>
                          </a:solidFill>
                          <a:latin typeface="Consolas" pitchFamily="34" charset="0"/>
                          <a:ea typeface="Consolas" pitchFamily="34" charset="-122"/>
                          <a:cs typeface="Consolas" pitchFamily="34" charset="-120"/>
                        </a:rPr>
                        <a:t>draw.io</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UML / ERD, offline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Limited AI</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6" name="Text 2"/>
          <p:cNvSpPr/>
          <p:nvPr/>
        </p:nvSpPr>
        <p:spPr>
          <a:xfrm>
            <a:off x="548640" y="5943600"/>
            <a:ext cx="11091672" cy="292608"/>
          </a:xfrm>
          <a:prstGeom prst="rect">
            <a:avLst/>
          </a:prstGeom>
          <a:noFill/>
          <a:ln/>
        </p:spPr>
        <p:txBody>
          <a:bodyPr wrap="square" lIns="0" tIns="0" rIns="0" bIns="0" rtlCol="0" anchor="ctr"/>
          <a:lstStyle/>
          <a:p>
            <a:pPr algn="ctr" indent="0" marL="0">
              <a:buNone/>
            </a:pPr>
            <a:r>
              <a:rPr lang="en-US" sz="1250" i="1" dirty="0">
                <a:solidFill>
                  <a:srgbClr val="7C8CA5"/>
                </a:solidFill>
                <a:latin typeface="Calibri" pitchFamily="34" charset="0"/>
                <a:ea typeface="Calibri" pitchFamily="34" charset="-122"/>
                <a:cs typeface="Calibri" pitchFamily="34" charset="-120"/>
              </a:rPr>
              <a:t>Pricing &amp; AI features change fast — verify on each vendor's page.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Pick the Tool for the Job</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35</a:t>
            </a:r>
            <a:endParaRPr lang="en-US" sz="1000" dirty="0"/>
          </a:p>
        </p:txBody>
      </p:sp>
      <p:sp>
        <p:nvSpPr>
          <p:cNvPr id="5" name="Shape 2"/>
          <p:cNvSpPr/>
          <p:nvPr/>
        </p:nvSpPr>
        <p:spPr>
          <a:xfrm>
            <a:off x="548640" y="146304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0078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workflow-cyan.png">    </p:cNvPr>
          <p:cNvPicPr>
            <a:picLocks noChangeAspect="1"/>
          </p:cNvPicPr>
          <p:nvPr/>
        </p:nvPicPr>
        <p:blipFill>
          <a:blip r:embed="rId1"/>
          <a:stretch>
            <a:fillRect/>
          </a:stretch>
        </p:blipFill>
        <p:spPr>
          <a:xfrm>
            <a:off x="931225" y="1845625"/>
            <a:ext cx="313822" cy="313822"/>
          </a:xfrm>
          <a:prstGeom prst="rect">
            <a:avLst/>
          </a:prstGeom>
        </p:spPr>
      </p:pic>
      <p:sp>
        <p:nvSpPr>
          <p:cNvPr id="8" name="Text 4"/>
          <p:cNvSpPr/>
          <p:nvPr/>
        </p:nvSpPr>
        <p:spPr>
          <a:xfrm>
            <a:off x="786384" y="241401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Flow / diagram gen</a:t>
            </a:r>
            <a:endParaRPr lang="en-US" sz="1600" dirty="0"/>
          </a:p>
          <a:p>
            <a:pPr indent="0" marL="0">
              <a:lnSpc>
                <a:spcPct val="106000"/>
              </a:lnSpc>
              <a:buNone/>
            </a:pPr>
            <a:r>
              <a:rPr lang="en-US" sz="1350" dirty="0">
                <a:solidFill>
                  <a:srgbClr val="7C8CA5"/>
                </a:solidFill>
                <a:latin typeface="Consolas" pitchFamily="34" charset="0"/>
                <a:ea typeface="Consolas" pitchFamily="34" charset="-122"/>
                <a:cs typeface="Consolas" pitchFamily="34" charset="-120"/>
              </a:rPr>
              <a:t>Miro · FigJam · Whimsical · Lucid · Eraser</a:t>
            </a:r>
            <a:endParaRPr lang="en-US" sz="1600" dirty="0"/>
          </a:p>
        </p:txBody>
      </p:sp>
      <p:sp>
        <p:nvSpPr>
          <p:cNvPr id="9" name="Shape 5"/>
          <p:cNvSpPr/>
          <p:nvPr/>
        </p:nvSpPr>
        <p:spPr>
          <a:xfrm>
            <a:off x="4337304" y="146304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70078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layers-cyan.png">    </p:cNvPr>
          <p:cNvPicPr>
            <a:picLocks noChangeAspect="1"/>
          </p:cNvPicPr>
          <p:nvPr/>
        </p:nvPicPr>
        <p:blipFill>
          <a:blip r:embed="rId2"/>
          <a:stretch>
            <a:fillRect/>
          </a:stretch>
        </p:blipFill>
        <p:spPr>
          <a:xfrm>
            <a:off x="4719889" y="1845625"/>
            <a:ext cx="313822" cy="313822"/>
          </a:xfrm>
          <a:prstGeom prst="rect">
            <a:avLst/>
          </a:prstGeom>
        </p:spPr>
      </p:pic>
      <p:sp>
        <p:nvSpPr>
          <p:cNvPr id="12" name="Text 7"/>
          <p:cNvSpPr/>
          <p:nvPr/>
        </p:nvSpPr>
        <p:spPr>
          <a:xfrm>
            <a:off x="4575048" y="241401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Architecture · UML · docs</a:t>
            </a:r>
            <a:endParaRPr lang="en-US" sz="1600" dirty="0"/>
          </a:p>
          <a:p>
            <a:pPr indent="0" marL="0">
              <a:lnSpc>
                <a:spcPct val="106000"/>
              </a:lnSpc>
              <a:buNone/>
            </a:pPr>
            <a:r>
              <a:rPr lang="en-US" sz="1350" dirty="0">
                <a:solidFill>
                  <a:srgbClr val="7C8CA5"/>
                </a:solidFill>
                <a:latin typeface="Consolas" pitchFamily="34" charset="0"/>
                <a:ea typeface="Consolas" pitchFamily="34" charset="-122"/>
                <a:cs typeface="Consolas" pitchFamily="34" charset="-120"/>
              </a:rPr>
              <a:t>Eraser AI · Lucidchart · draw.io</a:t>
            </a:r>
            <a:endParaRPr lang="en-US" sz="1600" dirty="0"/>
          </a:p>
        </p:txBody>
      </p:sp>
      <p:sp>
        <p:nvSpPr>
          <p:cNvPr id="13" name="Shape 8"/>
          <p:cNvSpPr/>
          <p:nvPr/>
        </p:nvSpPr>
        <p:spPr>
          <a:xfrm>
            <a:off x="8125968" y="146304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70078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database-cyan.png">    </p:cNvPr>
          <p:cNvPicPr>
            <a:picLocks noChangeAspect="1"/>
          </p:cNvPicPr>
          <p:nvPr/>
        </p:nvPicPr>
        <p:blipFill>
          <a:blip r:embed="rId3"/>
          <a:stretch>
            <a:fillRect/>
          </a:stretch>
        </p:blipFill>
        <p:spPr>
          <a:xfrm>
            <a:off x="8508553" y="1845625"/>
            <a:ext cx="313822" cy="313822"/>
          </a:xfrm>
          <a:prstGeom prst="rect">
            <a:avLst/>
          </a:prstGeom>
        </p:spPr>
      </p:pic>
      <p:sp>
        <p:nvSpPr>
          <p:cNvPr id="16" name="Text 10"/>
          <p:cNvSpPr/>
          <p:nvPr/>
        </p:nvSpPr>
        <p:spPr>
          <a:xfrm>
            <a:off x="8363712" y="241401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ER / database</a:t>
            </a:r>
            <a:endParaRPr lang="en-US" sz="1600" dirty="0"/>
          </a:p>
          <a:p>
            <a:pPr indent="0" marL="0">
              <a:lnSpc>
                <a:spcPct val="106000"/>
              </a:lnSpc>
              <a:buNone/>
            </a:pPr>
            <a:r>
              <a:rPr lang="en-US" sz="1350" dirty="0">
                <a:solidFill>
                  <a:srgbClr val="7C8CA5"/>
                </a:solidFill>
                <a:latin typeface="Consolas" pitchFamily="34" charset="0"/>
                <a:ea typeface="Consolas" pitchFamily="34" charset="-122"/>
                <a:cs typeface="Consolas" pitchFamily="34" charset="-120"/>
              </a:rPr>
              <a:t>Lucid · draw.io · Eraser (as-code)</a:t>
            </a:r>
            <a:endParaRPr lang="en-US" sz="1600" dirty="0"/>
          </a:p>
        </p:txBody>
      </p:sp>
      <p:sp>
        <p:nvSpPr>
          <p:cNvPr id="17" name="Shape 11"/>
          <p:cNvSpPr/>
          <p:nvPr/>
        </p:nvSpPr>
        <p:spPr>
          <a:xfrm>
            <a:off x="548640" y="393192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786384" y="4169664"/>
            <a:ext cx="603504" cy="603504"/>
          </a:xfrm>
          <a:prstGeom prst="ellipse">
            <a:avLst/>
          </a:prstGeom>
          <a:solidFill>
            <a:srgbClr val="1B2842"/>
          </a:solidFill>
          <a:ln/>
        </p:spPr>
      </p:sp>
      <p:pic>
        <p:nvPicPr>
          <p:cNvPr id="19" name="Image 3" descr="C:\Users\User\AppData\Local\Temp\claude\C--Users-User-OneDrive-Music-Hackathon\67e3d9e6-0718-4380-8c09-13d83fcd8fa7\scratchpad\pptbuild\v2\assets\icons\brain-cyan.png">    </p:cNvPr>
          <p:cNvPicPr>
            <a:picLocks noChangeAspect="1"/>
          </p:cNvPicPr>
          <p:nvPr/>
        </p:nvPicPr>
        <p:blipFill>
          <a:blip r:embed="rId4"/>
          <a:stretch>
            <a:fillRect/>
          </a:stretch>
        </p:blipFill>
        <p:spPr>
          <a:xfrm>
            <a:off x="931225" y="4314505"/>
            <a:ext cx="313822" cy="313822"/>
          </a:xfrm>
          <a:prstGeom prst="rect">
            <a:avLst/>
          </a:prstGeom>
        </p:spPr>
      </p:pic>
      <p:sp>
        <p:nvSpPr>
          <p:cNvPr id="20" name="Text 13"/>
          <p:cNvSpPr/>
          <p:nvPr/>
        </p:nvSpPr>
        <p:spPr>
          <a:xfrm>
            <a:off x="786384" y="488289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Mind &amp; journey maps</a:t>
            </a:r>
            <a:endParaRPr lang="en-US" sz="1600" dirty="0"/>
          </a:p>
          <a:p>
            <a:pPr indent="0" marL="0">
              <a:lnSpc>
                <a:spcPct val="106000"/>
              </a:lnSpc>
              <a:buNone/>
            </a:pPr>
            <a:r>
              <a:rPr lang="en-US" sz="1350" dirty="0">
                <a:solidFill>
                  <a:srgbClr val="7C8CA5"/>
                </a:solidFill>
                <a:latin typeface="Consolas" pitchFamily="34" charset="0"/>
                <a:ea typeface="Consolas" pitchFamily="34" charset="-122"/>
                <a:cs typeface="Consolas" pitchFamily="34" charset="-120"/>
              </a:rPr>
              <a:t>Miro · FigJam · Whimsical</a:t>
            </a:r>
            <a:endParaRPr lang="en-US" sz="1600" dirty="0"/>
          </a:p>
        </p:txBody>
      </p:sp>
      <p:sp>
        <p:nvSpPr>
          <p:cNvPr id="21" name="Shape 14"/>
          <p:cNvSpPr/>
          <p:nvPr/>
        </p:nvSpPr>
        <p:spPr>
          <a:xfrm>
            <a:off x="4337304" y="393192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4575048" y="4169664"/>
            <a:ext cx="603504" cy="603504"/>
          </a:xfrm>
          <a:prstGeom prst="ellipse">
            <a:avLst/>
          </a:prstGeom>
          <a:solidFill>
            <a:srgbClr val="1B2842"/>
          </a:solidFill>
          <a:ln/>
        </p:spPr>
      </p:sp>
      <p:pic>
        <p:nvPicPr>
          <p:cNvPr id="23" name="Image 4" descr="C:\Users\User\AppData\Local\Temp\claude\C--Users-User-OneDrive-Music-Hackathon\67e3d9e6-0718-4380-8c09-13d83fcd8fa7\scratchpad\pptbuild\v2\assets\icons\kanban-cyan.png">    </p:cNvPr>
          <p:cNvPicPr>
            <a:picLocks noChangeAspect="1"/>
          </p:cNvPicPr>
          <p:nvPr/>
        </p:nvPicPr>
        <p:blipFill>
          <a:blip r:embed="rId5"/>
          <a:stretch>
            <a:fillRect/>
          </a:stretch>
        </p:blipFill>
        <p:spPr>
          <a:xfrm>
            <a:off x="4719889" y="4314505"/>
            <a:ext cx="313822" cy="313822"/>
          </a:xfrm>
          <a:prstGeom prst="rect">
            <a:avLst/>
          </a:prstGeom>
        </p:spPr>
      </p:pic>
      <p:sp>
        <p:nvSpPr>
          <p:cNvPr id="24" name="Text 16"/>
          <p:cNvSpPr/>
          <p:nvPr/>
        </p:nvSpPr>
        <p:spPr>
          <a:xfrm>
            <a:off x="4575048" y="488289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Sprint boards</a:t>
            </a:r>
            <a:endParaRPr lang="en-US" sz="1600" dirty="0"/>
          </a:p>
          <a:p>
            <a:pPr indent="0" marL="0">
              <a:lnSpc>
                <a:spcPct val="106000"/>
              </a:lnSpc>
              <a:buNone/>
            </a:pPr>
            <a:r>
              <a:rPr lang="en-US" sz="1350" dirty="0">
                <a:solidFill>
                  <a:srgbClr val="7C8CA5"/>
                </a:solidFill>
                <a:latin typeface="Consolas" pitchFamily="34" charset="0"/>
                <a:ea typeface="Consolas" pitchFamily="34" charset="-122"/>
                <a:cs typeface="Consolas" pitchFamily="34" charset="-120"/>
              </a:rPr>
              <a:t>Miro · FigJam</a:t>
            </a:r>
            <a:endParaRPr lang="en-US" sz="1600" dirty="0"/>
          </a:p>
        </p:txBody>
      </p:sp>
      <p:sp>
        <p:nvSpPr>
          <p:cNvPr id="25" name="Shape 17"/>
          <p:cNvSpPr/>
          <p:nvPr/>
        </p:nvSpPr>
        <p:spPr>
          <a:xfrm>
            <a:off x="8125968" y="3931920"/>
            <a:ext cx="3514344" cy="2194560"/>
          </a:xfrm>
          <a:prstGeom prst="roundRect">
            <a:avLst>
              <a:gd name="adj" fmla="val 3750"/>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8363712" y="4169664"/>
            <a:ext cx="603504" cy="603504"/>
          </a:xfrm>
          <a:prstGeom prst="ellipse">
            <a:avLst/>
          </a:prstGeom>
          <a:solidFill>
            <a:srgbClr val="1B2842"/>
          </a:solidFill>
          <a:ln/>
        </p:spPr>
      </p:sp>
      <p:pic>
        <p:nvPicPr>
          <p:cNvPr id="27" name="Image 5" descr="C:\Users\User\AppData\Local\Temp\claude\C--Users-User-OneDrive-Music-Hackathon\67e3d9e6-0718-4380-8c09-13d83fcd8fa7\scratchpad\pptbuild\v2\assets\icons\pentool-cyan.png">    </p:cNvPr>
          <p:cNvPicPr>
            <a:picLocks noChangeAspect="1"/>
          </p:cNvPicPr>
          <p:nvPr/>
        </p:nvPicPr>
        <p:blipFill>
          <a:blip r:embed="rId6"/>
          <a:stretch>
            <a:fillRect/>
          </a:stretch>
        </p:blipFill>
        <p:spPr>
          <a:xfrm>
            <a:off x="8508553" y="4314505"/>
            <a:ext cx="313822" cy="313822"/>
          </a:xfrm>
          <a:prstGeom prst="rect">
            <a:avLst/>
          </a:prstGeom>
        </p:spPr>
      </p:pic>
      <p:sp>
        <p:nvSpPr>
          <p:cNvPr id="28" name="Text 19"/>
          <p:cNvSpPr/>
          <p:nvPr/>
        </p:nvSpPr>
        <p:spPr>
          <a:xfrm>
            <a:off x="8363712" y="4882896"/>
            <a:ext cx="3038856" cy="110642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Wireframes</a:t>
            </a:r>
            <a:endParaRPr lang="en-US" sz="1600" dirty="0"/>
          </a:p>
          <a:p>
            <a:pPr indent="0" marL="0">
              <a:lnSpc>
                <a:spcPct val="106000"/>
              </a:lnSpc>
              <a:buNone/>
            </a:pPr>
            <a:r>
              <a:rPr lang="en-US" sz="1350" dirty="0">
                <a:solidFill>
                  <a:srgbClr val="7C8CA5"/>
                </a:solidFill>
                <a:latin typeface="Consolas" pitchFamily="34" charset="0"/>
                <a:ea typeface="Consolas" pitchFamily="34" charset="-122"/>
                <a:cs typeface="Consolas" pitchFamily="34" charset="-120"/>
              </a:rPr>
              <a:t>Whimsical · Excalidraw · tldraw “make real”</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07 — PROMPT ENGINEERING FOR WHITEBOARDS</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5-Part Diagram Prompt</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36</a:t>
            </a:r>
            <a:endParaRPr lang="en-US" sz="1000" dirty="0"/>
          </a:p>
        </p:txBody>
      </p:sp>
      <p:sp>
        <p:nvSpPr>
          <p:cNvPr id="6" name="Shape 3"/>
          <p:cNvSpPr/>
          <p:nvPr/>
        </p:nvSpPr>
        <p:spPr>
          <a:xfrm>
            <a:off x="1371600" y="1481328"/>
            <a:ext cx="347472" cy="347472"/>
          </a:xfrm>
          <a:prstGeom prst="ellipse">
            <a:avLst/>
          </a:prstGeom>
          <a:solidFill>
            <a:srgbClr val="22D3EE"/>
          </a:solidFill>
          <a:ln/>
        </p:spPr>
      </p:sp>
      <p:sp>
        <p:nvSpPr>
          <p:cNvPr id="7" name="Text 4"/>
          <p:cNvSpPr/>
          <p:nvPr/>
        </p:nvSpPr>
        <p:spPr>
          <a:xfrm>
            <a:off x="1371600" y="1463040"/>
            <a:ext cx="347472" cy="347472"/>
          </a:xfrm>
          <a:prstGeom prst="rect">
            <a:avLst/>
          </a:prstGeom>
          <a:noFill/>
          <a:ln/>
        </p:spPr>
        <p:txBody>
          <a:bodyPr wrap="square" lIns="0" tIns="0" rIns="0" bIns="0" rtlCol="0" anchor="ctr"/>
          <a:lstStyle/>
          <a:p>
            <a:pPr algn="ctr" indent="0" marL="0">
              <a:buNone/>
            </a:pPr>
            <a:r>
              <a:rPr lang="en-US" sz="1300" dirty="0">
                <a:solidFill>
                  <a:srgbClr val="0B1220"/>
                </a:solidFill>
                <a:latin typeface="Arial Black" pitchFamily="34" charset="0"/>
                <a:ea typeface="Arial Black" pitchFamily="34" charset="-122"/>
                <a:cs typeface="Arial Black" pitchFamily="34" charset="-120"/>
              </a:rPr>
              <a:t>1</a:t>
            </a:r>
            <a:endParaRPr lang="en-US" sz="1300" dirty="0"/>
          </a:p>
        </p:txBody>
      </p:sp>
      <p:sp>
        <p:nvSpPr>
          <p:cNvPr id="8" name="Shape 5"/>
          <p:cNvSpPr/>
          <p:nvPr/>
        </p:nvSpPr>
        <p:spPr>
          <a:xfrm>
            <a:off x="548640" y="1938528"/>
            <a:ext cx="1993392" cy="603504"/>
          </a:xfrm>
          <a:prstGeom prst="roundRect">
            <a:avLst>
              <a:gd name="adj" fmla="val 10606"/>
            </a:avLst>
          </a:prstGeom>
          <a:solidFill>
            <a:srgbClr val="1B2842"/>
          </a:solidFill>
          <a:ln/>
        </p:spPr>
      </p:sp>
      <p:sp>
        <p:nvSpPr>
          <p:cNvPr id="9" name="Text 6"/>
          <p:cNvSpPr/>
          <p:nvPr/>
        </p:nvSpPr>
        <p:spPr>
          <a:xfrm>
            <a:off x="603504" y="1938528"/>
            <a:ext cx="1883664" cy="603504"/>
          </a:xfrm>
          <a:prstGeom prst="rect">
            <a:avLst/>
          </a:prstGeom>
          <a:noFill/>
          <a:ln/>
        </p:spPr>
        <p:txBody>
          <a:bodyPr wrap="square" lIns="0" tIns="0" rIns="0" bIns="0" rtlCol="0" anchor="ctr"/>
          <a:lstStyle/>
          <a:p>
            <a:pPr algn="ctr" indent="0" marL="0">
              <a:buNone/>
            </a:pPr>
            <a:r>
              <a:rPr lang="en-US" sz="1350" dirty="0">
                <a:solidFill>
                  <a:srgbClr val="22D3EE"/>
                </a:solidFill>
                <a:latin typeface="Consolas" pitchFamily="34" charset="0"/>
                <a:ea typeface="Consolas" pitchFamily="34" charset="-122"/>
                <a:cs typeface="Consolas" pitchFamily="34" charset="-120"/>
              </a:rPr>
              <a:t>artifact type</a:t>
            </a:r>
            <a:endParaRPr lang="en-US" sz="1350" dirty="0"/>
          </a:p>
        </p:txBody>
      </p:sp>
      <p:sp>
        <p:nvSpPr>
          <p:cNvPr id="10" name="Shape 7"/>
          <p:cNvSpPr/>
          <p:nvPr/>
        </p:nvSpPr>
        <p:spPr>
          <a:xfrm>
            <a:off x="3648456" y="1481328"/>
            <a:ext cx="347472" cy="347472"/>
          </a:xfrm>
          <a:prstGeom prst="ellipse">
            <a:avLst/>
          </a:prstGeom>
          <a:solidFill>
            <a:srgbClr val="22D3EE"/>
          </a:solidFill>
          <a:ln/>
        </p:spPr>
      </p:sp>
      <p:sp>
        <p:nvSpPr>
          <p:cNvPr id="11" name="Text 8"/>
          <p:cNvSpPr/>
          <p:nvPr/>
        </p:nvSpPr>
        <p:spPr>
          <a:xfrm>
            <a:off x="3648456" y="1463040"/>
            <a:ext cx="347472" cy="347472"/>
          </a:xfrm>
          <a:prstGeom prst="rect">
            <a:avLst/>
          </a:prstGeom>
          <a:noFill/>
          <a:ln/>
        </p:spPr>
        <p:txBody>
          <a:bodyPr wrap="square" lIns="0" tIns="0" rIns="0" bIns="0" rtlCol="0" anchor="ctr"/>
          <a:lstStyle/>
          <a:p>
            <a:pPr algn="ctr" indent="0" marL="0">
              <a:buNone/>
            </a:pPr>
            <a:r>
              <a:rPr lang="en-US" sz="1300" dirty="0">
                <a:solidFill>
                  <a:srgbClr val="0B1220"/>
                </a:solidFill>
                <a:latin typeface="Arial Black" pitchFamily="34" charset="0"/>
                <a:ea typeface="Arial Black" pitchFamily="34" charset="-122"/>
                <a:cs typeface="Arial Black" pitchFamily="34" charset="-120"/>
              </a:rPr>
              <a:t>2</a:t>
            </a:r>
            <a:endParaRPr lang="en-US" sz="1300" dirty="0"/>
          </a:p>
        </p:txBody>
      </p:sp>
      <p:sp>
        <p:nvSpPr>
          <p:cNvPr id="12" name="Shape 9"/>
          <p:cNvSpPr/>
          <p:nvPr/>
        </p:nvSpPr>
        <p:spPr>
          <a:xfrm>
            <a:off x="2825496" y="1938528"/>
            <a:ext cx="1993392" cy="603504"/>
          </a:xfrm>
          <a:prstGeom prst="roundRect">
            <a:avLst>
              <a:gd name="adj" fmla="val 10606"/>
            </a:avLst>
          </a:prstGeom>
          <a:solidFill>
            <a:srgbClr val="1B2842"/>
          </a:solidFill>
          <a:ln/>
        </p:spPr>
      </p:sp>
      <p:sp>
        <p:nvSpPr>
          <p:cNvPr id="13" name="Text 10"/>
          <p:cNvSpPr/>
          <p:nvPr/>
        </p:nvSpPr>
        <p:spPr>
          <a:xfrm>
            <a:off x="2880360" y="1938528"/>
            <a:ext cx="1883664" cy="603504"/>
          </a:xfrm>
          <a:prstGeom prst="rect">
            <a:avLst/>
          </a:prstGeom>
          <a:noFill/>
          <a:ln/>
        </p:spPr>
        <p:txBody>
          <a:bodyPr wrap="square" lIns="0" tIns="0" rIns="0" bIns="0" rtlCol="0" anchor="ctr"/>
          <a:lstStyle/>
          <a:p>
            <a:pPr algn="ctr" indent="0" marL="0">
              <a:buNone/>
            </a:pPr>
            <a:r>
              <a:rPr lang="en-US" sz="1350" dirty="0">
                <a:solidFill>
                  <a:srgbClr val="22D3EE"/>
                </a:solidFill>
                <a:latin typeface="Consolas" pitchFamily="34" charset="0"/>
                <a:ea typeface="Consolas" pitchFamily="34" charset="-122"/>
                <a:cs typeface="Consolas" pitchFamily="34" charset="-120"/>
              </a:rPr>
              <a:t>subject / context</a:t>
            </a:r>
            <a:endParaRPr lang="en-US" sz="1350" dirty="0"/>
          </a:p>
        </p:txBody>
      </p:sp>
      <p:sp>
        <p:nvSpPr>
          <p:cNvPr id="14" name="Shape 11"/>
          <p:cNvSpPr/>
          <p:nvPr/>
        </p:nvSpPr>
        <p:spPr>
          <a:xfrm>
            <a:off x="5925312" y="1481328"/>
            <a:ext cx="347472" cy="347472"/>
          </a:xfrm>
          <a:prstGeom prst="ellipse">
            <a:avLst/>
          </a:prstGeom>
          <a:solidFill>
            <a:srgbClr val="22D3EE"/>
          </a:solidFill>
          <a:ln/>
        </p:spPr>
      </p:sp>
      <p:sp>
        <p:nvSpPr>
          <p:cNvPr id="15" name="Text 12"/>
          <p:cNvSpPr/>
          <p:nvPr/>
        </p:nvSpPr>
        <p:spPr>
          <a:xfrm>
            <a:off x="5925312" y="1463040"/>
            <a:ext cx="347472" cy="347472"/>
          </a:xfrm>
          <a:prstGeom prst="rect">
            <a:avLst/>
          </a:prstGeom>
          <a:noFill/>
          <a:ln/>
        </p:spPr>
        <p:txBody>
          <a:bodyPr wrap="square" lIns="0" tIns="0" rIns="0" bIns="0" rtlCol="0" anchor="ctr"/>
          <a:lstStyle/>
          <a:p>
            <a:pPr algn="ctr" indent="0" marL="0">
              <a:buNone/>
            </a:pPr>
            <a:r>
              <a:rPr lang="en-US" sz="1300" dirty="0">
                <a:solidFill>
                  <a:srgbClr val="0B1220"/>
                </a:solidFill>
                <a:latin typeface="Arial Black" pitchFamily="34" charset="0"/>
                <a:ea typeface="Arial Black" pitchFamily="34" charset="-122"/>
                <a:cs typeface="Arial Black" pitchFamily="34" charset="-120"/>
              </a:rPr>
              <a:t>3</a:t>
            </a:r>
            <a:endParaRPr lang="en-US" sz="1300" dirty="0"/>
          </a:p>
        </p:txBody>
      </p:sp>
      <p:sp>
        <p:nvSpPr>
          <p:cNvPr id="16" name="Shape 13"/>
          <p:cNvSpPr/>
          <p:nvPr/>
        </p:nvSpPr>
        <p:spPr>
          <a:xfrm>
            <a:off x="5102352" y="1938528"/>
            <a:ext cx="1993392" cy="603504"/>
          </a:xfrm>
          <a:prstGeom prst="roundRect">
            <a:avLst>
              <a:gd name="adj" fmla="val 10606"/>
            </a:avLst>
          </a:prstGeom>
          <a:solidFill>
            <a:srgbClr val="1B2842"/>
          </a:solidFill>
          <a:ln/>
        </p:spPr>
      </p:sp>
      <p:sp>
        <p:nvSpPr>
          <p:cNvPr id="17" name="Text 14"/>
          <p:cNvSpPr/>
          <p:nvPr/>
        </p:nvSpPr>
        <p:spPr>
          <a:xfrm>
            <a:off x="5157216" y="1938528"/>
            <a:ext cx="1883664" cy="603504"/>
          </a:xfrm>
          <a:prstGeom prst="rect">
            <a:avLst/>
          </a:prstGeom>
          <a:noFill/>
          <a:ln/>
        </p:spPr>
        <p:txBody>
          <a:bodyPr wrap="square" lIns="0" tIns="0" rIns="0" bIns="0" rtlCol="0" anchor="ctr"/>
          <a:lstStyle/>
          <a:p>
            <a:pPr algn="ctr" indent="0" marL="0">
              <a:buNone/>
            </a:pPr>
            <a:r>
              <a:rPr lang="en-US" sz="1350" dirty="0">
                <a:solidFill>
                  <a:srgbClr val="22D3EE"/>
                </a:solidFill>
                <a:latin typeface="Consolas" pitchFamily="34" charset="0"/>
                <a:ea typeface="Consolas" pitchFamily="34" charset="-122"/>
                <a:cs typeface="Consolas" pitchFamily="34" charset="-120"/>
              </a:rPr>
              <a:t>elements</a:t>
            </a:r>
            <a:endParaRPr lang="en-US" sz="1350" dirty="0"/>
          </a:p>
        </p:txBody>
      </p:sp>
      <p:sp>
        <p:nvSpPr>
          <p:cNvPr id="18" name="Shape 15"/>
          <p:cNvSpPr/>
          <p:nvPr/>
        </p:nvSpPr>
        <p:spPr>
          <a:xfrm>
            <a:off x="8202168" y="1481328"/>
            <a:ext cx="347472" cy="347472"/>
          </a:xfrm>
          <a:prstGeom prst="ellipse">
            <a:avLst/>
          </a:prstGeom>
          <a:solidFill>
            <a:srgbClr val="22D3EE"/>
          </a:solidFill>
          <a:ln/>
        </p:spPr>
      </p:sp>
      <p:sp>
        <p:nvSpPr>
          <p:cNvPr id="19" name="Text 16"/>
          <p:cNvSpPr/>
          <p:nvPr/>
        </p:nvSpPr>
        <p:spPr>
          <a:xfrm>
            <a:off x="8202168" y="1463040"/>
            <a:ext cx="347472" cy="347472"/>
          </a:xfrm>
          <a:prstGeom prst="rect">
            <a:avLst/>
          </a:prstGeom>
          <a:noFill/>
          <a:ln/>
        </p:spPr>
        <p:txBody>
          <a:bodyPr wrap="square" lIns="0" tIns="0" rIns="0" bIns="0" rtlCol="0" anchor="ctr"/>
          <a:lstStyle/>
          <a:p>
            <a:pPr algn="ctr" indent="0" marL="0">
              <a:buNone/>
            </a:pPr>
            <a:r>
              <a:rPr lang="en-US" sz="1300" dirty="0">
                <a:solidFill>
                  <a:srgbClr val="0B1220"/>
                </a:solidFill>
                <a:latin typeface="Arial Black" pitchFamily="34" charset="0"/>
                <a:ea typeface="Arial Black" pitchFamily="34" charset="-122"/>
                <a:cs typeface="Arial Black" pitchFamily="34" charset="-120"/>
              </a:rPr>
              <a:t>4</a:t>
            </a:r>
            <a:endParaRPr lang="en-US" sz="1300" dirty="0"/>
          </a:p>
        </p:txBody>
      </p:sp>
      <p:sp>
        <p:nvSpPr>
          <p:cNvPr id="20" name="Shape 17"/>
          <p:cNvSpPr/>
          <p:nvPr/>
        </p:nvSpPr>
        <p:spPr>
          <a:xfrm>
            <a:off x="7379208" y="1938528"/>
            <a:ext cx="1993392" cy="603504"/>
          </a:xfrm>
          <a:prstGeom prst="roundRect">
            <a:avLst>
              <a:gd name="adj" fmla="val 10606"/>
            </a:avLst>
          </a:prstGeom>
          <a:solidFill>
            <a:srgbClr val="1B2842"/>
          </a:solidFill>
          <a:ln/>
        </p:spPr>
      </p:sp>
      <p:sp>
        <p:nvSpPr>
          <p:cNvPr id="21" name="Text 18"/>
          <p:cNvSpPr/>
          <p:nvPr/>
        </p:nvSpPr>
        <p:spPr>
          <a:xfrm>
            <a:off x="7434072" y="1938528"/>
            <a:ext cx="1883664" cy="603504"/>
          </a:xfrm>
          <a:prstGeom prst="rect">
            <a:avLst/>
          </a:prstGeom>
          <a:noFill/>
          <a:ln/>
        </p:spPr>
        <p:txBody>
          <a:bodyPr wrap="square" lIns="0" tIns="0" rIns="0" bIns="0" rtlCol="0" anchor="ctr"/>
          <a:lstStyle/>
          <a:p>
            <a:pPr algn="ctr" indent="0" marL="0">
              <a:buNone/>
            </a:pPr>
            <a:r>
              <a:rPr lang="en-US" sz="1350" dirty="0">
                <a:solidFill>
                  <a:srgbClr val="22D3EE"/>
                </a:solidFill>
                <a:latin typeface="Consolas" pitchFamily="34" charset="0"/>
                <a:ea typeface="Consolas" pitchFamily="34" charset="-122"/>
                <a:cs typeface="Consolas" pitchFamily="34" charset="-120"/>
              </a:rPr>
              <a:t>relationships</a:t>
            </a:r>
            <a:endParaRPr lang="en-US" sz="1350" dirty="0"/>
          </a:p>
        </p:txBody>
      </p:sp>
      <p:sp>
        <p:nvSpPr>
          <p:cNvPr id="22" name="Shape 19"/>
          <p:cNvSpPr/>
          <p:nvPr/>
        </p:nvSpPr>
        <p:spPr>
          <a:xfrm>
            <a:off x="10479024" y="1481328"/>
            <a:ext cx="347472" cy="347472"/>
          </a:xfrm>
          <a:prstGeom prst="ellipse">
            <a:avLst/>
          </a:prstGeom>
          <a:solidFill>
            <a:srgbClr val="22D3EE"/>
          </a:solidFill>
          <a:ln/>
        </p:spPr>
      </p:sp>
      <p:sp>
        <p:nvSpPr>
          <p:cNvPr id="23" name="Text 20"/>
          <p:cNvSpPr/>
          <p:nvPr/>
        </p:nvSpPr>
        <p:spPr>
          <a:xfrm>
            <a:off x="10479024" y="1463040"/>
            <a:ext cx="347472" cy="347472"/>
          </a:xfrm>
          <a:prstGeom prst="rect">
            <a:avLst/>
          </a:prstGeom>
          <a:noFill/>
          <a:ln/>
        </p:spPr>
        <p:txBody>
          <a:bodyPr wrap="square" lIns="0" tIns="0" rIns="0" bIns="0" rtlCol="0" anchor="ctr"/>
          <a:lstStyle/>
          <a:p>
            <a:pPr algn="ctr" indent="0" marL="0">
              <a:buNone/>
            </a:pPr>
            <a:r>
              <a:rPr lang="en-US" sz="1300" dirty="0">
                <a:solidFill>
                  <a:srgbClr val="0B1220"/>
                </a:solidFill>
                <a:latin typeface="Arial Black" pitchFamily="34" charset="0"/>
                <a:ea typeface="Arial Black" pitchFamily="34" charset="-122"/>
                <a:cs typeface="Arial Black" pitchFamily="34" charset="-120"/>
              </a:rPr>
              <a:t>5</a:t>
            </a:r>
            <a:endParaRPr lang="en-US" sz="1300" dirty="0"/>
          </a:p>
        </p:txBody>
      </p:sp>
      <p:sp>
        <p:nvSpPr>
          <p:cNvPr id="24" name="Shape 21"/>
          <p:cNvSpPr/>
          <p:nvPr/>
        </p:nvSpPr>
        <p:spPr>
          <a:xfrm>
            <a:off x="9656064" y="1938528"/>
            <a:ext cx="1993392" cy="603504"/>
          </a:xfrm>
          <a:prstGeom prst="roundRect">
            <a:avLst>
              <a:gd name="adj" fmla="val 10606"/>
            </a:avLst>
          </a:prstGeom>
          <a:solidFill>
            <a:srgbClr val="1B2842"/>
          </a:solidFill>
          <a:ln/>
        </p:spPr>
      </p:sp>
      <p:sp>
        <p:nvSpPr>
          <p:cNvPr id="25" name="Text 22"/>
          <p:cNvSpPr/>
          <p:nvPr/>
        </p:nvSpPr>
        <p:spPr>
          <a:xfrm>
            <a:off x="9710928" y="1938528"/>
            <a:ext cx="1883664" cy="603504"/>
          </a:xfrm>
          <a:prstGeom prst="rect">
            <a:avLst/>
          </a:prstGeom>
          <a:noFill/>
          <a:ln/>
        </p:spPr>
        <p:txBody>
          <a:bodyPr wrap="square" lIns="0" tIns="0" rIns="0" bIns="0" rtlCol="0" anchor="ctr"/>
          <a:lstStyle/>
          <a:p>
            <a:pPr algn="ctr" indent="0" marL="0">
              <a:buNone/>
            </a:pPr>
            <a:r>
              <a:rPr lang="en-US" sz="1350" dirty="0">
                <a:solidFill>
                  <a:srgbClr val="22D3EE"/>
                </a:solidFill>
                <a:latin typeface="Consolas" pitchFamily="34" charset="0"/>
                <a:ea typeface="Consolas" pitchFamily="34" charset="-122"/>
                <a:cs typeface="Consolas" pitchFamily="34" charset="-120"/>
              </a:rPr>
              <a:t>constraints</a:t>
            </a:r>
            <a:endParaRPr lang="en-US" sz="1350" dirty="0"/>
          </a:p>
        </p:txBody>
      </p:sp>
      <p:sp>
        <p:nvSpPr>
          <p:cNvPr id="26" name="Shape 23"/>
          <p:cNvSpPr/>
          <p:nvPr/>
        </p:nvSpPr>
        <p:spPr>
          <a:xfrm>
            <a:off x="548640" y="2971800"/>
            <a:ext cx="11091672" cy="1234440"/>
          </a:xfrm>
          <a:prstGeom prst="roundRect">
            <a:avLst>
              <a:gd name="adj" fmla="val 6667"/>
            </a:avLst>
          </a:prstGeom>
          <a:solidFill>
            <a:srgbClr val="141E33"/>
          </a:solidFill>
          <a:ln/>
          <a:effectLst>
            <a:outerShdw sx="100000" sy="100000" kx="0" ky="0" algn="bl" rotWithShape="0" blurRad="114300" dist="38100" dir="5400000">
              <a:srgbClr val="000000">
                <a:alpha val="45000"/>
              </a:srgbClr>
            </a:outerShdw>
          </a:effectLst>
        </p:spPr>
      </p:sp>
      <p:sp>
        <p:nvSpPr>
          <p:cNvPr id="27" name="Text 24"/>
          <p:cNvSpPr/>
          <p:nvPr/>
        </p:nvSpPr>
        <p:spPr>
          <a:xfrm>
            <a:off x="914400" y="2971800"/>
            <a:ext cx="10378440" cy="1234440"/>
          </a:xfrm>
          <a:prstGeom prst="rect">
            <a:avLst/>
          </a:prstGeom>
          <a:noFill/>
          <a:ln/>
        </p:spPr>
        <p:txBody>
          <a:bodyPr wrap="square" lIns="0" tIns="0" rIns="0" bIns="0" rtlCol="0" anchor="ctr"/>
          <a:lstStyle/>
          <a:p>
            <a:pPr algn="ctr" indent="0" marL="0">
              <a:buNone/>
            </a:pPr>
            <a:r>
              <a:rPr lang="en-US" sz="1650" dirty="0">
                <a:solidFill>
                  <a:srgbClr val="F1F5F9"/>
                </a:solidFill>
                <a:latin typeface="Calibri" pitchFamily="34" charset="0"/>
                <a:ea typeface="Calibri" pitchFamily="34" charset="-122"/>
                <a:cs typeface="Calibri" pitchFamily="34" charset="-120"/>
              </a:rPr>
              <a:t>“Create a </a:t>
            </a:r>
            <a:pPr algn="ctr" indent="0" marL="0">
              <a:buNone/>
            </a:pPr>
            <a:r>
              <a:rPr lang="en-US" sz="1650" b="1" dirty="0">
                <a:solidFill>
                  <a:srgbClr val="22D3EE"/>
                </a:solidFill>
                <a:latin typeface="Calibri" pitchFamily="34" charset="0"/>
                <a:ea typeface="Calibri" pitchFamily="34" charset="-122"/>
                <a:cs typeface="Calibri" pitchFamily="34" charset="-120"/>
              </a:rPr>
              <a:t>[artifact type]</a:t>
            </a:r>
            <a:pPr algn="ctr" indent="0" marL="0">
              <a:buNone/>
            </a:pPr>
            <a:r>
              <a:rPr lang="en-US" sz="1650" dirty="0">
                <a:solidFill>
                  <a:srgbClr val="F1F5F9"/>
                </a:solidFill>
                <a:latin typeface="Calibri" pitchFamily="34" charset="0"/>
                <a:ea typeface="Calibri" pitchFamily="34" charset="-122"/>
                <a:cs typeface="Calibri" pitchFamily="34" charset="-120"/>
              </a:rPr>
              <a:t> for </a:t>
            </a:r>
            <a:pPr algn="ctr" indent="0" marL="0">
              <a:buNone/>
            </a:pPr>
            <a:r>
              <a:rPr lang="en-US" sz="1650" b="1" dirty="0">
                <a:solidFill>
                  <a:srgbClr val="22D3EE"/>
                </a:solidFill>
                <a:latin typeface="Calibri" pitchFamily="34" charset="0"/>
                <a:ea typeface="Calibri" pitchFamily="34" charset="-122"/>
                <a:cs typeface="Calibri" pitchFamily="34" charset="-120"/>
              </a:rPr>
              <a:t>[subject]</a:t>
            </a:r>
            <a:pPr algn="ctr" indent="0" marL="0">
              <a:buNone/>
            </a:pPr>
            <a:r>
              <a:rPr lang="en-US" sz="1650" dirty="0">
                <a:solidFill>
                  <a:srgbClr val="F1F5F9"/>
                </a:solidFill>
                <a:latin typeface="Calibri" pitchFamily="34" charset="0"/>
                <a:ea typeface="Calibri" pitchFamily="34" charset="-122"/>
                <a:cs typeface="Calibri" pitchFamily="34" charset="-120"/>
              </a:rPr>
              <a:t>. Include: </a:t>
            </a:r>
            <a:pPr algn="ctr" indent="0" marL="0">
              <a:buNone/>
            </a:pPr>
            <a:r>
              <a:rPr lang="en-US" sz="1650" b="1" dirty="0">
                <a:solidFill>
                  <a:srgbClr val="22D3EE"/>
                </a:solidFill>
                <a:latin typeface="Calibri" pitchFamily="34" charset="0"/>
                <a:ea typeface="Calibri" pitchFamily="34" charset="-122"/>
                <a:cs typeface="Calibri" pitchFamily="34" charset="-120"/>
              </a:rPr>
              <a:t>[elements]</a:t>
            </a:r>
            <a:pPr algn="ctr" indent="0" marL="0">
              <a:buNone/>
            </a:pPr>
            <a:r>
              <a:rPr lang="en-US" sz="1650" dirty="0">
                <a:solidFill>
                  <a:srgbClr val="F1F5F9"/>
                </a:solidFill>
                <a:latin typeface="Calibri" pitchFamily="34" charset="0"/>
                <a:ea typeface="Calibri" pitchFamily="34" charset="-122"/>
                <a:cs typeface="Calibri" pitchFamily="34" charset="-120"/>
              </a:rPr>
              <a:t>. Show </a:t>
            </a:r>
            <a:pPr algn="ctr" indent="0" marL="0">
              <a:buNone/>
            </a:pPr>
            <a:r>
              <a:rPr lang="en-US" sz="1650" b="1" dirty="0">
                <a:solidFill>
                  <a:srgbClr val="22D3EE"/>
                </a:solidFill>
                <a:latin typeface="Calibri" pitchFamily="34" charset="0"/>
                <a:ea typeface="Calibri" pitchFamily="34" charset="-122"/>
                <a:cs typeface="Calibri" pitchFamily="34" charset="-120"/>
              </a:rPr>
              <a:t>[relationships / flow]</a:t>
            </a:r>
            <a:pPr algn="ctr" indent="0" marL="0">
              <a:buNone/>
            </a:pPr>
            <a:r>
              <a:rPr lang="en-US" sz="1650" dirty="0">
                <a:solidFill>
                  <a:srgbClr val="F1F5F9"/>
                </a:solidFill>
                <a:latin typeface="Calibri" pitchFamily="34" charset="0"/>
                <a:ea typeface="Calibri" pitchFamily="34" charset="-122"/>
                <a:cs typeface="Calibri" pitchFamily="34" charset="-120"/>
              </a:rPr>
              <a:t>. Constraints: </a:t>
            </a:r>
            <a:pPr algn="ctr" indent="0" marL="0">
              <a:buNone/>
            </a:pPr>
            <a:r>
              <a:rPr lang="en-US" sz="1650" b="1" dirty="0">
                <a:solidFill>
                  <a:srgbClr val="22D3EE"/>
                </a:solidFill>
                <a:latin typeface="Calibri" pitchFamily="34" charset="0"/>
                <a:ea typeface="Calibri" pitchFamily="34" charset="-122"/>
                <a:cs typeface="Calibri" pitchFamily="34" charset="-120"/>
              </a:rPr>
              <a:t>[direction · grouping · detail]</a:t>
            </a:r>
            <a:pPr algn="ctr" indent="0" marL="0">
              <a:buNone/>
            </a:pPr>
            <a:r>
              <a:rPr lang="en-US" sz="1650" dirty="0">
                <a:solidFill>
                  <a:srgbClr val="F1F5F9"/>
                </a:solidFill>
                <a:latin typeface="Calibri" pitchFamily="34" charset="0"/>
                <a:ea typeface="Calibri" pitchFamily="34" charset="-122"/>
                <a:cs typeface="Calibri" pitchFamily="34" charset="-120"/>
              </a:rPr>
              <a:t>.”</a:t>
            </a:r>
            <a:endParaRPr lang="en-US" sz="1650" dirty="0"/>
          </a:p>
        </p:txBody>
      </p:sp>
      <p:sp>
        <p:nvSpPr>
          <p:cNvPr id="28" name="Text 25"/>
          <p:cNvSpPr/>
          <p:nvPr/>
        </p:nvSpPr>
        <p:spPr>
          <a:xfrm>
            <a:off x="548640" y="4572000"/>
            <a:ext cx="10607040" cy="1554480"/>
          </a:xfrm>
          <a:prstGeom prst="rect">
            <a:avLst/>
          </a:prstGeom>
          <a:noFill/>
          <a:ln/>
        </p:spPr>
        <p:txBody>
          <a:bodyPr wrap="square" lIns="0" tIns="0" rIns="0" bIns="0" rtlCol="0" anchor="t"/>
          <a:lstStyle/>
          <a:p>
            <a:pPr algn="l" marL="177800" indent="-177800">
              <a:lnSpc>
                <a:spcPct val="110000"/>
              </a:lnSpc>
              <a:spcAft>
                <a:spcPts val="900"/>
              </a:spcAft>
              <a:buSzPct val="100000"/>
              <a:buChar char="•"/>
            </a:pPr>
            <a:r>
              <a:rPr lang="en-US" sz="1550" b="1" dirty="0">
                <a:solidFill>
                  <a:srgbClr val="22D3EE"/>
                </a:solidFill>
                <a:latin typeface="Calibri" pitchFamily="34" charset="0"/>
                <a:ea typeface="Calibri" pitchFamily="34" charset="-122"/>
                <a:cs typeface="Calibri" pitchFamily="34" charset="-120"/>
              </a:rPr>
              <a:t>Prompt  </a:t>
            </a:r>
            <a:pPr algn="l" indent="0" marL="0">
              <a:lnSpc>
                <a:spcPct val="110000"/>
              </a:lnSpc>
              <a:spcAft>
                <a:spcPts val="900"/>
              </a:spcAft>
              <a:buNone/>
            </a:pPr>
            <a:r>
              <a:rPr lang="en-US" sz="1550" dirty="0">
                <a:solidFill>
                  <a:srgbClr val="F1F5F9"/>
                </a:solidFill>
                <a:latin typeface="Calibri" pitchFamily="34" charset="0"/>
                <a:ea typeface="Calibri" pitchFamily="34" charset="-122"/>
                <a:cs typeface="Calibri" pitchFamily="34" charset="-120"/>
              </a:rPr>
              <a:t>the text instruction you give the AI tool</a:t>
            </a:r>
            <a:endParaRPr lang="en-US" sz="1550" dirty="0"/>
          </a:p>
          <a:p>
            <a:pPr algn="l" marL="177800" indent="-177800">
              <a:lnSpc>
                <a:spcPct val="110000"/>
              </a:lnSpc>
              <a:spcAft>
                <a:spcPts val="900"/>
              </a:spcAft>
              <a:buSzPct val="100000"/>
              <a:buChar char="•"/>
            </a:pPr>
            <a:r>
              <a:rPr lang="en-US" sz="1550" b="1" dirty="0">
                <a:solidFill>
                  <a:srgbClr val="22D3EE"/>
                </a:solidFill>
                <a:latin typeface="Calibri" pitchFamily="34" charset="0"/>
                <a:ea typeface="Calibri" pitchFamily="34" charset="-122"/>
                <a:cs typeface="Calibri" pitchFamily="34" charset="-120"/>
              </a:rPr>
              <a:t>Prompt engineering  </a:t>
            </a:r>
            <a:pPr algn="l" indent="0" marL="0">
              <a:lnSpc>
                <a:spcPct val="110000"/>
              </a:lnSpc>
              <a:spcAft>
                <a:spcPts val="900"/>
              </a:spcAft>
              <a:buNone/>
            </a:pPr>
            <a:r>
              <a:rPr lang="en-US" sz="1550" dirty="0">
                <a:solidFill>
                  <a:srgbClr val="F1F5F9"/>
                </a:solidFill>
                <a:latin typeface="Calibri" pitchFamily="34" charset="0"/>
                <a:ea typeface="Calibri" pitchFamily="34" charset="-122"/>
                <a:cs typeface="Calibri" pitchFamily="34" charset="-120"/>
              </a:rPr>
              <a:t>writing prompts that reliably produce what you want</a:t>
            </a:r>
            <a:endParaRPr lang="en-US" sz="1550" dirty="0"/>
          </a:p>
          <a:p>
            <a:pPr algn="l" marL="177800" indent="-177800">
              <a:lnSpc>
                <a:spcPct val="110000"/>
              </a:lnSpc>
              <a:spcAft>
                <a:spcPts val="900"/>
              </a:spcAft>
              <a:buSzPct val="100000"/>
              <a:buChar char="•"/>
            </a:pPr>
            <a:r>
              <a:rPr lang="en-US" sz="1550" b="1" dirty="0">
                <a:solidFill>
                  <a:srgbClr val="A3E635"/>
                </a:solidFill>
                <a:latin typeface="Calibri" pitchFamily="34" charset="0"/>
                <a:ea typeface="Calibri" pitchFamily="34" charset="-122"/>
                <a:cs typeface="Calibri" pitchFamily="34" charset="-120"/>
              </a:rPr>
              <a:t>One good prompt = a usable diagram instead of an hour of drawing</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Same Task, Rising Precision</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37</a:t>
            </a:r>
            <a:endParaRPr lang="en-US" sz="1000" dirty="0"/>
          </a:p>
        </p:txBody>
      </p:sp>
      <p:sp>
        <p:nvSpPr>
          <p:cNvPr id="5" name="Shape 2"/>
          <p:cNvSpPr/>
          <p:nvPr/>
        </p:nvSpPr>
        <p:spPr>
          <a:xfrm>
            <a:off x="548640" y="1463040"/>
            <a:ext cx="7498080" cy="960120"/>
          </a:xfrm>
          <a:prstGeom prst="roundRect">
            <a:avLst>
              <a:gd name="adj" fmla="val 8571"/>
            </a:avLst>
          </a:prstGeom>
          <a:solidFill>
            <a:srgbClr val="141E33"/>
          </a:solidFill>
          <a:ln/>
          <a:effectLst>
            <a:outerShdw sx="100000" sy="100000" kx="0" ky="0" algn="bl" rotWithShape="0" blurRad="114300" dist="38100" dir="5400000">
              <a:srgbClr val="000000">
                <a:alpha val="45000"/>
              </a:srgbClr>
            </a:outerShdw>
          </a:effectLst>
        </p:spPr>
      </p:sp>
      <p:sp>
        <p:nvSpPr>
          <p:cNvPr id="6" name="Text 3"/>
          <p:cNvSpPr/>
          <p:nvPr/>
        </p:nvSpPr>
        <p:spPr>
          <a:xfrm>
            <a:off x="868680" y="1463040"/>
            <a:ext cx="6858000" cy="960120"/>
          </a:xfrm>
          <a:prstGeom prst="rect">
            <a:avLst/>
          </a:prstGeom>
          <a:noFill/>
          <a:ln/>
        </p:spPr>
        <p:txBody>
          <a:bodyPr wrap="square" lIns="0" tIns="0" rIns="0" bIns="0" rtlCol="0" anchor="ctr"/>
          <a:lstStyle/>
          <a:p>
            <a:pPr indent="0" marL="0">
              <a:lnSpc>
                <a:spcPct val="105000"/>
              </a:lnSpc>
              <a:spcAft>
                <a:spcPts val="400"/>
              </a:spcAft>
              <a:buNone/>
            </a:pPr>
            <a:r>
              <a:rPr lang="en-US" sz="1200" spc="300" kern="0" dirty="0">
                <a:solidFill>
                  <a:srgbClr val="7C8CA5"/>
                </a:solidFill>
                <a:latin typeface="Consolas" pitchFamily="34" charset="0"/>
                <a:ea typeface="Consolas" pitchFamily="34" charset="-122"/>
                <a:cs typeface="Consolas" pitchFamily="34" charset="-120"/>
              </a:rPr>
              <a:t>BEGINNER
</a:t>
            </a:r>
            <a:pPr indent="0" marL="0">
              <a:lnSpc>
                <a:spcPct val="105000"/>
              </a:lnSpc>
              <a:buNone/>
            </a:pPr>
            <a:r>
              <a:rPr lang="en-US" sz="1350" dirty="0">
                <a:solidFill>
                  <a:srgbClr val="F1F5F9"/>
                </a:solidFill>
                <a:latin typeface="Calibri" pitchFamily="34" charset="0"/>
                <a:ea typeface="Calibri" pitchFamily="34" charset="-122"/>
                <a:cs typeface="Calibri" pitchFamily="34" charset="-120"/>
              </a:rPr>
              <a:t>“Make a flowchart of a user logging in.”</a:t>
            </a:r>
            <a:endParaRPr lang="en-US" sz="1200" dirty="0"/>
          </a:p>
        </p:txBody>
      </p:sp>
      <p:sp>
        <p:nvSpPr>
          <p:cNvPr id="7" name="Shape 4"/>
          <p:cNvSpPr/>
          <p:nvPr/>
        </p:nvSpPr>
        <p:spPr>
          <a:xfrm>
            <a:off x="548640" y="2697480"/>
            <a:ext cx="9418320" cy="1325880"/>
          </a:xfrm>
          <a:prstGeom prst="roundRect">
            <a:avLst>
              <a:gd name="adj" fmla="val 6207"/>
            </a:avLst>
          </a:prstGeom>
          <a:solidFill>
            <a:srgbClr val="141E33"/>
          </a:solidFill>
          <a:ln/>
          <a:effectLst>
            <a:outerShdw sx="100000" sy="100000" kx="0" ky="0" algn="bl" rotWithShape="0" blurRad="114300" dist="38100" dir="5400000">
              <a:srgbClr val="000000">
                <a:alpha val="45000"/>
              </a:srgbClr>
            </a:outerShdw>
          </a:effectLst>
        </p:spPr>
      </p:sp>
      <p:sp>
        <p:nvSpPr>
          <p:cNvPr id="8" name="Text 5"/>
          <p:cNvSpPr/>
          <p:nvPr/>
        </p:nvSpPr>
        <p:spPr>
          <a:xfrm>
            <a:off x="868680" y="2697480"/>
            <a:ext cx="8778240" cy="1325880"/>
          </a:xfrm>
          <a:prstGeom prst="rect">
            <a:avLst/>
          </a:prstGeom>
          <a:noFill/>
          <a:ln/>
        </p:spPr>
        <p:txBody>
          <a:bodyPr wrap="square" lIns="0" tIns="0" rIns="0" bIns="0" rtlCol="0" anchor="ctr"/>
          <a:lstStyle/>
          <a:p>
            <a:pPr indent="0" marL="0">
              <a:lnSpc>
                <a:spcPct val="105000"/>
              </a:lnSpc>
              <a:spcAft>
                <a:spcPts val="400"/>
              </a:spcAft>
              <a:buNone/>
            </a:pPr>
            <a:r>
              <a:rPr lang="en-US" sz="1200" spc="300" kern="0" dirty="0">
                <a:solidFill>
                  <a:srgbClr val="22D3EE"/>
                </a:solidFill>
                <a:latin typeface="Consolas" pitchFamily="34" charset="0"/>
                <a:ea typeface="Consolas" pitchFamily="34" charset="-122"/>
                <a:cs typeface="Consolas" pitchFamily="34" charset="-120"/>
              </a:rPr>
              <a:t>INTERMEDIATE
</a:t>
            </a:r>
            <a:pPr indent="0" marL="0">
              <a:lnSpc>
                <a:spcPct val="105000"/>
              </a:lnSpc>
              <a:buNone/>
            </a:pPr>
            <a:r>
              <a:rPr lang="en-US" sz="1350" dirty="0">
                <a:solidFill>
                  <a:srgbClr val="F1F5F9"/>
                </a:solidFill>
                <a:latin typeface="Calibri" pitchFamily="34" charset="0"/>
                <a:ea typeface="Calibri" pitchFamily="34" charset="-122"/>
                <a:cs typeface="Calibri" pitchFamily="34" charset="-120"/>
              </a:rPr>
              <a:t>“Top-to-bottom login flow: email/password → validate → check credentials → valid → dashboard; invalid → error → back to form. Include a forgot-password branch.”</a:t>
            </a:r>
            <a:endParaRPr lang="en-US" sz="1200" dirty="0"/>
          </a:p>
        </p:txBody>
      </p:sp>
      <p:sp>
        <p:nvSpPr>
          <p:cNvPr id="9" name="Shape 6"/>
          <p:cNvSpPr/>
          <p:nvPr/>
        </p:nvSpPr>
        <p:spPr>
          <a:xfrm>
            <a:off x="548640" y="4297680"/>
            <a:ext cx="11091672" cy="1600200"/>
          </a:xfrm>
          <a:prstGeom prst="roundRect">
            <a:avLst>
              <a:gd name="adj" fmla="val 5143"/>
            </a:avLst>
          </a:prstGeom>
          <a:solidFill>
            <a:srgbClr val="141E33"/>
          </a:solidFill>
          <a:ln/>
          <a:effectLst>
            <a:outerShdw sx="100000" sy="100000" kx="0" ky="0" algn="bl" rotWithShape="0" blurRad="114300" dist="38100" dir="5400000">
              <a:srgbClr val="000000">
                <a:alpha val="45000"/>
              </a:srgbClr>
            </a:outerShdw>
          </a:effectLst>
        </p:spPr>
      </p:sp>
      <p:sp>
        <p:nvSpPr>
          <p:cNvPr id="10" name="Text 7"/>
          <p:cNvSpPr/>
          <p:nvPr/>
        </p:nvSpPr>
        <p:spPr>
          <a:xfrm>
            <a:off x="868680" y="4297680"/>
            <a:ext cx="10451592" cy="1600200"/>
          </a:xfrm>
          <a:prstGeom prst="rect">
            <a:avLst/>
          </a:prstGeom>
          <a:noFill/>
          <a:ln/>
        </p:spPr>
        <p:txBody>
          <a:bodyPr wrap="square" lIns="0" tIns="0" rIns="0" bIns="0" rtlCol="0" anchor="ctr"/>
          <a:lstStyle/>
          <a:p>
            <a:pPr indent="0" marL="0">
              <a:lnSpc>
                <a:spcPct val="105000"/>
              </a:lnSpc>
              <a:spcAft>
                <a:spcPts val="400"/>
              </a:spcAft>
              <a:buNone/>
            </a:pPr>
            <a:r>
              <a:rPr lang="en-US" sz="1200" spc="300" kern="0" dirty="0">
                <a:solidFill>
                  <a:srgbClr val="A3E635"/>
                </a:solidFill>
                <a:latin typeface="Consolas" pitchFamily="34" charset="0"/>
                <a:ea typeface="Consolas" pitchFamily="34" charset="-122"/>
                <a:cs typeface="Consolas" pitchFamily="34" charset="-120"/>
              </a:rPr>
              <a:t>ADVANCED
</a:t>
            </a:r>
            <a:pPr indent="0" marL="0">
              <a:lnSpc>
                <a:spcPct val="105000"/>
              </a:lnSpc>
              <a:buNone/>
            </a:pPr>
            <a:r>
              <a:rPr lang="en-US" sz="1350" dirty="0">
                <a:solidFill>
                  <a:srgbClr val="F1F5F9"/>
                </a:solidFill>
                <a:latin typeface="Calibri" pitchFamily="34" charset="0"/>
                <a:ea typeface="Calibri" pitchFamily="34" charset="-122"/>
                <a:cs typeface="Calibri" pitchFamily="34" charset="-120"/>
              </a:rPr>
              <a:t>“Token-based auth login flow: form → client validation → POST /auth/login → server validates → access token (success) or 401 (failure) → dashboard / error. Decision diamonds for validations; separate client vs server lanes.”</a:t>
            </a:r>
            <a:endParaRPr lang="en-US" sz="1200" dirty="0"/>
          </a:p>
        </p:txBody>
      </p:sp>
      <p:sp>
        <p:nvSpPr>
          <p:cNvPr id="11" name="Text 8"/>
          <p:cNvSpPr/>
          <p:nvPr/>
        </p:nvSpPr>
        <p:spPr>
          <a:xfrm>
            <a:off x="548640" y="6190488"/>
            <a:ext cx="11091672" cy="384048"/>
          </a:xfrm>
          <a:prstGeom prst="rect">
            <a:avLst/>
          </a:prstGeom>
          <a:noFill/>
          <a:ln/>
        </p:spPr>
        <p:txBody>
          <a:bodyPr wrap="square" lIns="0" tIns="0" rIns="0" bIns="0" rtlCol="0" anchor="ctr"/>
          <a:lstStyle/>
          <a:p>
            <a:pPr algn="ctr" indent="0" marL="0">
              <a:buNone/>
            </a:pPr>
            <a:r>
              <a:rPr lang="en-US" sz="1500" dirty="0">
                <a:solidFill>
                  <a:srgbClr val="22D3EE"/>
                </a:solidFill>
                <a:latin typeface="Consolas" pitchFamily="34" charset="0"/>
                <a:ea typeface="Consolas" pitchFamily="34" charset="-122"/>
                <a:cs typeface="Consolas" pitchFamily="34" charset="-120"/>
              </a:rPr>
              <a:t>more detail in → closer first draft out</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Reusable Prompt Templates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38</a:t>
            </a:r>
            <a:endParaRPr lang="en-US" sz="1000" dirty="0"/>
          </a:p>
        </p:txBody>
      </p:sp>
      <p:sp>
        <p:nvSpPr>
          <p:cNvPr id="5" name="Shape 2"/>
          <p:cNvSpPr/>
          <p:nvPr/>
        </p:nvSpPr>
        <p:spPr>
          <a:xfrm>
            <a:off x="548640" y="1417320"/>
            <a:ext cx="3514344" cy="2034540"/>
          </a:xfrm>
          <a:prstGeom prst="roundRect">
            <a:avLst>
              <a:gd name="adj" fmla="val 4045"/>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65506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layers-cyan.png">    </p:cNvPr>
          <p:cNvPicPr>
            <a:picLocks noChangeAspect="1"/>
          </p:cNvPicPr>
          <p:nvPr/>
        </p:nvPicPr>
        <p:blipFill>
          <a:blip r:embed="rId1"/>
          <a:stretch>
            <a:fillRect/>
          </a:stretch>
        </p:blipFill>
        <p:spPr>
          <a:xfrm>
            <a:off x="931225" y="1799905"/>
            <a:ext cx="313822" cy="313822"/>
          </a:xfrm>
          <a:prstGeom prst="rect">
            <a:avLst/>
          </a:prstGeom>
        </p:spPr>
      </p:pic>
      <p:sp>
        <p:nvSpPr>
          <p:cNvPr id="8" name="Text 4"/>
          <p:cNvSpPr/>
          <p:nvPr/>
        </p:nvSpPr>
        <p:spPr>
          <a:xfrm>
            <a:off x="786384" y="2368296"/>
            <a:ext cx="3038856" cy="946404"/>
          </a:xfrm>
          <a:prstGeom prst="rect">
            <a:avLst/>
          </a:prstGeom>
          <a:noFill/>
          <a:ln/>
        </p:spPr>
        <p:txBody>
          <a:bodyPr wrap="square" lIns="0" tIns="0" rIns="0" bIns="0" rtlCol="0" anchor="t"/>
          <a:lstStyle/>
          <a:p>
            <a:pPr indent="0" marL="0">
              <a:lnSpc>
                <a:spcPct val="106000"/>
              </a:lnSpc>
              <a:spcAft>
                <a:spcPts val="400"/>
              </a:spcAft>
              <a:buNone/>
            </a:pPr>
            <a:r>
              <a:rPr lang="en-US" sz="1500" b="1" dirty="0">
                <a:solidFill>
                  <a:srgbClr val="F1F5F9"/>
                </a:solidFill>
                <a:latin typeface="Calibri" pitchFamily="34" charset="0"/>
                <a:ea typeface="Calibri" pitchFamily="34" charset="-122"/>
                <a:cs typeface="Calibri" pitchFamily="34" charset="-120"/>
              </a:rPr>
              <a:t>Architecture</a:t>
            </a:r>
            <a:endParaRPr lang="en-US" sz="1500" dirty="0"/>
          </a:p>
          <a:p>
            <a:pPr indent="0" marL="0">
              <a:lnSpc>
                <a:spcPct val="106000"/>
              </a:lnSpc>
              <a:buNone/>
            </a:pPr>
            <a:r>
              <a:rPr lang="en-US" sz="1250" dirty="0">
                <a:solidFill>
                  <a:srgbClr val="7C8CA5"/>
                </a:solidFill>
                <a:latin typeface="Calibri" pitchFamily="34" charset="0"/>
                <a:ea typeface="Calibri" pitchFamily="34" charset="-122"/>
                <a:cs typeface="Calibri" pitchFamily="34" charset="-120"/>
              </a:rPr>
              <a:t>“…for [app]. Components: [front, back, DB, auth, APIs]. Show data flow client→server→DB. Group by layer.”</a:t>
            </a:r>
            <a:endParaRPr lang="en-US" sz="1500" dirty="0"/>
          </a:p>
        </p:txBody>
      </p:sp>
      <p:sp>
        <p:nvSpPr>
          <p:cNvPr id="9" name="Shape 5"/>
          <p:cNvSpPr/>
          <p:nvPr/>
        </p:nvSpPr>
        <p:spPr>
          <a:xfrm>
            <a:off x="4337304" y="1417320"/>
            <a:ext cx="3514344" cy="2034540"/>
          </a:xfrm>
          <a:prstGeom prst="roundRect">
            <a:avLst>
              <a:gd name="adj" fmla="val 4045"/>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65506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database-cyan.png">    </p:cNvPr>
          <p:cNvPicPr>
            <a:picLocks noChangeAspect="1"/>
          </p:cNvPicPr>
          <p:nvPr/>
        </p:nvPicPr>
        <p:blipFill>
          <a:blip r:embed="rId2"/>
          <a:stretch>
            <a:fillRect/>
          </a:stretch>
        </p:blipFill>
        <p:spPr>
          <a:xfrm>
            <a:off x="4719889" y="1799905"/>
            <a:ext cx="313822" cy="313822"/>
          </a:xfrm>
          <a:prstGeom prst="rect">
            <a:avLst/>
          </a:prstGeom>
        </p:spPr>
      </p:pic>
      <p:sp>
        <p:nvSpPr>
          <p:cNvPr id="12" name="Text 7"/>
          <p:cNvSpPr/>
          <p:nvPr/>
        </p:nvSpPr>
        <p:spPr>
          <a:xfrm>
            <a:off x="4575048" y="2368296"/>
            <a:ext cx="3038856" cy="946404"/>
          </a:xfrm>
          <a:prstGeom prst="rect">
            <a:avLst/>
          </a:prstGeom>
          <a:noFill/>
          <a:ln/>
        </p:spPr>
        <p:txBody>
          <a:bodyPr wrap="square" lIns="0" tIns="0" rIns="0" bIns="0" rtlCol="0" anchor="t"/>
          <a:lstStyle/>
          <a:p>
            <a:pPr indent="0" marL="0">
              <a:lnSpc>
                <a:spcPct val="106000"/>
              </a:lnSpc>
              <a:spcAft>
                <a:spcPts val="400"/>
              </a:spcAft>
              <a:buNone/>
            </a:pPr>
            <a:r>
              <a:rPr lang="en-US" sz="1500" b="1" dirty="0">
                <a:solidFill>
                  <a:srgbClr val="F1F5F9"/>
                </a:solidFill>
                <a:latin typeface="Calibri" pitchFamily="34" charset="0"/>
                <a:ea typeface="Calibri" pitchFamily="34" charset="-122"/>
                <a:cs typeface="Calibri" pitchFamily="34" charset="-120"/>
              </a:rPr>
              <a:t>ER diagram</a:t>
            </a:r>
            <a:endParaRPr lang="en-US" sz="1500" dirty="0"/>
          </a:p>
          <a:p>
            <a:pPr indent="0" marL="0">
              <a:lnSpc>
                <a:spcPct val="106000"/>
              </a:lnSpc>
              <a:buNone/>
            </a:pPr>
            <a:r>
              <a:rPr lang="en-US" sz="1250" dirty="0">
                <a:solidFill>
                  <a:srgbClr val="7C8CA5"/>
                </a:solidFill>
                <a:latin typeface="Calibri" pitchFamily="34" charset="0"/>
                <a:ea typeface="Calibri" pitchFamily="34" charset="-122"/>
                <a:cs typeface="Calibri" pitchFamily="34" charset="-120"/>
              </a:rPr>
              <a:t>“Entities + key fields: […]. Relationships: [User has many Expenses]. Show PKs + cardinality.”</a:t>
            </a:r>
            <a:endParaRPr lang="en-US" sz="1500" dirty="0"/>
          </a:p>
        </p:txBody>
      </p:sp>
      <p:sp>
        <p:nvSpPr>
          <p:cNvPr id="13" name="Shape 8"/>
          <p:cNvSpPr/>
          <p:nvPr/>
        </p:nvSpPr>
        <p:spPr>
          <a:xfrm>
            <a:off x="8125968" y="1417320"/>
            <a:ext cx="3514344" cy="2034540"/>
          </a:xfrm>
          <a:prstGeom prst="roundRect">
            <a:avLst>
              <a:gd name="adj" fmla="val 4045"/>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65506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workflow-cyan.png">    </p:cNvPr>
          <p:cNvPicPr>
            <a:picLocks noChangeAspect="1"/>
          </p:cNvPicPr>
          <p:nvPr/>
        </p:nvPicPr>
        <p:blipFill>
          <a:blip r:embed="rId3"/>
          <a:stretch>
            <a:fillRect/>
          </a:stretch>
        </p:blipFill>
        <p:spPr>
          <a:xfrm>
            <a:off x="8508553" y="1799905"/>
            <a:ext cx="313822" cy="313822"/>
          </a:xfrm>
          <a:prstGeom prst="rect">
            <a:avLst/>
          </a:prstGeom>
        </p:spPr>
      </p:pic>
      <p:sp>
        <p:nvSpPr>
          <p:cNvPr id="16" name="Text 10"/>
          <p:cNvSpPr/>
          <p:nvPr/>
        </p:nvSpPr>
        <p:spPr>
          <a:xfrm>
            <a:off x="8363712" y="2368296"/>
            <a:ext cx="3038856" cy="946404"/>
          </a:xfrm>
          <a:prstGeom prst="rect">
            <a:avLst/>
          </a:prstGeom>
          <a:noFill/>
          <a:ln/>
        </p:spPr>
        <p:txBody>
          <a:bodyPr wrap="square" lIns="0" tIns="0" rIns="0" bIns="0" rtlCol="0" anchor="t"/>
          <a:lstStyle/>
          <a:p>
            <a:pPr indent="0" marL="0">
              <a:lnSpc>
                <a:spcPct val="106000"/>
              </a:lnSpc>
              <a:spcAft>
                <a:spcPts val="400"/>
              </a:spcAft>
              <a:buNone/>
            </a:pPr>
            <a:r>
              <a:rPr lang="en-US" sz="1500" b="1" dirty="0">
                <a:solidFill>
                  <a:srgbClr val="F1F5F9"/>
                </a:solidFill>
                <a:latin typeface="Calibri" pitchFamily="34" charset="0"/>
                <a:ea typeface="Calibri" pitchFamily="34" charset="-122"/>
                <a:cs typeface="Calibri" pitchFamily="34" charset="-120"/>
              </a:rPr>
              <a:t>Sequence</a:t>
            </a:r>
            <a:endParaRPr lang="en-US" sz="1500" dirty="0"/>
          </a:p>
          <a:p>
            <a:pPr indent="0" marL="0">
              <a:lnSpc>
                <a:spcPct val="106000"/>
              </a:lnSpc>
              <a:buNone/>
            </a:pPr>
            <a:r>
              <a:rPr lang="en-US" sz="1250" dirty="0">
                <a:solidFill>
                  <a:srgbClr val="7C8CA5"/>
                </a:solidFill>
                <a:latin typeface="Calibri" pitchFamily="34" charset="0"/>
                <a:ea typeface="Calibri" pitchFamily="34" charset="-122"/>
                <a:cs typeface="Calibri" pitchFamily="34" charset="-120"/>
              </a:rPr>
              <a:t>“Participants: [User, FE, BE, DB, API]. Ordered messages: request → validate → write → respond.”</a:t>
            </a:r>
            <a:endParaRPr lang="en-US" sz="1500" dirty="0"/>
          </a:p>
        </p:txBody>
      </p:sp>
      <p:sp>
        <p:nvSpPr>
          <p:cNvPr id="17" name="Shape 11"/>
          <p:cNvSpPr/>
          <p:nvPr/>
        </p:nvSpPr>
        <p:spPr>
          <a:xfrm>
            <a:off x="548640" y="3726180"/>
            <a:ext cx="3514344" cy="2034540"/>
          </a:xfrm>
          <a:prstGeom prst="roundRect">
            <a:avLst>
              <a:gd name="adj" fmla="val 4045"/>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786384" y="3963924"/>
            <a:ext cx="603504" cy="603504"/>
          </a:xfrm>
          <a:prstGeom prst="ellipse">
            <a:avLst/>
          </a:prstGeom>
          <a:solidFill>
            <a:srgbClr val="1B2842"/>
          </a:solidFill>
          <a:ln/>
        </p:spPr>
      </p:sp>
      <p:pic>
        <p:nvPicPr>
          <p:cNvPr id="19" name="Image 3" descr="C:\Users\User\AppData\Local\Temp\claude\C--Users-User-OneDrive-Music-Hackathon\67e3d9e6-0718-4380-8c09-13d83fcd8fa7\scratchpad\pptbuild\v2\assets\icons\route-cyan.png">    </p:cNvPr>
          <p:cNvPicPr>
            <a:picLocks noChangeAspect="1"/>
          </p:cNvPicPr>
          <p:nvPr/>
        </p:nvPicPr>
        <p:blipFill>
          <a:blip r:embed="rId4"/>
          <a:stretch>
            <a:fillRect/>
          </a:stretch>
        </p:blipFill>
        <p:spPr>
          <a:xfrm>
            <a:off x="931225" y="4108765"/>
            <a:ext cx="313822" cy="313822"/>
          </a:xfrm>
          <a:prstGeom prst="rect">
            <a:avLst/>
          </a:prstGeom>
        </p:spPr>
      </p:pic>
      <p:sp>
        <p:nvSpPr>
          <p:cNvPr id="20" name="Text 13"/>
          <p:cNvSpPr/>
          <p:nvPr/>
        </p:nvSpPr>
        <p:spPr>
          <a:xfrm>
            <a:off x="786384" y="4677156"/>
            <a:ext cx="3038856" cy="946404"/>
          </a:xfrm>
          <a:prstGeom prst="rect">
            <a:avLst/>
          </a:prstGeom>
          <a:noFill/>
          <a:ln/>
        </p:spPr>
        <p:txBody>
          <a:bodyPr wrap="square" lIns="0" tIns="0" rIns="0" bIns="0" rtlCol="0" anchor="t"/>
          <a:lstStyle/>
          <a:p>
            <a:pPr indent="0" marL="0">
              <a:lnSpc>
                <a:spcPct val="106000"/>
              </a:lnSpc>
              <a:spcAft>
                <a:spcPts val="400"/>
              </a:spcAft>
              <a:buNone/>
            </a:pPr>
            <a:r>
              <a:rPr lang="en-US" sz="1500" b="1" dirty="0">
                <a:solidFill>
                  <a:srgbClr val="F1F5F9"/>
                </a:solidFill>
                <a:latin typeface="Calibri" pitchFamily="34" charset="0"/>
                <a:ea typeface="Calibri" pitchFamily="34" charset="-122"/>
                <a:cs typeface="Calibri" pitchFamily="34" charset="-120"/>
              </a:rPr>
              <a:t>User flow</a:t>
            </a:r>
            <a:endParaRPr lang="en-US" sz="1500" dirty="0"/>
          </a:p>
          <a:p>
            <a:pPr indent="0" marL="0">
              <a:lnSpc>
                <a:spcPct val="106000"/>
              </a:lnSpc>
              <a:buNone/>
            </a:pPr>
            <a:r>
              <a:rPr lang="en-US" sz="1250" dirty="0">
                <a:solidFill>
                  <a:srgbClr val="7C8CA5"/>
                </a:solidFill>
                <a:latin typeface="Calibri" pitchFamily="34" charset="0"/>
                <a:ea typeface="Calibri" pitchFamily="34" charset="-122"/>
                <a:cs typeface="Calibri" pitchFamily="34" charset="-120"/>
              </a:rPr>
              <a:t>“Start at [entry] → each screen &amp; decision → [success]. Include main error branches.”</a:t>
            </a:r>
            <a:endParaRPr lang="en-US" sz="1500" dirty="0"/>
          </a:p>
        </p:txBody>
      </p:sp>
      <p:sp>
        <p:nvSpPr>
          <p:cNvPr id="21" name="Shape 14"/>
          <p:cNvSpPr/>
          <p:nvPr/>
        </p:nvSpPr>
        <p:spPr>
          <a:xfrm>
            <a:off x="4337304" y="3726180"/>
            <a:ext cx="3514344" cy="2034540"/>
          </a:xfrm>
          <a:prstGeom prst="roundRect">
            <a:avLst>
              <a:gd name="adj" fmla="val 4045"/>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4575048" y="3963924"/>
            <a:ext cx="603504" cy="603504"/>
          </a:xfrm>
          <a:prstGeom prst="ellipse">
            <a:avLst/>
          </a:prstGeom>
          <a:solidFill>
            <a:srgbClr val="1B2842"/>
          </a:solidFill>
          <a:ln/>
        </p:spPr>
      </p:sp>
      <p:pic>
        <p:nvPicPr>
          <p:cNvPr id="23" name="Image 4" descr="C:\Users\User\AppData\Local\Temp\claude\C--Users-User-OneDrive-Music-Hackathon\67e3d9e6-0718-4380-8c09-13d83fcd8fa7\scratchpad\pptbuild\v2\assets\icons\gitbranch-cyan.png">    </p:cNvPr>
          <p:cNvPicPr>
            <a:picLocks noChangeAspect="1"/>
          </p:cNvPicPr>
          <p:nvPr/>
        </p:nvPicPr>
        <p:blipFill>
          <a:blip r:embed="rId5"/>
          <a:stretch>
            <a:fillRect/>
          </a:stretch>
        </p:blipFill>
        <p:spPr>
          <a:xfrm>
            <a:off x="4719889" y="4108765"/>
            <a:ext cx="313822" cy="313822"/>
          </a:xfrm>
          <a:prstGeom prst="rect">
            <a:avLst/>
          </a:prstGeom>
        </p:spPr>
      </p:pic>
      <p:sp>
        <p:nvSpPr>
          <p:cNvPr id="24" name="Text 16"/>
          <p:cNvSpPr/>
          <p:nvPr/>
        </p:nvSpPr>
        <p:spPr>
          <a:xfrm>
            <a:off x="4575048" y="4677156"/>
            <a:ext cx="3038856" cy="946404"/>
          </a:xfrm>
          <a:prstGeom prst="rect">
            <a:avLst/>
          </a:prstGeom>
          <a:noFill/>
          <a:ln/>
        </p:spPr>
        <p:txBody>
          <a:bodyPr wrap="square" lIns="0" tIns="0" rIns="0" bIns="0" rtlCol="0" anchor="t"/>
          <a:lstStyle/>
          <a:p>
            <a:pPr indent="0" marL="0">
              <a:lnSpc>
                <a:spcPct val="106000"/>
              </a:lnSpc>
              <a:spcAft>
                <a:spcPts val="400"/>
              </a:spcAft>
              <a:buNone/>
            </a:pPr>
            <a:r>
              <a:rPr lang="en-US" sz="1500" b="1" dirty="0">
                <a:solidFill>
                  <a:srgbClr val="F1F5F9"/>
                </a:solidFill>
                <a:latin typeface="Calibri" pitchFamily="34" charset="0"/>
                <a:ea typeface="Calibri" pitchFamily="34" charset="-122"/>
                <a:cs typeface="Calibri" pitchFamily="34" charset="-120"/>
              </a:rPr>
              <a:t>Flowchart (logic)</a:t>
            </a:r>
            <a:endParaRPr lang="en-US" sz="1500" dirty="0"/>
          </a:p>
          <a:p>
            <a:pPr indent="0" marL="0">
              <a:lnSpc>
                <a:spcPct val="106000"/>
              </a:lnSpc>
              <a:buNone/>
            </a:pPr>
            <a:r>
              <a:rPr lang="en-US" sz="1250" dirty="0">
                <a:solidFill>
                  <a:srgbClr val="7C8CA5"/>
                </a:solidFill>
                <a:latin typeface="Calibri" pitchFamily="34" charset="0"/>
                <a:ea typeface="Calibri" pitchFamily="34" charset="-122"/>
                <a:cs typeface="Calibri" pitchFamily="34" charset="-120"/>
              </a:rPr>
              <a:t>“Steps: [ordered list]. Decision diamonds on [conditions]. Direction: top-to-bottom.”</a:t>
            </a:r>
            <a:endParaRPr lang="en-US" sz="1500" dirty="0"/>
          </a:p>
        </p:txBody>
      </p:sp>
      <p:sp>
        <p:nvSpPr>
          <p:cNvPr id="25" name="Shape 17"/>
          <p:cNvSpPr/>
          <p:nvPr/>
        </p:nvSpPr>
        <p:spPr>
          <a:xfrm>
            <a:off x="8125968" y="3726180"/>
            <a:ext cx="3514344" cy="2034540"/>
          </a:xfrm>
          <a:prstGeom prst="roundRect">
            <a:avLst>
              <a:gd name="adj" fmla="val 4045"/>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8363712" y="3963924"/>
            <a:ext cx="603504" cy="603504"/>
          </a:xfrm>
          <a:prstGeom prst="ellipse">
            <a:avLst/>
          </a:prstGeom>
          <a:solidFill>
            <a:srgbClr val="1B2842"/>
          </a:solidFill>
          <a:ln/>
        </p:spPr>
      </p:sp>
      <p:pic>
        <p:nvPicPr>
          <p:cNvPr id="27" name="Image 5" descr="C:\Users\User\AppData\Local\Temp\claude\C--Users-User-OneDrive-Music-Hackathon\67e3d9e6-0718-4380-8c09-13d83fcd8fa7\scratchpad\pptbuild\v2\assets\icons\brain-cyan.png">    </p:cNvPr>
          <p:cNvPicPr>
            <a:picLocks noChangeAspect="1"/>
          </p:cNvPicPr>
          <p:nvPr/>
        </p:nvPicPr>
        <p:blipFill>
          <a:blip r:embed="rId6"/>
          <a:stretch>
            <a:fillRect/>
          </a:stretch>
        </p:blipFill>
        <p:spPr>
          <a:xfrm>
            <a:off x="8508553" y="4108765"/>
            <a:ext cx="313822" cy="313822"/>
          </a:xfrm>
          <a:prstGeom prst="rect">
            <a:avLst/>
          </a:prstGeom>
        </p:spPr>
      </p:pic>
      <p:sp>
        <p:nvSpPr>
          <p:cNvPr id="28" name="Text 19"/>
          <p:cNvSpPr/>
          <p:nvPr/>
        </p:nvSpPr>
        <p:spPr>
          <a:xfrm>
            <a:off x="8363712" y="4677156"/>
            <a:ext cx="3038856" cy="946404"/>
          </a:xfrm>
          <a:prstGeom prst="rect">
            <a:avLst/>
          </a:prstGeom>
          <a:noFill/>
          <a:ln/>
        </p:spPr>
        <p:txBody>
          <a:bodyPr wrap="square" lIns="0" tIns="0" rIns="0" bIns="0" rtlCol="0" anchor="t"/>
          <a:lstStyle/>
          <a:p>
            <a:pPr indent="0" marL="0">
              <a:lnSpc>
                <a:spcPct val="106000"/>
              </a:lnSpc>
              <a:spcAft>
                <a:spcPts val="400"/>
              </a:spcAft>
              <a:buNone/>
            </a:pPr>
            <a:r>
              <a:rPr lang="en-US" sz="1500" b="1" dirty="0">
                <a:solidFill>
                  <a:srgbClr val="F1F5F9"/>
                </a:solidFill>
                <a:latin typeface="Calibri" pitchFamily="34" charset="0"/>
                <a:ea typeface="Calibri" pitchFamily="34" charset="-122"/>
                <a:cs typeface="Calibri" pitchFamily="34" charset="-120"/>
              </a:rPr>
              <a:t>RAG pipeline</a:t>
            </a:r>
            <a:endParaRPr lang="en-US" sz="1500" dirty="0"/>
          </a:p>
          <a:p>
            <a:pPr indent="0" marL="0">
              <a:lnSpc>
                <a:spcPct val="106000"/>
              </a:lnSpc>
              <a:buNone/>
            </a:pPr>
            <a:r>
              <a:rPr lang="en-US" sz="1250" dirty="0">
                <a:solidFill>
                  <a:srgbClr val="7C8CA5"/>
                </a:solidFill>
                <a:latin typeface="Calibri" pitchFamily="34" charset="0"/>
                <a:ea typeface="Calibri" pitchFamily="34" charset="-122"/>
                <a:cs typeface="Calibri" pitchFamily="34" charset="-120"/>
              </a:rPr>
              <a:t>“Query → embedding → vector search → chunks → prompt+context → LLM → answer. Label steps.”</a:t>
            </a:r>
            <a:endParaRPr lang="en-US" sz="1500" dirty="0"/>
          </a:p>
        </p:txBody>
      </p:sp>
      <p:sp>
        <p:nvSpPr>
          <p:cNvPr id="29" name="Text 20"/>
          <p:cNvSpPr/>
          <p:nvPr/>
        </p:nvSpPr>
        <p:spPr>
          <a:xfrm>
            <a:off x="548640" y="5943600"/>
            <a:ext cx="11091672" cy="292608"/>
          </a:xfrm>
          <a:prstGeom prst="rect">
            <a:avLst/>
          </a:prstGeom>
          <a:noFill/>
          <a:ln/>
        </p:spPr>
        <p:txBody>
          <a:bodyPr wrap="square" lIns="0" tIns="0" rIns="0" bIns="0" rtlCol="0" anchor="ctr"/>
          <a:lstStyle/>
          <a:p>
            <a:pPr algn="ctr" indent="0" marL="0">
              <a:buNone/>
            </a:pPr>
            <a:r>
              <a:rPr lang="en-US" sz="1250" dirty="0">
                <a:solidFill>
                  <a:srgbClr val="7C8CA5"/>
                </a:solidFill>
                <a:latin typeface="Consolas" pitchFamily="34" charset="0"/>
                <a:ea typeface="Consolas" pitchFamily="34" charset="-122"/>
                <a:cs typeface="Consolas" pitchFamily="34" charset="-120"/>
              </a:rPr>
              <a:t>also in the handbook: roadmap · personas · sprint plan · cloud infra · API docs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Iterate, Optimize, Debug the Output</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39</a:t>
            </a:r>
            <a:endParaRPr lang="en-US" sz="1000" dirty="0"/>
          </a:p>
        </p:txBody>
      </p:sp>
      <p:sp>
        <p:nvSpPr>
          <p:cNvPr id="5" name="Shape 2"/>
          <p:cNvSpPr/>
          <p:nvPr/>
        </p:nvSpPr>
        <p:spPr>
          <a:xfrm>
            <a:off x="548640" y="1783080"/>
            <a:ext cx="3514344" cy="3017520"/>
          </a:xfrm>
          <a:prstGeom prst="roundRect">
            <a:avLst>
              <a:gd name="adj" fmla="val 2727"/>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202082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refresh-cyan.png">    </p:cNvPr>
          <p:cNvPicPr>
            <a:picLocks noChangeAspect="1"/>
          </p:cNvPicPr>
          <p:nvPr/>
        </p:nvPicPr>
        <p:blipFill>
          <a:blip r:embed="rId1"/>
          <a:stretch>
            <a:fillRect/>
          </a:stretch>
        </p:blipFill>
        <p:spPr>
          <a:xfrm>
            <a:off x="931225" y="2165665"/>
            <a:ext cx="313822" cy="313822"/>
          </a:xfrm>
          <a:prstGeom prst="rect">
            <a:avLst/>
          </a:prstGeom>
        </p:spPr>
      </p:pic>
      <p:sp>
        <p:nvSpPr>
          <p:cNvPr id="8" name="Text 4"/>
          <p:cNvSpPr/>
          <p:nvPr/>
        </p:nvSpPr>
        <p:spPr>
          <a:xfrm>
            <a:off x="786384" y="2734056"/>
            <a:ext cx="3038856" cy="19293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Iterate</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generate → inspect → correct: “add an error branch” · “split backend &amp; DB” · “reduce to 8 nodes”</a:t>
            </a:r>
            <a:endParaRPr lang="en-US" sz="1600" dirty="0"/>
          </a:p>
        </p:txBody>
      </p:sp>
      <p:sp>
        <p:nvSpPr>
          <p:cNvPr id="9" name="Shape 5"/>
          <p:cNvSpPr/>
          <p:nvPr/>
        </p:nvSpPr>
        <p:spPr>
          <a:xfrm>
            <a:off x="4337304" y="1783080"/>
            <a:ext cx="3514344" cy="3017520"/>
          </a:xfrm>
          <a:prstGeom prst="roundRect">
            <a:avLst>
              <a:gd name="adj" fmla="val 2727"/>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202082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gauge-cyan.png">    </p:cNvPr>
          <p:cNvPicPr>
            <a:picLocks noChangeAspect="1"/>
          </p:cNvPicPr>
          <p:nvPr/>
        </p:nvPicPr>
        <p:blipFill>
          <a:blip r:embed="rId2"/>
          <a:stretch>
            <a:fillRect/>
          </a:stretch>
        </p:blipFill>
        <p:spPr>
          <a:xfrm>
            <a:off x="4719889" y="2165665"/>
            <a:ext cx="313822" cy="313822"/>
          </a:xfrm>
          <a:prstGeom prst="rect">
            <a:avLst/>
          </a:prstGeom>
        </p:spPr>
      </p:pic>
      <p:sp>
        <p:nvSpPr>
          <p:cNvPr id="12" name="Text 7"/>
          <p:cNvSpPr/>
          <p:nvPr/>
        </p:nvSpPr>
        <p:spPr>
          <a:xfrm>
            <a:off x="4575048" y="2734056"/>
            <a:ext cx="3038856" cy="19293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Optimize</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be specific on elements + layout · cap node count · set direction &amp; grouping · use real component names</a:t>
            </a:r>
            <a:endParaRPr lang="en-US" sz="1600" dirty="0"/>
          </a:p>
        </p:txBody>
      </p:sp>
      <p:sp>
        <p:nvSpPr>
          <p:cNvPr id="13" name="Shape 8"/>
          <p:cNvSpPr/>
          <p:nvPr/>
        </p:nvSpPr>
        <p:spPr>
          <a:xfrm>
            <a:off x="8125968" y="1783080"/>
            <a:ext cx="3514344" cy="3017520"/>
          </a:xfrm>
          <a:prstGeom prst="roundRect">
            <a:avLst>
              <a:gd name="adj" fmla="val 2727"/>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202082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bug-cyan.png">    </p:cNvPr>
          <p:cNvPicPr>
            <a:picLocks noChangeAspect="1"/>
          </p:cNvPicPr>
          <p:nvPr/>
        </p:nvPicPr>
        <p:blipFill>
          <a:blip r:embed="rId3"/>
          <a:stretch>
            <a:fillRect/>
          </a:stretch>
        </p:blipFill>
        <p:spPr>
          <a:xfrm>
            <a:off x="8508553" y="2165665"/>
            <a:ext cx="313822" cy="313822"/>
          </a:xfrm>
          <a:prstGeom prst="rect">
            <a:avLst/>
          </a:prstGeom>
        </p:spPr>
      </p:pic>
      <p:sp>
        <p:nvSpPr>
          <p:cNvPr id="16" name="Text 10"/>
          <p:cNvSpPr/>
          <p:nvPr/>
        </p:nvSpPr>
        <p:spPr>
          <a:xfrm>
            <a:off x="8363712" y="2734056"/>
            <a:ext cx="3038856" cy="19293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Debug the output</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too generic → add names · missing case → ask explicitly · cluttered → split · wrong shape → restate type</a:t>
            </a:r>
            <a:endParaRPr lang="en-US" sz="1600" dirty="0"/>
          </a:p>
        </p:txBody>
      </p:sp>
      <p:sp>
        <p:nvSpPr>
          <p:cNvPr id="17" name="Text 11"/>
          <p:cNvSpPr/>
          <p:nvPr/>
        </p:nvSpPr>
        <p:spPr>
          <a:xfrm>
            <a:off x="548640" y="5257800"/>
            <a:ext cx="11091672" cy="365760"/>
          </a:xfrm>
          <a:prstGeom prst="rect">
            <a:avLst/>
          </a:prstGeom>
          <a:noFill/>
          <a:ln/>
        </p:spPr>
        <p:txBody>
          <a:bodyPr wrap="square" lIns="0" tIns="0" rIns="0" bIns="0" rtlCol="0" anchor="ctr"/>
          <a:lstStyle/>
          <a:p>
            <a:pPr algn="ctr" indent="0" marL="0">
              <a:buNone/>
            </a:pPr>
            <a:r>
              <a:rPr lang="en-US" sz="1500" i="1" dirty="0">
                <a:solidFill>
                  <a:srgbClr val="7C8CA5"/>
                </a:solidFill>
                <a:latin typeface="Calibri" pitchFamily="34" charset="0"/>
                <a:ea typeface="Calibri" pitchFamily="34" charset="-122"/>
                <a:cs typeface="Calibri" pitchFamily="34" charset="-120"/>
              </a:rPr>
              <a:t>The diagram is a draft — you are the editor.</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98080" y="1097280"/>
            <a:ext cx="4663440" cy="4663440"/>
          </a:xfrm>
          <a:prstGeom prst="rect">
            <a:avLst/>
          </a:prstGeom>
          <a:noFill/>
          <a:ln/>
        </p:spPr>
        <p:txBody>
          <a:bodyPr wrap="square" lIns="0" tIns="0" rIns="0" bIns="0" rtlCol="0" anchor="ctr"/>
          <a:lstStyle/>
          <a:p>
            <a:pPr algn="r" indent="0" marL="0">
              <a:buNone/>
            </a:pPr>
            <a:r>
              <a:rPr lang="en-US" sz="30000" dirty="0">
                <a:solidFill>
                  <a:srgbClr val="0E2A3B"/>
                </a:solidFill>
                <a:latin typeface="Arial Black" pitchFamily="34" charset="0"/>
                <a:ea typeface="Arial Black" pitchFamily="34" charset="-122"/>
                <a:cs typeface="Arial Black" pitchFamily="34" charset="-120"/>
              </a:rPr>
              <a:t>4</a:t>
            </a:r>
            <a:endParaRPr lang="en-US" sz="30000" dirty="0"/>
          </a:p>
        </p:txBody>
      </p:sp>
      <p:sp>
        <p:nvSpPr>
          <p:cNvPr id="4" name="Text 1"/>
          <p:cNvSpPr/>
          <p:nvPr/>
        </p:nvSpPr>
        <p:spPr>
          <a:xfrm>
            <a:off x="822960" y="2148840"/>
            <a:ext cx="7315200" cy="329184"/>
          </a:xfrm>
          <a:prstGeom prst="rect">
            <a:avLst/>
          </a:prstGeom>
          <a:noFill/>
          <a:ln/>
        </p:spPr>
        <p:txBody>
          <a:bodyPr wrap="square" lIns="0" tIns="0" rIns="0" bIns="0" rtlCol="0" anchor="ctr"/>
          <a:lstStyle/>
          <a:p>
            <a:pPr indent="0" marL="0">
              <a:buNone/>
            </a:pPr>
            <a:r>
              <a:rPr lang="en-US" sz="1500" spc="500" kern="0" dirty="0">
                <a:solidFill>
                  <a:srgbClr val="22D3EE"/>
                </a:solidFill>
                <a:latin typeface="Consolas" pitchFamily="34" charset="0"/>
                <a:ea typeface="Consolas" pitchFamily="34" charset="-122"/>
                <a:cs typeface="Consolas" pitchFamily="34" charset="-120"/>
              </a:rPr>
              <a:t>PART 4 OF 5</a:t>
            </a:r>
            <a:endParaRPr lang="en-US" sz="1500" dirty="0"/>
          </a:p>
        </p:txBody>
      </p:sp>
      <p:sp>
        <p:nvSpPr>
          <p:cNvPr id="5" name="Text 2"/>
          <p:cNvSpPr/>
          <p:nvPr/>
        </p:nvSpPr>
        <p:spPr>
          <a:xfrm>
            <a:off x="822960" y="2514600"/>
            <a:ext cx="9692640" cy="1554480"/>
          </a:xfrm>
          <a:prstGeom prst="rect">
            <a:avLst/>
          </a:prstGeom>
          <a:noFill/>
          <a:ln/>
        </p:spPr>
        <p:txBody>
          <a:bodyPr wrap="square" lIns="0" tIns="0" rIns="0" bIns="0" rtlCol="0" anchor="ctr"/>
          <a:lstStyle/>
          <a:p>
            <a:pPr indent="0" marL="0">
              <a:buNone/>
            </a:pPr>
            <a:r>
              <a:rPr lang="en-US" sz="4600" dirty="0">
                <a:solidFill>
                  <a:srgbClr val="FFFFFF"/>
                </a:solidFill>
                <a:latin typeface="Arial Black" pitchFamily="34" charset="0"/>
                <a:ea typeface="Arial Black" pitchFamily="34" charset="-122"/>
                <a:cs typeface="Arial Black" pitchFamily="34" charset="-120"/>
              </a:rPr>
              <a:t>The Build</a:t>
            </a:r>
            <a:endParaRPr lang="en-US" sz="4600" dirty="0"/>
          </a:p>
        </p:txBody>
      </p:sp>
      <p:sp>
        <p:nvSpPr>
          <p:cNvPr id="6" name="Text 3"/>
          <p:cNvSpPr/>
          <p:nvPr/>
        </p:nvSpPr>
        <p:spPr>
          <a:xfrm>
            <a:off x="822960" y="4160520"/>
            <a:ext cx="9144000" cy="38404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From repo to public URL: build order, Git, APIs, AI, testing, security, deployment.</a:t>
            </a:r>
            <a:endParaRPr lang="en-US" sz="1700" dirty="0"/>
          </a:p>
        </p:txBody>
      </p:sp>
      <p:sp>
        <p:nvSpPr>
          <p:cNvPr id="7" name="Shape 4"/>
          <p:cNvSpPr/>
          <p:nvPr/>
        </p:nvSpPr>
        <p:spPr>
          <a:xfrm>
            <a:off x="822960" y="4892040"/>
            <a:ext cx="1540764" cy="402336"/>
          </a:xfrm>
          <a:prstGeom prst="roundRect">
            <a:avLst>
              <a:gd name="adj" fmla="val 15909"/>
            </a:avLst>
          </a:prstGeom>
          <a:solidFill>
            <a:srgbClr val="141E33"/>
          </a:solidFill>
          <a:ln/>
        </p:spPr>
      </p:sp>
      <p:sp>
        <p:nvSpPr>
          <p:cNvPr id="8" name="Text 5"/>
          <p:cNvSpPr/>
          <p:nvPr/>
        </p:nvSpPr>
        <p:spPr>
          <a:xfrm>
            <a:off x="877824" y="4892040"/>
            <a:ext cx="143103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M08 prototype</a:t>
            </a:r>
            <a:endParaRPr lang="en-US" sz="1250" dirty="0"/>
          </a:p>
        </p:txBody>
      </p:sp>
      <p:sp>
        <p:nvSpPr>
          <p:cNvPr id="9" name="Shape 6"/>
          <p:cNvSpPr/>
          <p:nvPr/>
        </p:nvSpPr>
        <p:spPr>
          <a:xfrm>
            <a:off x="2592324" y="4892040"/>
            <a:ext cx="964692" cy="402336"/>
          </a:xfrm>
          <a:prstGeom prst="roundRect">
            <a:avLst>
              <a:gd name="adj" fmla="val 15909"/>
            </a:avLst>
          </a:prstGeom>
          <a:solidFill>
            <a:srgbClr val="141E33"/>
          </a:solidFill>
          <a:ln/>
        </p:spPr>
      </p:sp>
      <p:sp>
        <p:nvSpPr>
          <p:cNvPr id="10" name="Text 7"/>
          <p:cNvSpPr/>
          <p:nvPr/>
        </p:nvSpPr>
        <p:spPr>
          <a:xfrm>
            <a:off x="2647188" y="4892040"/>
            <a:ext cx="85496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M09 git</a:t>
            </a:r>
            <a:endParaRPr lang="en-US" sz="1250" dirty="0"/>
          </a:p>
        </p:txBody>
      </p:sp>
      <p:sp>
        <p:nvSpPr>
          <p:cNvPr id="11" name="Shape 8"/>
          <p:cNvSpPr/>
          <p:nvPr/>
        </p:nvSpPr>
        <p:spPr>
          <a:xfrm>
            <a:off x="3785616" y="4892040"/>
            <a:ext cx="1060704" cy="402336"/>
          </a:xfrm>
          <a:prstGeom prst="roundRect">
            <a:avLst>
              <a:gd name="adj" fmla="val 15909"/>
            </a:avLst>
          </a:prstGeom>
          <a:solidFill>
            <a:srgbClr val="141E33"/>
          </a:solidFill>
          <a:ln/>
        </p:spPr>
      </p:sp>
      <p:sp>
        <p:nvSpPr>
          <p:cNvPr id="12" name="Text 9"/>
          <p:cNvSpPr/>
          <p:nvPr/>
        </p:nvSpPr>
        <p:spPr>
          <a:xfrm>
            <a:off x="3840480" y="4892040"/>
            <a:ext cx="95097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M10 apis</a:t>
            </a:r>
            <a:endParaRPr lang="en-US" sz="1250" dirty="0"/>
          </a:p>
        </p:txBody>
      </p:sp>
      <p:sp>
        <p:nvSpPr>
          <p:cNvPr id="13" name="Shape 10"/>
          <p:cNvSpPr/>
          <p:nvPr/>
        </p:nvSpPr>
        <p:spPr>
          <a:xfrm>
            <a:off x="5074920" y="4892040"/>
            <a:ext cx="868680" cy="402336"/>
          </a:xfrm>
          <a:prstGeom prst="roundRect">
            <a:avLst>
              <a:gd name="adj" fmla="val 15909"/>
            </a:avLst>
          </a:prstGeom>
          <a:solidFill>
            <a:srgbClr val="141E33"/>
          </a:solidFill>
          <a:ln/>
        </p:spPr>
      </p:sp>
      <p:sp>
        <p:nvSpPr>
          <p:cNvPr id="14" name="Text 11"/>
          <p:cNvSpPr/>
          <p:nvPr/>
        </p:nvSpPr>
        <p:spPr>
          <a:xfrm>
            <a:off x="5129784" y="4892040"/>
            <a:ext cx="758952"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M11 ai</a:t>
            </a:r>
            <a:endParaRPr lang="en-US" sz="1250" dirty="0"/>
          </a:p>
        </p:txBody>
      </p:sp>
      <p:sp>
        <p:nvSpPr>
          <p:cNvPr id="15" name="Shape 12"/>
          <p:cNvSpPr/>
          <p:nvPr/>
        </p:nvSpPr>
        <p:spPr>
          <a:xfrm>
            <a:off x="6172200" y="4892040"/>
            <a:ext cx="1348740" cy="402336"/>
          </a:xfrm>
          <a:prstGeom prst="roundRect">
            <a:avLst>
              <a:gd name="adj" fmla="val 15909"/>
            </a:avLst>
          </a:prstGeom>
          <a:solidFill>
            <a:srgbClr val="141E33"/>
          </a:solidFill>
          <a:ln/>
        </p:spPr>
      </p:sp>
      <p:sp>
        <p:nvSpPr>
          <p:cNvPr id="16" name="Text 13"/>
          <p:cNvSpPr/>
          <p:nvPr/>
        </p:nvSpPr>
        <p:spPr>
          <a:xfrm>
            <a:off x="6227064" y="4892040"/>
            <a:ext cx="1239012"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M12 testing</a:t>
            </a:r>
            <a:endParaRPr lang="en-US" sz="1250" dirty="0"/>
          </a:p>
        </p:txBody>
      </p:sp>
      <p:sp>
        <p:nvSpPr>
          <p:cNvPr id="17" name="Shape 14"/>
          <p:cNvSpPr/>
          <p:nvPr/>
        </p:nvSpPr>
        <p:spPr>
          <a:xfrm>
            <a:off x="7749540" y="4892040"/>
            <a:ext cx="1444752" cy="402336"/>
          </a:xfrm>
          <a:prstGeom prst="roundRect">
            <a:avLst>
              <a:gd name="adj" fmla="val 15909"/>
            </a:avLst>
          </a:prstGeom>
          <a:solidFill>
            <a:srgbClr val="141E33"/>
          </a:solidFill>
          <a:ln/>
        </p:spPr>
      </p:sp>
      <p:sp>
        <p:nvSpPr>
          <p:cNvPr id="18" name="Text 15"/>
          <p:cNvSpPr/>
          <p:nvPr/>
        </p:nvSpPr>
        <p:spPr>
          <a:xfrm>
            <a:off x="7804404" y="4892040"/>
            <a:ext cx="133502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M13 security</a:t>
            </a:r>
            <a:endParaRPr lang="en-US" sz="1250" dirty="0"/>
          </a:p>
        </p:txBody>
      </p:sp>
      <p:sp>
        <p:nvSpPr>
          <p:cNvPr id="19" name="Shape 16"/>
          <p:cNvSpPr/>
          <p:nvPr/>
        </p:nvSpPr>
        <p:spPr>
          <a:xfrm>
            <a:off x="9422892" y="4892040"/>
            <a:ext cx="1252728" cy="402336"/>
          </a:xfrm>
          <a:prstGeom prst="roundRect">
            <a:avLst>
              <a:gd name="adj" fmla="val 15909"/>
            </a:avLst>
          </a:prstGeom>
          <a:solidFill>
            <a:srgbClr val="141E33"/>
          </a:solidFill>
          <a:ln/>
        </p:spPr>
      </p:sp>
      <p:sp>
        <p:nvSpPr>
          <p:cNvPr id="20" name="Text 17"/>
          <p:cNvSpPr/>
          <p:nvPr/>
        </p:nvSpPr>
        <p:spPr>
          <a:xfrm>
            <a:off x="9477756" y="4892040"/>
            <a:ext cx="1143000"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M14 deploy</a:t>
            </a:r>
            <a:endParaRPr lang="en-US" sz="1250" dirty="0"/>
          </a:p>
        </p:txBody>
      </p:sp>
      <p:sp>
        <p:nvSpPr>
          <p:cNvPr id="21" name="Text 18"/>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08 — THE PROTOTYPE BUILD</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Validated Idea → Working Software</a:t>
            </a:r>
            <a:endParaRPr lang="en-US" sz="32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41</a:t>
            </a:r>
            <a:endParaRPr lang="en-US" sz="1000" dirty="0"/>
          </a:p>
        </p:txBody>
      </p:sp>
      <p:sp>
        <p:nvSpPr>
          <p:cNvPr id="6" name="Shape 3"/>
          <p:cNvSpPr/>
          <p:nvPr/>
        </p:nvSpPr>
        <p:spPr>
          <a:xfrm>
            <a:off x="548640" y="1673352"/>
            <a:ext cx="11091672" cy="1225296"/>
          </a:xfrm>
          <a:prstGeom prst="roundRect">
            <a:avLst>
              <a:gd name="adj" fmla="val 8955"/>
            </a:avLst>
          </a:prstGeom>
          <a:solidFill>
            <a:srgbClr val="0F1830"/>
          </a:solidFill>
          <a:ln/>
        </p:spPr>
      </p:sp>
      <p:sp>
        <p:nvSpPr>
          <p:cNvPr id="7" name="Text 4"/>
          <p:cNvSpPr/>
          <p:nvPr/>
        </p:nvSpPr>
        <p:spPr>
          <a:xfrm>
            <a:off x="749808" y="265176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CONNECT THE PIPES</a:t>
            </a:r>
            <a:endParaRPr lang="en-US" sz="1050" dirty="0"/>
          </a:p>
        </p:txBody>
      </p:sp>
      <p:sp>
        <p:nvSpPr>
          <p:cNvPr id="8" name="Shape 5"/>
          <p:cNvSpPr/>
          <p:nvPr/>
        </p:nvSpPr>
        <p:spPr>
          <a:xfrm>
            <a:off x="548640" y="3502152"/>
            <a:ext cx="11091672" cy="1225296"/>
          </a:xfrm>
          <a:prstGeom prst="roundRect">
            <a:avLst>
              <a:gd name="adj" fmla="val 8955"/>
            </a:avLst>
          </a:prstGeom>
          <a:solidFill>
            <a:srgbClr val="0F1830"/>
          </a:solidFill>
          <a:ln/>
        </p:spPr>
      </p:sp>
      <p:sp>
        <p:nvSpPr>
          <p:cNvPr id="9" name="Text 6"/>
          <p:cNvSpPr/>
          <p:nvPr/>
        </p:nvSpPr>
        <p:spPr>
          <a:xfrm>
            <a:off x="749808" y="4480560"/>
            <a:ext cx="4114800" cy="219456"/>
          </a:xfrm>
          <a:prstGeom prst="rect">
            <a:avLst/>
          </a:prstGeom>
          <a:noFill/>
          <a:ln/>
        </p:spPr>
        <p:txBody>
          <a:bodyPr wrap="square" lIns="0" tIns="0" rIns="0" bIns="0" rtlCol="0" anchor="ctr"/>
          <a:lstStyle/>
          <a:p>
            <a:pPr algn="l" indent="0" marL="0">
              <a:buNone/>
            </a:pPr>
            <a:r>
              <a:rPr lang="en-US" sz="1050" spc="200" kern="0" dirty="0">
                <a:solidFill>
                  <a:srgbClr val="7C8CA5"/>
                </a:solidFill>
                <a:latin typeface="Consolas" pitchFamily="34" charset="0"/>
                <a:ea typeface="Consolas" pitchFamily="34" charset="-122"/>
                <a:cs typeface="Consolas" pitchFamily="34" charset="-120"/>
              </a:rPr>
              <a:t>LAYER + VERIFY</a:t>
            </a:r>
            <a:endParaRPr lang="en-US" sz="1050" dirty="0"/>
          </a:p>
        </p:txBody>
      </p:sp>
      <p:sp>
        <p:nvSpPr>
          <p:cNvPr id="10" name="Shape 7"/>
          <p:cNvSpPr/>
          <p:nvPr/>
        </p:nvSpPr>
        <p:spPr>
          <a:xfrm>
            <a:off x="2499970" y="2286000"/>
            <a:ext cx="457200" cy="0"/>
          </a:xfrm>
          <a:prstGeom prst="line">
            <a:avLst/>
          </a:prstGeom>
          <a:noFill/>
          <a:ln w="31750">
            <a:solidFill>
              <a:srgbClr val="22D3EE"/>
            </a:solidFill>
            <a:prstDash val="solid"/>
            <a:tailEnd type="triangle"/>
          </a:ln>
        </p:spPr>
      </p:sp>
      <p:sp>
        <p:nvSpPr>
          <p:cNvPr id="11" name="Shape 8"/>
          <p:cNvSpPr/>
          <p:nvPr/>
        </p:nvSpPr>
        <p:spPr>
          <a:xfrm>
            <a:off x="4743907" y="2286000"/>
            <a:ext cx="457200" cy="0"/>
          </a:xfrm>
          <a:prstGeom prst="line">
            <a:avLst/>
          </a:prstGeom>
          <a:noFill/>
          <a:ln w="31750">
            <a:solidFill>
              <a:srgbClr val="22D3EE"/>
            </a:solidFill>
            <a:prstDash val="solid"/>
            <a:tailEnd type="triangle"/>
          </a:ln>
        </p:spPr>
      </p:sp>
      <p:sp>
        <p:nvSpPr>
          <p:cNvPr id="12" name="Shape 9"/>
          <p:cNvSpPr/>
          <p:nvPr/>
        </p:nvSpPr>
        <p:spPr>
          <a:xfrm>
            <a:off x="6987845" y="2286000"/>
            <a:ext cx="457200" cy="0"/>
          </a:xfrm>
          <a:prstGeom prst="line">
            <a:avLst/>
          </a:prstGeom>
          <a:noFill/>
          <a:ln w="31750">
            <a:solidFill>
              <a:srgbClr val="22D3EE"/>
            </a:solidFill>
            <a:prstDash val="solid"/>
            <a:tailEnd type="triangle"/>
          </a:ln>
        </p:spPr>
      </p:sp>
      <p:sp>
        <p:nvSpPr>
          <p:cNvPr id="13" name="Shape 10"/>
          <p:cNvSpPr/>
          <p:nvPr/>
        </p:nvSpPr>
        <p:spPr>
          <a:xfrm>
            <a:off x="9231782" y="2286000"/>
            <a:ext cx="457200" cy="0"/>
          </a:xfrm>
          <a:prstGeom prst="line">
            <a:avLst/>
          </a:prstGeom>
          <a:noFill/>
          <a:ln w="31750">
            <a:solidFill>
              <a:srgbClr val="22D3EE"/>
            </a:solidFill>
            <a:prstDash val="solid"/>
            <a:tailEnd type="triangle"/>
          </a:ln>
        </p:spPr>
      </p:sp>
      <p:sp>
        <p:nvSpPr>
          <p:cNvPr id="14" name="Shape 11"/>
          <p:cNvSpPr/>
          <p:nvPr/>
        </p:nvSpPr>
        <p:spPr>
          <a:xfrm>
            <a:off x="10582351" y="2697480"/>
            <a:ext cx="0" cy="1005840"/>
          </a:xfrm>
          <a:prstGeom prst="line">
            <a:avLst/>
          </a:prstGeom>
          <a:noFill/>
          <a:ln w="31750">
            <a:solidFill>
              <a:srgbClr val="22D3EE"/>
            </a:solidFill>
            <a:prstDash val="solid"/>
            <a:tailEnd type="triangle"/>
          </a:ln>
        </p:spPr>
      </p:sp>
      <p:sp>
        <p:nvSpPr>
          <p:cNvPr id="15" name="Shape 12"/>
          <p:cNvSpPr/>
          <p:nvPr/>
        </p:nvSpPr>
        <p:spPr>
          <a:xfrm flipH="1">
            <a:off x="9231782" y="4114800"/>
            <a:ext cx="457200" cy="0"/>
          </a:xfrm>
          <a:prstGeom prst="line">
            <a:avLst/>
          </a:prstGeom>
          <a:noFill/>
          <a:ln w="31750">
            <a:solidFill>
              <a:srgbClr val="22D3EE"/>
            </a:solidFill>
            <a:prstDash val="solid"/>
            <a:tailEnd type="triangle"/>
          </a:ln>
        </p:spPr>
      </p:sp>
      <p:sp>
        <p:nvSpPr>
          <p:cNvPr id="16" name="Shape 13"/>
          <p:cNvSpPr/>
          <p:nvPr/>
        </p:nvSpPr>
        <p:spPr>
          <a:xfrm flipH="1">
            <a:off x="6987845" y="4114800"/>
            <a:ext cx="457200" cy="0"/>
          </a:xfrm>
          <a:prstGeom prst="line">
            <a:avLst/>
          </a:prstGeom>
          <a:noFill/>
          <a:ln w="31750">
            <a:solidFill>
              <a:srgbClr val="22D3EE"/>
            </a:solidFill>
            <a:prstDash val="solid"/>
            <a:tailEnd type="triangle"/>
          </a:ln>
        </p:spPr>
      </p:sp>
      <p:sp>
        <p:nvSpPr>
          <p:cNvPr id="17" name="Shape 14"/>
          <p:cNvSpPr/>
          <p:nvPr/>
        </p:nvSpPr>
        <p:spPr>
          <a:xfrm flipH="1">
            <a:off x="4743907" y="4114800"/>
            <a:ext cx="457200" cy="0"/>
          </a:xfrm>
          <a:prstGeom prst="line">
            <a:avLst/>
          </a:prstGeom>
          <a:noFill/>
          <a:ln w="31750">
            <a:solidFill>
              <a:srgbClr val="22D3EE"/>
            </a:solidFill>
            <a:prstDash val="solid"/>
            <a:tailEnd type="triangle"/>
          </a:ln>
        </p:spPr>
      </p:sp>
      <p:sp>
        <p:nvSpPr>
          <p:cNvPr id="18" name="Shape 15"/>
          <p:cNvSpPr/>
          <p:nvPr/>
        </p:nvSpPr>
        <p:spPr>
          <a:xfrm flipH="1">
            <a:off x="2499970" y="4114800"/>
            <a:ext cx="457200" cy="0"/>
          </a:xfrm>
          <a:prstGeom prst="line">
            <a:avLst/>
          </a:prstGeom>
          <a:noFill/>
          <a:ln w="31750">
            <a:solidFill>
              <a:srgbClr val="22D3EE"/>
            </a:solidFill>
            <a:prstDash val="solid"/>
            <a:tailEnd type="triangle"/>
          </a:ln>
        </p:spPr>
      </p:sp>
      <p:sp>
        <p:nvSpPr>
          <p:cNvPr id="19" name="Shape 16"/>
          <p:cNvSpPr/>
          <p:nvPr/>
        </p:nvSpPr>
        <p:spPr>
          <a:xfrm>
            <a:off x="713232"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20" name="Text 17"/>
          <p:cNvSpPr/>
          <p:nvPr/>
        </p:nvSpPr>
        <p:spPr>
          <a:xfrm>
            <a:off x="786384"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Repo / env setup</a:t>
            </a:r>
            <a:endParaRPr lang="en-US" sz="1400" dirty="0"/>
          </a:p>
        </p:txBody>
      </p:sp>
      <p:sp>
        <p:nvSpPr>
          <p:cNvPr id="21" name="Shape 18"/>
          <p:cNvSpPr/>
          <p:nvPr/>
        </p:nvSpPr>
        <p:spPr>
          <a:xfrm>
            <a:off x="566928" y="1728216"/>
            <a:ext cx="384048" cy="384048"/>
          </a:xfrm>
          <a:prstGeom prst="ellipse">
            <a:avLst/>
          </a:prstGeom>
          <a:solidFill>
            <a:srgbClr val="22D3EE"/>
          </a:solidFill>
          <a:ln/>
        </p:spPr>
      </p:sp>
      <p:sp>
        <p:nvSpPr>
          <p:cNvPr id="22" name="Text 19"/>
          <p:cNvSpPr/>
          <p:nvPr/>
        </p:nvSpPr>
        <p:spPr>
          <a:xfrm>
            <a:off x="566928"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a:t>
            </a:r>
            <a:endParaRPr lang="en-US" sz="1400" dirty="0"/>
          </a:p>
        </p:txBody>
      </p:sp>
      <p:sp>
        <p:nvSpPr>
          <p:cNvPr id="23" name="Shape 20"/>
          <p:cNvSpPr/>
          <p:nvPr/>
        </p:nvSpPr>
        <p:spPr>
          <a:xfrm>
            <a:off x="2957170"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24" name="Text 21"/>
          <p:cNvSpPr/>
          <p:nvPr/>
        </p:nvSpPr>
        <p:spPr>
          <a:xfrm>
            <a:off x="3030322"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22D3EE"/>
                </a:solidFill>
                <a:latin typeface="Calibri" pitchFamily="34" charset="0"/>
                <a:ea typeface="Calibri" pitchFamily="34" charset="-122"/>
                <a:cs typeface="Calibri" pitchFamily="34" charset="-120"/>
              </a:rPr>
              <a:t>Walking skeleton</a:t>
            </a:r>
            <a:endParaRPr lang="en-US" sz="1400" dirty="0"/>
          </a:p>
        </p:txBody>
      </p:sp>
      <p:sp>
        <p:nvSpPr>
          <p:cNvPr id="25" name="Shape 22"/>
          <p:cNvSpPr/>
          <p:nvPr/>
        </p:nvSpPr>
        <p:spPr>
          <a:xfrm>
            <a:off x="2810866" y="1728216"/>
            <a:ext cx="384048" cy="384048"/>
          </a:xfrm>
          <a:prstGeom prst="ellipse">
            <a:avLst/>
          </a:prstGeom>
          <a:solidFill>
            <a:srgbClr val="22D3EE"/>
          </a:solidFill>
          <a:ln/>
        </p:spPr>
      </p:sp>
      <p:sp>
        <p:nvSpPr>
          <p:cNvPr id="26" name="Text 23"/>
          <p:cNvSpPr/>
          <p:nvPr/>
        </p:nvSpPr>
        <p:spPr>
          <a:xfrm>
            <a:off x="2810866"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2</a:t>
            </a:r>
            <a:endParaRPr lang="en-US" sz="1400" dirty="0"/>
          </a:p>
        </p:txBody>
      </p:sp>
      <p:sp>
        <p:nvSpPr>
          <p:cNvPr id="27" name="Shape 24"/>
          <p:cNvSpPr/>
          <p:nvPr/>
        </p:nvSpPr>
        <p:spPr>
          <a:xfrm>
            <a:off x="5201107"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28" name="Text 25"/>
          <p:cNvSpPr/>
          <p:nvPr/>
        </p:nvSpPr>
        <p:spPr>
          <a:xfrm>
            <a:off x="5274259"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UI — screens</a:t>
            </a:r>
            <a:endParaRPr lang="en-US" sz="1400" dirty="0"/>
          </a:p>
        </p:txBody>
      </p:sp>
      <p:sp>
        <p:nvSpPr>
          <p:cNvPr id="29" name="Shape 26"/>
          <p:cNvSpPr/>
          <p:nvPr/>
        </p:nvSpPr>
        <p:spPr>
          <a:xfrm>
            <a:off x="5054803" y="1728216"/>
            <a:ext cx="384048" cy="384048"/>
          </a:xfrm>
          <a:prstGeom prst="ellipse">
            <a:avLst/>
          </a:prstGeom>
          <a:solidFill>
            <a:srgbClr val="22D3EE"/>
          </a:solidFill>
          <a:ln/>
        </p:spPr>
      </p:sp>
      <p:sp>
        <p:nvSpPr>
          <p:cNvPr id="30" name="Text 27"/>
          <p:cNvSpPr/>
          <p:nvPr/>
        </p:nvSpPr>
        <p:spPr>
          <a:xfrm>
            <a:off x="5054803"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3</a:t>
            </a:r>
            <a:endParaRPr lang="en-US" sz="1400" dirty="0"/>
          </a:p>
        </p:txBody>
      </p:sp>
      <p:sp>
        <p:nvSpPr>
          <p:cNvPr id="31" name="Shape 28"/>
          <p:cNvSpPr/>
          <p:nvPr/>
        </p:nvSpPr>
        <p:spPr>
          <a:xfrm>
            <a:off x="7445045"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32" name="Text 29"/>
          <p:cNvSpPr/>
          <p:nvPr/>
        </p:nvSpPr>
        <p:spPr>
          <a:xfrm>
            <a:off x="7518197"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Backend — endpoints</a:t>
            </a:r>
            <a:endParaRPr lang="en-US" sz="1400" dirty="0"/>
          </a:p>
        </p:txBody>
      </p:sp>
      <p:sp>
        <p:nvSpPr>
          <p:cNvPr id="33" name="Shape 30"/>
          <p:cNvSpPr/>
          <p:nvPr/>
        </p:nvSpPr>
        <p:spPr>
          <a:xfrm>
            <a:off x="7298741" y="1728216"/>
            <a:ext cx="384048" cy="384048"/>
          </a:xfrm>
          <a:prstGeom prst="ellipse">
            <a:avLst/>
          </a:prstGeom>
          <a:solidFill>
            <a:srgbClr val="22D3EE"/>
          </a:solidFill>
          <a:ln/>
        </p:spPr>
      </p:sp>
      <p:sp>
        <p:nvSpPr>
          <p:cNvPr id="34" name="Text 31"/>
          <p:cNvSpPr/>
          <p:nvPr/>
        </p:nvSpPr>
        <p:spPr>
          <a:xfrm>
            <a:off x="7298741"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4</a:t>
            </a:r>
            <a:endParaRPr lang="en-US" sz="1400" dirty="0"/>
          </a:p>
        </p:txBody>
      </p:sp>
      <p:sp>
        <p:nvSpPr>
          <p:cNvPr id="35" name="Shape 32"/>
          <p:cNvSpPr/>
          <p:nvPr/>
        </p:nvSpPr>
        <p:spPr>
          <a:xfrm>
            <a:off x="9688982" y="18745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36" name="Text 33"/>
          <p:cNvSpPr/>
          <p:nvPr/>
        </p:nvSpPr>
        <p:spPr>
          <a:xfrm>
            <a:off x="9762134" y="18745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Data — DB</a:t>
            </a:r>
            <a:endParaRPr lang="en-US" sz="1400" dirty="0"/>
          </a:p>
        </p:txBody>
      </p:sp>
      <p:sp>
        <p:nvSpPr>
          <p:cNvPr id="37" name="Shape 34"/>
          <p:cNvSpPr/>
          <p:nvPr/>
        </p:nvSpPr>
        <p:spPr>
          <a:xfrm>
            <a:off x="9542678" y="1728216"/>
            <a:ext cx="384048" cy="384048"/>
          </a:xfrm>
          <a:prstGeom prst="ellipse">
            <a:avLst/>
          </a:prstGeom>
          <a:solidFill>
            <a:srgbClr val="22D3EE"/>
          </a:solidFill>
          <a:ln/>
        </p:spPr>
      </p:sp>
      <p:sp>
        <p:nvSpPr>
          <p:cNvPr id="38" name="Text 35"/>
          <p:cNvSpPr/>
          <p:nvPr/>
        </p:nvSpPr>
        <p:spPr>
          <a:xfrm>
            <a:off x="9542678" y="17099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5</a:t>
            </a:r>
            <a:endParaRPr lang="en-US" sz="1400" dirty="0"/>
          </a:p>
        </p:txBody>
      </p:sp>
      <p:sp>
        <p:nvSpPr>
          <p:cNvPr id="39" name="Shape 36"/>
          <p:cNvSpPr/>
          <p:nvPr/>
        </p:nvSpPr>
        <p:spPr>
          <a:xfrm>
            <a:off x="9688982"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40" name="Text 37"/>
          <p:cNvSpPr/>
          <p:nvPr/>
        </p:nvSpPr>
        <p:spPr>
          <a:xfrm>
            <a:off x="9762134"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Auth</a:t>
            </a:r>
            <a:endParaRPr lang="en-US" sz="1400" dirty="0"/>
          </a:p>
        </p:txBody>
      </p:sp>
      <p:sp>
        <p:nvSpPr>
          <p:cNvPr id="41" name="Shape 38"/>
          <p:cNvSpPr/>
          <p:nvPr/>
        </p:nvSpPr>
        <p:spPr>
          <a:xfrm>
            <a:off x="9542678" y="3557016"/>
            <a:ext cx="384048" cy="384048"/>
          </a:xfrm>
          <a:prstGeom prst="ellipse">
            <a:avLst/>
          </a:prstGeom>
          <a:solidFill>
            <a:srgbClr val="22D3EE"/>
          </a:solidFill>
          <a:ln/>
        </p:spPr>
      </p:sp>
      <p:sp>
        <p:nvSpPr>
          <p:cNvPr id="42" name="Text 39"/>
          <p:cNvSpPr/>
          <p:nvPr/>
        </p:nvSpPr>
        <p:spPr>
          <a:xfrm>
            <a:off x="9542678"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6</a:t>
            </a:r>
            <a:endParaRPr lang="en-US" sz="1400" dirty="0"/>
          </a:p>
        </p:txBody>
      </p:sp>
      <p:sp>
        <p:nvSpPr>
          <p:cNvPr id="43" name="Shape 40"/>
          <p:cNvSpPr/>
          <p:nvPr/>
        </p:nvSpPr>
        <p:spPr>
          <a:xfrm>
            <a:off x="7445045"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44" name="Text 41"/>
          <p:cNvSpPr/>
          <p:nvPr/>
        </p:nvSpPr>
        <p:spPr>
          <a:xfrm>
            <a:off x="7518197"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API / AI integration</a:t>
            </a:r>
            <a:endParaRPr lang="en-US" sz="1400" dirty="0"/>
          </a:p>
        </p:txBody>
      </p:sp>
      <p:sp>
        <p:nvSpPr>
          <p:cNvPr id="45" name="Shape 42"/>
          <p:cNvSpPr/>
          <p:nvPr/>
        </p:nvSpPr>
        <p:spPr>
          <a:xfrm>
            <a:off x="7298741" y="3557016"/>
            <a:ext cx="384048" cy="384048"/>
          </a:xfrm>
          <a:prstGeom prst="ellipse">
            <a:avLst/>
          </a:prstGeom>
          <a:solidFill>
            <a:srgbClr val="22D3EE"/>
          </a:solidFill>
          <a:ln/>
        </p:spPr>
      </p:sp>
      <p:sp>
        <p:nvSpPr>
          <p:cNvPr id="46" name="Text 43"/>
          <p:cNvSpPr/>
          <p:nvPr/>
        </p:nvSpPr>
        <p:spPr>
          <a:xfrm>
            <a:off x="7298741"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7</a:t>
            </a:r>
            <a:endParaRPr lang="en-US" sz="1400" dirty="0"/>
          </a:p>
        </p:txBody>
      </p:sp>
      <p:sp>
        <p:nvSpPr>
          <p:cNvPr id="47" name="Shape 44"/>
          <p:cNvSpPr/>
          <p:nvPr/>
        </p:nvSpPr>
        <p:spPr>
          <a:xfrm>
            <a:off x="5201107"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48" name="Text 45"/>
          <p:cNvSpPr/>
          <p:nvPr/>
        </p:nvSpPr>
        <p:spPr>
          <a:xfrm>
            <a:off x="5274259"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Testing</a:t>
            </a:r>
            <a:endParaRPr lang="en-US" sz="1400" dirty="0"/>
          </a:p>
        </p:txBody>
      </p:sp>
      <p:sp>
        <p:nvSpPr>
          <p:cNvPr id="49" name="Shape 46"/>
          <p:cNvSpPr/>
          <p:nvPr/>
        </p:nvSpPr>
        <p:spPr>
          <a:xfrm>
            <a:off x="5054803" y="3557016"/>
            <a:ext cx="384048" cy="384048"/>
          </a:xfrm>
          <a:prstGeom prst="ellipse">
            <a:avLst/>
          </a:prstGeom>
          <a:solidFill>
            <a:srgbClr val="22D3EE"/>
          </a:solidFill>
          <a:ln/>
        </p:spPr>
      </p:sp>
      <p:sp>
        <p:nvSpPr>
          <p:cNvPr id="50" name="Text 47"/>
          <p:cNvSpPr/>
          <p:nvPr/>
        </p:nvSpPr>
        <p:spPr>
          <a:xfrm>
            <a:off x="5054803"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8</a:t>
            </a:r>
            <a:endParaRPr lang="en-US" sz="1400" dirty="0"/>
          </a:p>
        </p:txBody>
      </p:sp>
      <p:sp>
        <p:nvSpPr>
          <p:cNvPr id="51" name="Shape 48"/>
          <p:cNvSpPr/>
          <p:nvPr/>
        </p:nvSpPr>
        <p:spPr>
          <a:xfrm>
            <a:off x="2957170"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52" name="Text 49"/>
          <p:cNvSpPr/>
          <p:nvPr/>
        </p:nvSpPr>
        <p:spPr>
          <a:xfrm>
            <a:off x="3030322"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22D3EE"/>
                </a:solidFill>
                <a:latin typeface="Calibri" pitchFamily="34" charset="0"/>
                <a:ea typeface="Calibri" pitchFamily="34" charset="-122"/>
                <a:cs typeface="Calibri" pitchFamily="34" charset="-120"/>
              </a:rPr>
              <a:t>Deploy</a:t>
            </a:r>
            <a:endParaRPr lang="en-US" sz="1400" dirty="0"/>
          </a:p>
        </p:txBody>
      </p:sp>
      <p:sp>
        <p:nvSpPr>
          <p:cNvPr id="53" name="Shape 50"/>
          <p:cNvSpPr/>
          <p:nvPr/>
        </p:nvSpPr>
        <p:spPr>
          <a:xfrm>
            <a:off x="2810866" y="3557016"/>
            <a:ext cx="384048" cy="384048"/>
          </a:xfrm>
          <a:prstGeom prst="ellipse">
            <a:avLst/>
          </a:prstGeom>
          <a:solidFill>
            <a:srgbClr val="22D3EE"/>
          </a:solidFill>
          <a:ln/>
        </p:spPr>
      </p:sp>
      <p:sp>
        <p:nvSpPr>
          <p:cNvPr id="54" name="Text 51"/>
          <p:cNvSpPr/>
          <p:nvPr/>
        </p:nvSpPr>
        <p:spPr>
          <a:xfrm>
            <a:off x="2810866"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9</a:t>
            </a:r>
            <a:endParaRPr lang="en-US" sz="1400" dirty="0"/>
          </a:p>
        </p:txBody>
      </p:sp>
      <p:sp>
        <p:nvSpPr>
          <p:cNvPr id="55" name="Shape 52"/>
          <p:cNvSpPr/>
          <p:nvPr/>
        </p:nvSpPr>
        <p:spPr>
          <a:xfrm>
            <a:off x="713232" y="3703320"/>
            <a:ext cx="1786738" cy="822960"/>
          </a:xfrm>
          <a:prstGeom prst="roundRect">
            <a:avLst>
              <a:gd name="adj" fmla="val 10000"/>
            </a:avLst>
          </a:prstGeom>
          <a:solidFill>
            <a:srgbClr val="141E33"/>
          </a:solidFill>
          <a:ln/>
          <a:effectLst>
            <a:outerShdw sx="100000" sy="100000" kx="0" ky="0" algn="bl" rotWithShape="0" blurRad="114300" dist="38100" dir="5400000">
              <a:srgbClr val="000000">
                <a:alpha val="45000"/>
              </a:srgbClr>
            </a:outerShdw>
          </a:effectLst>
        </p:spPr>
      </p:sp>
      <p:sp>
        <p:nvSpPr>
          <p:cNvPr id="56" name="Text 53"/>
          <p:cNvSpPr/>
          <p:nvPr/>
        </p:nvSpPr>
        <p:spPr>
          <a:xfrm>
            <a:off x="786384" y="3703320"/>
            <a:ext cx="1640434" cy="822960"/>
          </a:xfrm>
          <a:prstGeom prst="rect">
            <a:avLst/>
          </a:prstGeom>
          <a:noFill/>
          <a:ln/>
        </p:spPr>
        <p:txBody>
          <a:bodyPr wrap="square" lIns="0" tIns="0" rIns="0" bIns="0" rtlCol="0" anchor="ctr"/>
          <a:lstStyle/>
          <a:p>
            <a:pPr algn="ctr" indent="0" marL="0">
              <a:lnSpc>
                <a:spcPct val="95000"/>
              </a:lnSpc>
              <a:buNone/>
            </a:pPr>
            <a:r>
              <a:rPr lang="en-US" sz="1400" b="1" dirty="0">
                <a:solidFill>
                  <a:srgbClr val="F1F5F9"/>
                </a:solidFill>
                <a:latin typeface="Calibri" pitchFamily="34" charset="0"/>
                <a:ea typeface="Calibri" pitchFamily="34" charset="-122"/>
                <a:cs typeface="Calibri" pitchFamily="34" charset="-120"/>
              </a:rPr>
              <a:t>Iterate</a:t>
            </a:r>
            <a:endParaRPr lang="en-US" sz="1400" dirty="0"/>
          </a:p>
        </p:txBody>
      </p:sp>
      <p:sp>
        <p:nvSpPr>
          <p:cNvPr id="57" name="Shape 54"/>
          <p:cNvSpPr/>
          <p:nvPr/>
        </p:nvSpPr>
        <p:spPr>
          <a:xfrm>
            <a:off x="566928" y="3557016"/>
            <a:ext cx="384048" cy="384048"/>
          </a:xfrm>
          <a:prstGeom prst="ellipse">
            <a:avLst/>
          </a:prstGeom>
          <a:solidFill>
            <a:srgbClr val="22D3EE"/>
          </a:solidFill>
          <a:ln/>
        </p:spPr>
      </p:sp>
      <p:sp>
        <p:nvSpPr>
          <p:cNvPr id="58" name="Text 55"/>
          <p:cNvSpPr/>
          <p:nvPr/>
        </p:nvSpPr>
        <p:spPr>
          <a:xfrm>
            <a:off x="566928" y="353872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10</a:t>
            </a:r>
            <a:endParaRPr lang="en-US" sz="1400" dirty="0"/>
          </a:p>
        </p:txBody>
      </p:sp>
      <p:sp>
        <p:nvSpPr>
          <p:cNvPr id="59" name="Shape 56"/>
          <p:cNvSpPr/>
          <p:nvPr/>
        </p:nvSpPr>
        <p:spPr>
          <a:xfrm>
            <a:off x="548640" y="5349240"/>
            <a:ext cx="11091672" cy="731520"/>
          </a:xfrm>
          <a:prstGeom prst="roundRect">
            <a:avLst>
              <a:gd name="adj" fmla="val 11250"/>
            </a:avLst>
          </a:prstGeom>
          <a:solidFill>
            <a:srgbClr val="141E33"/>
          </a:solidFill>
          <a:ln/>
          <a:effectLst>
            <a:outerShdw sx="100000" sy="100000" kx="0" ky="0" algn="bl" rotWithShape="0" blurRad="114300" dist="38100" dir="5400000">
              <a:srgbClr val="000000">
                <a:alpha val="45000"/>
              </a:srgbClr>
            </a:outerShdw>
          </a:effectLst>
        </p:spPr>
      </p:sp>
      <p:sp>
        <p:nvSpPr>
          <p:cNvPr id="60" name="Text 57"/>
          <p:cNvSpPr/>
          <p:nvPr/>
        </p:nvSpPr>
        <p:spPr>
          <a:xfrm>
            <a:off x="868680" y="5349240"/>
            <a:ext cx="10424160" cy="731520"/>
          </a:xfrm>
          <a:prstGeom prst="rect">
            <a:avLst/>
          </a:prstGeom>
          <a:noFill/>
          <a:ln/>
        </p:spPr>
        <p:txBody>
          <a:bodyPr wrap="square" lIns="0" tIns="0" rIns="0" bIns="0" rtlCol="0" anchor="ctr"/>
          <a:lstStyle/>
          <a:p>
            <a:pPr indent="0" marL="0">
              <a:buNone/>
            </a:pPr>
            <a:r>
              <a:rPr lang="en-US" sz="1550" b="1" dirty="0">
                <a:solidFill>
                  <a:srgbClr val="22D3EE"/>
                </a:solidFill>
                <a:latin typeface="Consolas" pitchFamily="34" charset="0"/>
                <a:ea typeface="Consolas" pitchFamily="34" charset="-122"/>
                <a:cs typeface="Consolas" pitchFamily="34" charset="-120"/>
              </a:rPr>
              <a:t>&gt; </a:t>
            </a:r>
            <a:pPr indent="0" marL="0">
              <a:buNone/>
            </a:pPr>
            <a:r>
              <a:rPr lang="en-US" sz="1550" dirty="0">
                <a:solidFill>
                  <a:srgbClr val="F1F5F9"/>
                </a:solidFill>
                <a:latin typeface="Calibri" pitchFamily="34" charset="0"/>
                <a:ea typeface="Calibri" pitchFamily="34" charset="-122"/>
                <a:cs typeface="Calibri" pitchFamily="34" charset="-120"/>
              </a:rPr>
              <a:t>Always demoable — every stage lands on a system that already runs.</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Slice First, Then Integrations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42</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THE VERTICAL SLICE — 8.3</a:t>
            </a:r>
            <a:endParaRPr lang="en-US" sz="1400" dirty="0"/>
          </a:p>
        </p:txBody>
      </p:sp>
      <p:sp>
        <p:nvSpPr>
          <p:cNvPr id="6" name="Shape 3"/>
          <p:cNvSpPr/>
          <p:nvPr/>
        </p:nvSpPr>
        <p:spPr>
          <a:xfrm>
            <a:off x="758952" y="2295144"/>
            <a:ext cx="0" cy="448056"/>
          </a:xfrm>
          <a:prstGeom prst="line">
            <a:avLst/>
          </a:prstGeom>
          <a:noFill/>
          <a:ln w="22225">
            <a:solidFill>
              <a:srgbClr val="22D3EE"/>
            </a:solidFill>
            <a:prstDash val="solid"/>
          </a:ln>
        </p:spPr>
      </p:sp>
      <p:sp>
        <p:nvSpPr>
          <p:cNvPr id="7" name="Shape 4"/>
          <p:cNvSpPr/>
          <p:nvPr/>
        </p:nvSpPr>
        <p:spPr>
          <a:xfrm>
            <a:off x="548640" y="1874520"/>
            <a:ext cx="420624" cy="420624"/>
          </a:xfrm>
          <a:prstGeom prst="ellipse">
            <a:avLst/>
          </a:prstGeom>
          <a:solidFill>
            <a:srgbClr val="22D3EE"/>
          </a:solidFill>
          <a:ln/>
        </p:spPr>
      </p:sp>
      <p:sp>
        <p:nvSpPr>
          <p:cNvPr id="8" name="Text 5"/>
          <p:cNvSpPr/>
          <p:nvPr/>
        </p:nvSpPr>
        <p:spPr>
          <a:xfrm>
            <a:off x="548640" y="185623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1</a:t>
            </a:r>
            <a:endParaRPr lang="en-US" sz="1500" dirty="0"/>
          </a:p>
        </p:txBody>
      </p:sp>
      <p:sp>
        <p:nvSpPr>
          <p:cNvPr id="9" name="Text 6"/>
          <p:cNvSpPr/>
          <p:nvPr/>
        </p:nvSpPr>
        <p:spPr>
          <a:xfrm>
            <a:off x="1197864" y="1801368"/>
            <a:ext cx="4745736" cy="603504"/>
          </a:xfrm>
          <a:prstGeom prst="rect">
            <a:avLst/>
          </a:prstGeom>
          <a:noFill/>
          <a:ln/>
        </p:spPr>
        <p:txBody>
          <a:bodyPr wrap="square" lIns="0" tIns="0" rIns="0" bIns="0" rtlCol="0" anchor="ctr"/>
          <a:lstStyle/>
          <a:p>
            <a:pPr indent="0" marL="0">
              <a:buNone/>
            </a:pPr>
            <a:r>
              <a:rPr lang="en-US" sz="1550" dirty="0">
                <a:solidFill>
                  <a:srgbClr val="F1F5F9"/>
                </a:solidFill>
                <a:latin typeface="Calibri" pitchFamily="34" charset="0"/>
                <a:ea typeface="Calibri" pitchFamily="34" charset="-122"/>
                <a:cs typeface="Calibri" pitchFamily="34" charset="-120"/>
              </a:rPr>
              <a:t>UI — core action screen(s)</a:t>
            </a:r>
            <a:endParaRPr lang="en-US" sz="1550" dirty="0"/>
          </a:p>
        </p:txBody>
      </p:sp>
      <p:sp>
        <p:nvSpPr>
          <p:cNvPr id="10" name="Shape 7"/>
          <p:cNvSpPr/>
          <p:nvPr/>
        </p:nvSpPr>
        <p:spPr>
          <a:xfrm>
            <a:off x="758952" y="3163824"/>
            <a:ext cx="0" cy="448056"/>
          </a:xfrm>
          <a:prstGeom prst="line">
            <a:avLst/>
          </a:prstGeom>
          <a:noFill/>
          <a:ln w="22225">
            <a:solidFill>
              <a:srgbClr val="22D3EE"/>
            </a:solidFill>
            <a:prstDash val="solid"/>
          </a:ln>
        </p:spPr>
      </p:sp>
      <p:sp>
        <p:nvSpPr>
          <p:cNvPr id="11" name="Shape 8"/>
          <p:cNvSpPr/>
          <p:nvPr/>
        </p:nvSpPr>
        <p:spPr>
          <a:xfrm>
            <a:off x="548640" y="2743200"/>
            <a:ext cx="420624" cy="420624"/>
          </a:xfrm>
          <a:prstGeom prst="ellipse">
            <a:avLst/>
          </a:prstGeom>
          <a:solidFill>
            <a:srgbClr val="22D3EE"/>
          </a:solidFill>
          <a:ln/>
        </p:spPr>
      </p:sp>
      <p:sp>
        <p:nvSpPr>
          <p:cNvPr id="12" name="Text 9"/>
          <p:cNvSpPr/>
          <p:nvPr/>
        </p:nvSpPr>
        <p:spPr>
          <a:xfrm>
            <a:off x="548640" y="272491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2</a:t>
            </a:r>
            <a:endParaRPr lang="en-US" sz="1500" dirty="0"/>
          </a:p>
        </p:txBody>
      </p:sp>
      <p:sp>
        <p:nvSpPr>
          <p:cNvPr id="13" name="Text 10"/>
          <p:cNvSpPr/>
          <p:nvPr/>
        </p:nvSpPr>
        <p:spPr>
          <a:xfrm>
            <a:off x="1197864" y="2670048"/>
            <a:ext cx="4745736" cy="603504"/>
          </a:xfrm>
          <a:prstGeom prst="rect">
            <a:avLst/>
          </a:prstGeom>
          <a:noFill/>
          <a:ln/>
        </p:spPr>
        <p:txBody>
          <a:bodyPr wrap="square" lIns="0" tIns="0" rIns="0" bIns="0" rtlCol="0" anchor="ctr"/>
          <a:lstStyle/>
          <a:p>
            <a:pPr indent="0" marL="0">
              <a:buNone/>
            </a:pPr>
            <a:r>
              <a:rPr lang="en-US" sz="1550" dirty="0">
                <a:solidFill>
                  <a:srgbClr val="F1F5F9"/>
                </a:solidFill>
                <a:latin typeface="Calibri" pitchFamily="34" charset="0"/>
                <a:ea typeface="Calibri" pitchFamily="34" charset="-122"/>
                <a:cs typeface="Calibri" pitchFamily="34" charset="-120"/>
              </a:rPr>
              <a:t>Backend — contract endpoints</a:t>
            </a:r>
            <a:endParaRPr lang="en-US" sz="1550" dirty="0"/>
          </a:p>
        </p:txBody>
      </p:sp>
      <p:sp>
        <p:nvSpPr>
          <p:cNvPr id="14" name="Shape 11"/>
          <p:cNvSpPr/>
          <p:nvPr/>
        </p:nvSpPr>
        <p:spPr>
          <a:xfrm>
            <a:off x="758952" y="4032504"/>
            <a:ext cx="0" cy="448056"/>
          </a:xfrm>
          <a:prstGeom prst="line">
            <a:avLst/>
          </a:prstGeom>
          <a:noFill/>
          <a:ln w="22225">
            <a:solidFill>
              <a:srgbClr val="22D3EE"/>
            </a:solidFill>
            <a:prstDash val="solid"/>
          </a:ln>
        </p:spPr>
      </p:sp>
      <p:sp>
        <p:nvSpPr>
          <p:cNvPr id="15" name="Shape 12"/>
          <p:cNvSpPr/>
          <p:nvPr/>
        </p:nvSpPr>
        <p:spPr>
          <a:xfrm>
            <a:off x="548640" y="3611880"/>
            <a:ext cx="420624" cy="420624"/>
          </a:xfrm>
          <a:prstGeom prst="ellipse">
            <a:avLst/>
          </a:prstGeom>
          <a:solidFill>
            <a:srgbClr val="22D3EE"/>
          </a:solidFill>
          <a:ln/>
        </p:spPr>
      </p:sp>
      <p:sp>
        <p:nvSpPr>
          <p:cNvPr id="16" name="Text 13"/>
          <p:cNvSpPr/>
          <p:nvPr/>
        </p:nvSpPr>
        <p:spPr>
          <a:xfrm>
            <a:off x="548640" y="359359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3</a:t>
            </a:r>
            <a:endParaRPr lang="en-US" sz="1500" dirty="0"/>
          </a:p>
        </p:txBody>
      </p:sp>
      <p:sp>
        <p:nvSpPr>
          <p:cNvPr id="17" name="Text 14"/>
          <p:cNvSpPr/>
          <p:nvPr/>
        </p:nvSpPr>
        <p:spPr>
          <a:xfrm>
            <a:off x="1197864" y="3538728"/>
            <a:ext cx="4745736" cy="603504"/>
          </a:xfrm>
          <a:prstGeom prst="rect">
            <a:avLst/>
          </a:prstGeom>
          <a:noFill/>
          <a:ln/>
        </p:spPr>
        <p:txBody>
          <a:bodyPr wrap="square" lIns="0" tIns="0" rIns="0" bIns="0" rtlCol="0" anchor="ctr"/>
          <a:lstStyle/>
          <a:p>
            <a:pPr indent="0" marL="0">
              <a:buNone/>
            </a:pPr>
            <a:r>
              <a:rPr lang="en-US" sz="1550" dirty="0">
                <a:solidFill>
                  <a:srgbClr val="F1F5F9"/>
                </a:solidFill>
                <a:latin typeface="Calibri" pitchFamily="34" charset="0"/>
                <a:ea typeface="Calibri" pitchFamily="34" charset="-122"/>
                <a:cs typeface="Calibri" pitchFamily="34" charset="-120"/>
              </a:rPr>
              <a:t>Data — the table it reads/writes</a:t>
            </a:r>
            <a:endParaRPr lang="en-US" sz="1550" dirty="0"/>
          </a:p>
        </p:txBody>
      </p:sp>
      <p:sp>
        <p:nvSpPr>
          <p:cNvPr id="18" name="Shape 15"/>
          <p:cNvSpPr/>
          <p:nvPr/>
        </p:nvSpPr>
        <p:spPr>
          <a:xfrm>
            <a:off x="548640" y="4480560"/>
            <a:ext cx="420624" cy="420624"/>
          </a:xfrm>
          <a:prstGeom prst="ellipse">
            <a:avLst/>
          </a:prstGeom>
          <a:solidFill>
            <a:srgbClr val="22D3EE"/>
          </a:solidFill>
          <a:ln/>
        </p:spPr>
      </p:sp>
      <p:sp>
        <p:nvSpPr>
          <p:cNvPr id="19" name="Text 16"/>
          <p:cNvSpPr/>
          <p:nvPr/>
        </p:nvSpPr>
        <p:spPr>
          <a:xfrm>
            <a:off x="548640" y="446227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4</a:t>
            </a:r>
            <a:endParaRPr lang="en-US" sz="1500" dirty="0"/>
          </a:p>
        </p:txBody>
      </p:sp>
      <p:sp>
        <p:nvSpPr>
          <p:cNvPr id="20" name="Text 17"/>
          <p:cNvSpPr/>
          <p:nvPr/>
        </p:nvSpPr>
        <p:spPr>
          <a:xfrm>
            <a:off x="1197864" y="4407408"/>
            <a:ext cx="4745736" cy="603504"/>
          </a:xfrm>
          <a:prstGeom prst="rect">
            <a:avLst/>
          </a:prstGeom>
          <a:noFill/>
          <a:ln/>
        </p:spPr>
        <p:txBody>
          <a:bodyPr wrap="square" lIns="0" tIns="0" rIns="0" bIns="0" rtlCol="0" anchor="ctr"/>
          <a:lstStyle/>
          <a:p>
            <a:pPr indent="0" marL="0">
              <a:buNone/>
            </a:pPr>
            <a:r>
              <a:rPr lang="en-US" sz="1550" b="1" dirty="0">
                <a:solidFill>
                  <a:srgbClr val="A3E635"/>
                </a:solidFill>
                <a:latin typeface="Calibri" pitchFamily="34" charset="0"/>
                <a:ea typeface="Calibri" pitchFamily="34" charset="-122"/>
                <a:cs typeface="Calibri" pitchFamily="34" charset="-120"/>
              </a:rPr>
              <a:t>Round-trip: UI → API → DB → UI</a:t>
            </a:r>
            <a:endParaRPr lang="en-US" sz="1550" dirty="0"/>
          </a:p>
        </p:txBody>
      </p:sp>
      <p:sp>
        <p:nvSpPr>
          <p:cNvPr id="21" name="Text 18"/>
          <p:cNvSpPr/>
          <p:nvPr/>
        </p:nvSpPr>
        <p:spPr>
          <a:xfrm>
            <a:off x="548640" y="5486400"/>
            <a:ext cx="5394960" cy="365760"/>
          </a:xfrm>
          <a:prstGeom prst="rect">
            <a:avLst/>
          </a:prstGeom>
          <a:noFill/>
          <a:ln/>
        </p:spPr>
        <p:txBody>
          <a:bodyPr wrap="square" lIns="0" tIns="0" rIns="0" bIns="0" rtlCol="0" anchor="ctr"/>
          <a:lstStyle/>
          <a:p>
            <a:pPr indent="0" marL="0">
              <a:buNone/>
            </a:pPr>
            <a:r>
              <a:rPr lang="en-US" sz="1400" i="1" dirty="0">
                <a:solidFill>
                  <a:srgbClr val="7C8CA5"/>
                </a:solidFill>
                <a:latin typeface="Calibri" pitchFamily="34" charset="0"/>
                <a:ea typeface="Calibri" pitchFamily="34" charset="-122"/>
                <a:cs typeface="Calibri" pitchFamily="34" charset="-120"/>
              </a:rPr>
              <a:t>Slice works → then add breadth.</a:t>
            </a:r>
            <a:endParaRPr lang="en-US" sz="1400" dirty="0"/>
          </a:p>
        </p:txBody>
      </p:sp>
      <p:sp>
        <p:nvSpPr>
          <p:cNvPr id="22" name="Text 19"/>
          <p:cNvSpPr/>
          <p:nvPr/>
        </p:nvSpPr>
        <p:spPr>
          <a:xfrm>
            <a:off x="6263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INTEGRATION PRIORITY — 8.5</a:t>
            </a:r>
            <a:endParaRPr lang="en-US" sz="1400" dirty="0"/>
          </a:p>
        </p:txBody>
      </p:sp>
      <p:sp>
        <p:nvSpPr>
          <p:cNvPr id="23" name="Shape 20"/>
          <p:cNvSpPr/>
          <p:nvPr/>
        </p:nvSpPr>
        <p:spPr>
          <a:xfrm>
            <a:off x="6473952" y="2249424"/>
            <a:ext cx="0" cy="256032"/>
          </a:xfrm>
          <a:prstGeom prst="line">
            <a:avLst/>
          </a:prstGeom>
          <a:noFill/>
          <a:ln w="22225">
            <a:solidFill>
              <a:srgbClr val="22D3EE"/>
            </a:solidFill>
            <a:prstDash val="solid"/>
          </a:ln>
        </p:spPr>
      </p:sp>
      <p:sp>
        <p:nvSpPr>
          <p:cNvPr id="24" name="Shape 21"/>
          <p:cNvSpPr/>
          <p:nvPr/>
        </p:nvSpPr>
        <p:spPr>
          <a:xfrm>
            <a:off x="6263640" y="1828800"/>
            <a:ext cx="420624" cy="420624"/>
          </a:xfrm>
          <a:prstGeom prst="ellipse">
            <a:avLst/>
          </a:prstGeom>
          <a:solidFill>
            <a:srgbClr val="22D3EE"/>
          </a:solidFill>
          <a:ln/>
        </p:spPr>
      </p:sp>
      <p:sp>
        <p:nvSpPr>
          <p:cNvPr id="25" name="Text 22"/>
          <p:cNvSpPr/>
          <p:nvPr/>
        </p:nvSpPr>
        <p:spPr>
          <a:xfrm>
            <a:off x="6263640" y="181051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1</a:t>
            </a:r>
            <a:endParaRPr lang="en-US" sz="1500" dirty="0"/>
          </a:p>
        </p:txBody>
      </p:sp>
      <p:sp>
        <p:nvSpPr>
          <p:cNvPr id="26" name="Text 23"/>
          <p:cNvSpPr/>
          <p:nvPr/>
        </p:nvSpPr>
        <p:spPr>
          <a:xfrm>
            <a:off x="6912864" y="1755648"/>
            <a:ext cx="4745736" cy="603504"/>
          </a:xfrm>
          <a:prstGeom prst="rect">
            <a:avLst/>
          </a:prstGeom>
          <a:noFill/>
          <a:ln/>
        </p:spPr>
        <p:txBody>
          <a:bodyPr wrap="square" lIns="0" tIns="0" rIns="0" bIns="0" rtlCol="0" anchor="ctr"/>
          <a:lstStyle/>
          <a:p>
            <a:pPr indent="0" marL="0">
              <a:buNone/>
            </a:pPr>
            <a:r>
              <a:rPr lang="en-US" sz="1500" dirty="0">
                <a:solidFill>
                  <a:srgbClr val="F1F5F9"/>
                </a:solidFill>
                <a:latin typeface="Calibri" pitchFamily="34" charset="0"/>
                <a:ea typeface="Calibri" pitchFamily="34" charset="-122"/>
                <a:cs typeface="Calibri" pitchFamily="34" charset="-120"/>
              </a:rPr>
              <a:t>Backend endpoints — core feature</a:t>
            </a:r>
            <a:endParaRPr lang="en-US" sz="1500" dirty="0"/>
          </a:p>
        </p:txBody>
      </p:sp>
      <p:sp>
        <p:nvSpPr>
          <p:cNvPr id="27" name="Shape 24"/>
          <p:cNvSpPr/>
          <p:nvPr/>
        </p:nvSpPr>
        <p:spPr>
          <a:xfrm>
            <a:off x="6473952" y="2926080"/>
            <a:ext cx="0" cy="256032"/>
          </a:xfrm>
          <a:prstGeom prst="line">
            <a:avLst/>
          </a:prstGeom>
          <a:noFill/>
          <a:ln w="22225">
            <a:solidFill>
              <a:srgbClr val="22D3EE"/>
            </a:solidFill>
            <a:prstDash val="solid"/>
          </a:ln>
        </p:spPr>
      </p:sp>
      <p:sp>
        <p:nvSpPr>
          <p:cNvPr id="28" name="Shape 25"/>
          <p:cNvSpPr/>
          <p:nvPr/>
        </p:nvSpPr>
        <p:spPr>
          <a:xfrm>
            <a:off x="6263640" y="2505456"/>
            <a:ext cx="420624" cy="420624"/>
          </a:xfrm>
          <a:prstGeom prst="ellipse">
            <a:avLst/>
          </a:prstGeom>
          <a:solidFill>
            <a:srgbClr val="22D3EE"/>
          </a:solidFill>
          <a:ln/>
        </p:spPr>
      </p:sp>
      <p:sp>
        <p:nvSpPr>
          <p:cNvPr id="29" name="Text 26"/>
          <p:cNvSpPr/>
          <p:nvPr/>
        </p:nvSpPr>
        <p:spPr>
          <a:xfrm>
            <a:off x="6263640" y="2487168"/>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2</a:t>
            </a:r>
            <a:endParaRPr lang="en-US" sz="1500" dirty="0"/>
          </a:p>
        </p:txBody>
      </p:sp>
      <p:sp>
        <p:nvSpPr>
          <p:cNvPr id="30" name="Text 27"/>
          <p:cNvSpPr/>
          <p:nvPr/>
        </p:nvSpPr>
        <p:spPr>
          <a:xfrm>
            <a:off x="6912864" y="2432304"/>
            <a:ext cx="4745736" cy="603504"/>
          </a:xfrm>
          <a:prstGeom prst="rect">
            <a:avLst/>
          </a:prstGeom>
          <a:noFill/>
          <a:ln/>
        </p:spPr>
        <p:txBody>
          <a:bodyPr wrap="square" lIns="0" tIns="0" rIns="0" bIns="0" rtlCol="0" anchor="ctr"/>
          <a:lstStyle/>
          <a:p>
            <a:pPr indent="0" marL="0">
              <a:buNone/>
            </a:pPr>
            <a:r>
              <a:rPr lang="en-US" sz="1500" dirty="0">
                <a:solidFill>
                  <a:srgbClr val="F1F5F9"/>
                </a:solidFill>
                <a:latin typeface="Calibri" pitchFamily="34" charset="0"/>
                <a:ea typeface="Calibri" pitchFamily="34" charset="-122"/>
                <a:cs typeface="Calibri" pitchFamily="34" charset="-120"/>
              </a:rPr>
              <a:t>Database — wired + verified</a:t>
            </a:r>
            <a:endParaRPr lang="en-US" sz="1500" dirty="0"/>
          </a:p>
        </p:txBody>
      </p:sp>
      <p:sp>
        <p:nvSpPr>
          <p:cNvPr id="31" name="Shape 28"/>
          <p:cNvSpPr/>
          <p:nvPr/>
        </p:nvSpPr>
        <p:spPr>
          <a:xfrm>
            <a:off x="6473952" y="3602736"/>
            <a:ext cx="0" cy="256032"/>
          </a:xfrm>
          <a:prstGeom prst="line">
            <a:avLst/>
          </a:prstGeom>
          <a:noFill/>
          <a:ln w="22225">
            <a:solidFill>
              <a:srgbClr val="22D3EE"/>
            </a:solidFill>
            <a:prstDash val="solid"/>
          </a:ln>
        </p:spPr>
      </p:sp>
      <p:sp>
        <p:nvSpPr>
          <p:cNvPr id="32" name="Shape 29"/>
          <p:cNvSpPr/>
          <p:nvPr/>
        </p:nvSpPr>
        <p:spPr>
          <a:xfrm>
            <a:off x="6263640" y="3182112"/>
            <a:ext cx="420624" cy="420624"/>
          </a:xfrm>
          <a:prstGeom prst="ellipse">
            <a:avLst/>
          </a:prstGeom>
          <a:solidFill>
            <a:srgbClr val="22D3EE"/>
          </a:solidFill>
          <a:ln/>
        </p:spPr>
      </p:sp>
      <p:sp>
        <p:nvSpPr>
          <p:cNvPr id="33" name="Text 30"/>
          <p:cNvSpPr/>
          <p:nvPr/>
        </p:nvSpPr>
        <p:spPr>
          <a:xfrm>
            <a:off x="6263640" y="3163824"/>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3</a:t>
            </a:r>
            <a:endParaRPr lang="en-US" sz="1500" dirty="0"/>
          </a:p>
        </p:txBody>
      </p:sp>
      <p:sp>
        <p:nvSpPr>
          <p:cNvPr id="34" name="Text 31"/>
          <p:cNvSpPr/>
          <p:nvPr/>
        </p:nvSpPr>
        <p:spPr>
          <a:xfrm>
            <a:off x="6912864" y="3108960"/>
            <a:ext cx="4745736" cy="603504"/>
          </a:xfrm>
          <a:prstGeom prst="rect">
            <a:avLst/>
          </a:prstGeom>
          <a:noFill/>
          <a:ln/>
        </p:spPr>
        <p:txBody>
          <a:bodyPr wrap="square" lIns="0" tIns="0" rIns="0" bIns="0" rtlCol="0" anchor="ctr"/>
          <a:lstStyle/>
          <a:p>
            <a:pPr indent="0" marL="0">
              <a:buNone/>
            </a:pPr>
            <a:r>
              <a:rPr lang="en-US" sz="1500" dirty="0">
                <a:solidFill>
                  <a:srgbClr val="F1F5F9"/>
                </a:solidFill>
                <a:latin typeface="Calibri" pitchFamily="34" charset="0"/>
                <a:ea typeface="Calibri" pitchFamily="34" charset="-122"/>
                <a:cs typeface="Calibri" pitchFamily="34" charset="-120"/>
              </a:rPr>
              <a:t>Auth — provider, or stub a user</a:t>
            </a:r>
            <a:endParaRPr lang="en-US" sz="1500" dirty="0"/>
          </a:p>
        </p:txBody>
      </p:sp>
      <p:sp>
        <p:nvSpPr>
          <p:cNvPr id="35" name="Shape 32"/>
          <p:cNvSpPr/>
          <p:nvPr/>
        </p:nvSpPr>
        <p:spPr>
          <a:xfrm>
            <a:off x="6473952" y="4279392"/>
            <a:ext cx="0" cy="256032"/>
          </a:xfrm>
          <a:prstGeom prst="line">
            <a:avLst/>
          </a:prstGeom>
          <a:noFill/>
          <a:ln w="22225">
            <a:solidFill>
              <a:srgbClr val="22D3EE"/>
            </a:solidFill>
            <a:prstDash val="solid"/>
          </a:ln>
        </p:spPr>
      </p:sp>
      <p:sp>
        <p:nvSpPr>
          <p:cNvPr id="36" name="Shape 33"/>
          <p:cNvSpPr/>
          <p:nvPr/>
        </p:nvSpPr>
        <p:spPr>
          <a:xfrm>
            <a:off x="6263640" y="3858768"/>
            <a:ext cx="420624" cy="420624"/>
          </a:xfrm>
          <a:prstGeom prst="ellipse">
            <a:avLst/>
          </a:prstGeom>
          <a:solidFill>
            <a:srgbClr val="22D3EE"/>
          </a:solidFill>
          <a:ln/>
        </p:spPr>
      </p:sp>
      <p:sp>
        <p:nvSpPr>
          <p:cNvPr id="37" name="Text 34"/>
          <p:cNvSpPr/>
          <p:nvPr/>
        </p:nvSpPr>
        <p:spPr>
          <a:xfrm>
            <a:off x="6263640" y="3840480"/>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4</a:t>
            </a:r>
            <a:endParaRPr lang="en-US" sz="1500" dirty="0"/>
          </a:p>
        </p:txBody>
      </p:sp>
      <p:sp>
        <p:nvSpPr>
          <p:cNvPr id="38" name="Text 35"/>
          <p:cNvSpPr/>
          <p:nvPr/>
        </p:nvSpPr>
        <p:spPr>
          <a:xfrm>
            <a:off x="6912864" y="3785616"/>
            <a:ext cx="4745736" cy="603504"/>
          </a:xfrm>
          <a:prstGeom prst="rect">
            <a:avLst/>
          </a:prstGeom>
          <a:noFill/>
          <a:ln/>
        </p:spPr>
        <p:txBody>
          <a:bodyPr wrap="square" lIns="0" tIns="0" rIns="0" bIns="0" rtlCol="0" anchor="ctr"/>
          <a:lstStyle/>
          <a:p>
            <a:pPr indent="0" marL="0">
              <a:buNone/>
            </a:pPr>
            <a:r>
              <a:rPr lang="en-US" sz="1500" dirty="0">
                <a:solidFill>
                  <a:srgbClr val="F1F5F9"/>
                </a:solidFill>
                <a:latin typeface="Calibri" pitchFamily="34" charset="0"/>
                <a:ea typeface="Calibri" pitchFamily="34" charset="-122"/>
                <a:cs typeface="Calibri" pitchFamily="34" charset="-120"/>
              </a:rPr>
              <a:t>External APIs — maps · payments · email</a:t>
            </a:r>
            <a:endParaRPr lang="en-US" sz="1500" dirty="0"/>
          </a:p>
        </p:txBody>
      </p:sp>
      <p:sp>
        <p:nvSpPr>
          <p:cNvPr id="39" name="Shape 36"/>
          <p:cNvSpPr/>
          <p:nvPr/>
        </p:nvSpPr>
        <p:spPr>
          <a:xfrm>
            <a:off x="6263640" y="4535424"/>
            <a:ext cx="420624" cy="420624"/>
          </a:xfrm>
          <a:prstGeom prst="ellipse">
            <a:avLst/>
          </a:prstGeom>
          <a:solidFill>
            <a:srgbClr val="22D3EE"/>
          </a:solidFill>
          <a:ln/>
        </p:spPr>
      </p:sp>
      <p:sp>
        <p:nvSpPr>
          <p:cNvPr id="40" name="Text 37"/>
          <p:cNvSpPr/>
          <p:nvPr/>
        </p:nvSpPr>
        <p:spPr>
          <a:xfrm>
            <a:off x="6263640" y="4517136"/>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5</a:t>
            </a:r>
            <a:endParaRPr lang="en-US" sz="1500" dirty="0"/>
          </a:p>
        </p:txBody>
      </p:sp>
      <p:sp>
        <p:nvSpPr>
          <p:cNvPr id="41" name="Text 38"/>
          <p:cNvSpPr/>
          <p:nvPr/>
        </p:nvSpPr>
        <p:spPr>
          <a:xfrm>
            <a:off x="6912864" y="4462272"/>
            <a:ext cx="4745736" cy="603504"/>
          </a:xfrm>
          <a:prstGeom prst="rect">
            <a:avLst/>
          </a:prstGeom>
          <a:noFill/>
          <a:ln/>
        </p:spPr>
        <p:txBody>
          <a:bodyPr wrap="square" lIns="0" tIns="0" rIns="0" bIns="0" rtlCol="0" anchor="ctr"/>
          <a:lstStyle/>
          <a:p>
            <a:pPr indent="0" marL="0">
              <a:buNone/>
            </a:pPr>
            <a:r>
              <a:rPr lang="en-US" sz="1500" dirty="0">
                <a:solidFill>
                  <a:srgbClr val="F1F5F9"/>
                </a:solidFill>
                <a:latin typeface="Calibri" pitchFamily="34" charset="0"/>
                <a:ea typeface="Calibri" pitchFamily="34" charset="-122"/>
                <a:cs typeface="Calibri" pitchFamily="34" charset="-120"/>
              </a:rPr>
              <a:t>AI — the LLM / vision / speech call</a:t>
            </a:r>
            <a:endParaRPr lang="en-US" sz="1500" dirty="0"/>
          </a:p>
        </p:txBody>
      </p:sp>
      <p:sp>
        <p:nvSpPr>
          <p:cNvPr id="42" name="Shape 39"/>
          <p:cNvSpPr/>
          <p:nvPr/>
        </p:nvSpPr>
        <p:spPr>
          <a:xfrm>
            <a:off x="6263640" y="5257800"/>
            <a:ext cx="5376672" cy="868680"/>
          </a:xfrm>
          <a:prstGeom prst="roundRect">
            <a:avLst>
              <a:gd name="adj" fmla="val 9474"/>
            </a:avLst>
          </a:prstGeom>
          <a:solidFill>
            <a:srgbClr val="1B2842"/>
          </a:solidFill>
          <a:ln/>
          <a:effectLst>
            <a:outerShdw sx="100000" sy="100000" kx="0" ky="0" algn="bl" rotWithShape="0" blurRad="114300" dist="38100" dir="5400000">
              <a:srgbClr val="000000">
                <a:alpha val="45000"/>
              </a:srgbClr>
            </a:outerShdw>
          </a:effectLst>
        </p:spPr>
      </p:sp>
      <p:sp>
        <p:nvSpPr>
          <p:cNvPr id="43" name="Shape 40"/>
          <p:cNvSpPr/>
          <p:nvPr/>
        </p:nvSpPr>
        <p:spPr>
          <a:xfrm>
            <a:off x="6492240" y="5413248"/>
            <a:ext cx="530352" cy="530352"/>
          </a:xfrm>
          <a:prstGeom prst="ellipse">
            <a:avLst/>
          </a:prstGeom>
          <a:solidFill>
            <a:srgbClr val="141E33"/>
          </a:solidFill>
          <a:ln/>
        </p:spPr>
      </p:sp>
      <p:pic>
        <p:nvPicPr>
          <p:cNvPr id="44" name="Image 0" descr="C:\Users\User\AppData\Local\Temp\claude\C--Users-User-OneDrive-Music-Hackathon\67e3d9e6-0718-4380-8c09-13d83fcd8fa7\scratchpad\pptbuild\v2\assets\icons\alert-amber.png">    </p:cNvPr>
          <p:cNvPicPr>
            <a:picLocks noChangeAspect="1"/>
          </p:cNvPicPr>
          <p:nvPr/>
        </p:nvPicPr>
        <p:blipFill>
          <a:blip r:embed="rId1"/>
          <a:stretch>
            <a:fillRect/>
          </a:stretch>
        </p:blipFill>
        <p:spPr>
          <a:xfrm>
            <a:off x="6619524" y="5540532"/>
            <a:ext cx="275783" cy="275783"/>
          </a:xfrm>
          <a:prstGeom prst="rect">
            <a:avLst/>
          </a:prstGeom>
        </p:spPr>
      </p:pic>
      <p:sp>
        <p:nvSpPr>
          <p:cNvPr id="45" name="Text 41"/>
          <p:cNvSpPr/>
          <p:nvPr/>
        </p:nvSpPr>
        <p:spPr>
          <a:xfrm>
            <a:off x="7178040" y="5257800"/>
            <a:ext cx="4343400" cy="868680"/>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One at a time: </a:t>
            </a:r>
            <a:pPr indent="0" marL="0">
              <a:buNone/>
            </a:pPr>
            <a:r>
              <a:rPr lang="en-US" sz="1250" dirty="0">
                <a:solidFill>
                  <a:srgbClr val="F1F5F9"/>
                </a:solidFill>
                <a:latin typeface="Calibri" pitchFamily="34" charset="0"/>
                <a:ea typeface="Calibri" pitchFamily="34" charset="-122"/>
                <a:cs typeface="Calibri" pitchFamily="34" charset="-120"/>
              </a:rPr>
              <a:t>integrate → test in isolation → commit. Never debug 3 unverified integrations at 2 AM.</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Test as You Build · Ship &amp; Tag</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43</a:t>
            </a:r>
            <a:endParaRPr lang="en-US" sz="1000" dirty="0"/>
          </a:p>
        </p:txBody>
      </p:sp>
      <p:sp>
        <p:nvSpPr>
          <p:cNvPr id="5" name="Shape 2"/>
          <p:cNvSpPr/>
          <p:nvPr/>
        </p:nvSpPr>
        <p:spPr>
          <a:xfrm>
            <a:off x="548640" y="1508760"/>
            <a:ext cx="5408676" cy="3383280"/>
          </a:xfrm>
          <a:prstGeom prst="roundRect">
            <a:avLst>
              <a:gd name="adj" fmla="val 2432"/>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4650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bug-cyan.png">    </p:cNvPr>
          <p:cNvPicPr>
            <a:picLocks noChangeAspect="1"/>
          </p:cNvPicPr>
          <p:nvPr/>
        </p:nvPicPr>
        <p:blipFill>
          <a:blip r:embed="rId1"/>
          <a:stretch>
            <a:fillRect/>
          </a:stretch>
        </p:blipFill>
        <p:spPr>
          <a:xfrm>
            <a:off x="931225" y="1891345"/>
            <a:ext cx="313822" cy="313822"/>
          </a:xfrm>
          <a:prstGeom prst="rect">
            <a:avLst/>
          </a:prstGeom>
        </p:spPr>
      </p:pic>
      <p:sp>
        <p:nvSpPr>
          <p:cNvPr id="8" name="Text 4"/>
          <p:cNvSpPr/>
          <p:nvPr/>
        </p:nvSpPr>
        <p:spPr>
          <a:xfrm>
            <a:off x="786384" y="2459736"/>
            <a:ext cx="4933188" cy="2295144"/>
          </a:xfrm>
          <a:prstGeom prst="rect">
            <a:avLst/>
          </a:prstGeom>
          <a:noFill/>
          <a:ln/>
        </p:spPr>
        <p:txBody>
          <a:bodyPr wrap="square" lIns="0" tIns="0" rIns="0" bIns="0" rtlCol="0" anchor="t"/>
          <a:lstStyle/>
          <a:p>
            <a:pPr indent="0" marL="0">
              <a:lnSpc>
                <a:spcPct val="106000"/>
              </a:lnSpc>
              <a:spcAft>
                <a:spcPts val="400"/>
              </a:spcAft>
              <a:buNone/>
            </a:pPr>
            <a:r>
              <a:rPr lang="en-US" sz="1700" b="1" dirty="0">
                <a:solidFill>
                  <a:srgbClr val="F1F5F9"/>
                </a:solidFill>
                <a:latin typeface="Calibri" pitchFamily="34" charset="0"/>
                <a:ea typeface="Calibri" pitchFamily="34" charset="-122"/>
                <a:cs typeface="Calibri" pitchFamily="34" charset="-120"/>
              </a:rPr>
              <a:t>Test as you build — 8.6</a:t>
            </a:r>
            <a:endParaRPr lang="en-US" sz="1700" dirty="0"/>
          </a:p>
          <a:p>
            <a:pPr indent="0" marL="0">
              <a:lnSpc>
                <a:spcPct val="106000"/>
              </a:lnSpc>
              <a:buNone/>
            </a:pPr>
            <a:r>
              <a:rPr lang="en-US" sz="1500" dirty="0">
                <a:solidFill>
                  <a:srgbClr val="7C8CA5"/>
                </a:solidFill>
                <a:latin typeface="Calibri" pitchFamily="34" charset="0"/>
                <a:ea typeface="Calibri" pitchFamily="34" charset="-122"/>
                <a:cs typeface="Calibri" pitchFamily="34" charset="-120"/>
              </a:rPr>
              <a:t>Critical path continuously — not at the end. Debug: read the error → smallest repro → logs → isolate the layer. Monitor: health check + logs on the deployed app.</a:t>
            </a:r>
            <a:endParaRPr lang="en-US" sz="1700" dirty="0"/>
          </a:p>
        </p:txBody>
      </p:sp>
      <p:sp>
        <p:nvSpPr>
          <p:cNvPr id="9" name="Shape 5"/>
          <p:cNvSpPr/>
          <p:nvPr/>
        </p:nvSpPr>
        <p:spPr>
          <a:xfrm>
            <a:off x="6231636" y="1508760"/>
            <a:ext cx="5408676" cy="3383280"/>
          </a:xfrm>
          <a:prstGeom prst="roundRect">
            <a:avLst>
              <a:gd name="adj" fmla="val 2432"/>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6469380" y="174650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rocket-cyan.png">    </p:cNvPr>
          <p:cNvPicPr>
            <a:picLocks noChangeAspect="1"/>
          </p:cNvPicPr>
          <p:nvPr/>
        </p:nvPicPr>
        <p:blipFill>
          <a:blip r:embed="rId2"/>
          <a:stretch>
            <a:fillRect/>
          </a:stretch>
        </p:blipFill>
        <p:spPr>
          <a:xfrm>
            <a:off x="6614221" y="1891345"/>
            <a:ext cx="313822" cy="313822"/>
          </a:xfrm>
          <a:prstGeom prst="rect">
            <a:avLst/>
          </a:prstGeom>
        </p:spPr>
      </p:pic>
      <p:sp>
        <p:nvSpPr>
          <p:cNvPr id="12" name="Text 7"/>
          <p:cNvSpPr/>
          <p:nvPr/>
        </p:nvSpPr>
        <p:spPr>
          <a:xfrm>
            <a:off x="6469380" y="2459736"/>
            <a:ext cx="4933188" cy="2295144"/>
          </a:xfrm>
          <a:prstGeom prst="rect">
            <a:avLst/>
          </a:prstGeom>
          <a:noFill/>
          <a:ln/>
        </p:spPr>
        <p:txBody>
          <a:bodyPr wrap="square" lIns="0" tIns="0" rIns="0" bIns="0" rtlCol="0" anchor="t"/>
          <a:lstStyle/>
          <a:p>
            <a:pPr indent="0" marL="0">
              <a:lnSpc>
                <a:spcPct val="106000"/>
              </a:lnSpc>
              <a:spcAft>
                <a:spcPts val="400"/>
              </a:spcAft>
              <a:buNone/>
            </a:pPr>
            <a:r>
              <a:rPr lang="en-US" sz="1700" b="1" dirty="0">
                <a:solidFill>
                  <a:srgbClr val="F1F5F9"/>
                </a:solidFill>
                <a:latin typeface="Calibri" pitchFamily="34" charset="0"/>
                <a:ea typeface="Calibri" pitchFamily="34" charset="-122"/>
                <a:cs typeface="Calibri" pitchFamily="34" charset="-120"/>
              </a:rPr>
              <a:t>Ship &amp; tag — 8.7</a:t>
            </a:r>
            <a:endParaRPr lang="en-US" sz="1700" dirty="0"/>
          </a:p>
          <a:p>
            <a:pPr indent="0" marL="0">
              <a:lnSpc>
                <a:spcPct val="106000"/>
              </a:lnSpc>
              <a:buNone/>
            </a:pPr>
            <a:r>
              <a:rPr lang="en-US" sz="1500" dirty="0">
                <a:solidFill>
                  <a:srgbClr val="7C8CA5"/>
                </a:solidFill>
                <a:latin typeface="Calibri" pitchFamily="34" charset="0"/>
                <a:ea typeface="Calibri" pitchFamily="34" charset="-122"/>
                <a:cs typeface="Calibri" pitchFamily="34" charset="-120"/>
              </a:rPr>
              <a:t>Deploy early &amp; often — kill “works on my machine”. Commit small · push often · branches. Freeze the demo build → tag the final commit.</a:t>
            </a:r>
            <a:endParaRPr lang="en-US" sz="1700" dirty="0"/>
          </a:p>
        </p:txBody>
      </p:sp>
      <p:sp>
        <p:nvSpPr>
          <p:cNvPr id="13" name="Shape 8"/>
          <p:cNvSpPr/>
          <p:nvPr/>
        </p:nvSpPr>
        <p:spPr>
          <a:xfrm>
            <a:off x="548640" y="5257800"/>
            <a:ext cx="6583680" cy="457200"/>
          </a:xfrm>
          <a:prstGeom prst="roundRect">
            <a:avLst>
              <a:gd name="adj" fmla="val 14000"/>
            </a:avLst>
          </a:prstGeom>
          <a:solidFill>
            <a:srgbClr val="141E33"/>
          </a:solidFill>
          <a:ln/>
        </p:spPr>
      </p:sp>
      <p:sp>
        <p:nvSpPr>
          <p:cNvPr id="14" name="Text 9"/>
          <p:cNvSpPr/>
          <p:nvPr/>
        </p:nvSpPr>
        <p:spPr>
          <a:xfrm>
            <a:off x="603504" y="5257800"/>
            <a:ext cx="6473952" cy="457200"/>
          </a:xfrm>
          <a:prstGeom prst="rect">
            <a:avLst/>
          </a:prstGeom>
          <a:noFill/>
          <a:ln/>
        </p:spPr>
        <p:txBody>
          <a:bodyPr wrap="square" lIns="0" tIns="0" rIns="0" bIns="0" rtlCol="0" anchor="ctr"/>
          <a:lstStyle/>
          <a:p>
            <a:pPr algn="l" indent="0" marL="0">
              <a:buNone/>
            </a:pPr>
            <a:r>
              <a:rPr lang="en-US" sz="1400" dirty="0">
                <a:solidFill>
                  <a:srgbClr val="A3E635"/>
                </a:solidFill>
                <a:latin typeface="Consolas" pitchFamily="34" charset="0"/>
                <a:ea typeface="Consolas" pitchFamily="34" charset="-122"/>
                <a:cs typeface="Consolas" pitchFamily="34" charset="-120"/>
              </a:rPr>
              <a:t>&gt; git tag demo-final  — your always-safe return point</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Worked Example: Build Order</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44</a:t>
            </a:r>
            <a:endParaRPr lang="en-US" sz="1000" dirty="0"/>
          </a:p>
        </p:txBody>
      </p:sp>
      <p:sp>
        <p:nvSpPr>
          <p:cNvPr id="5" name="Shape 2"/>
          <p:cNvSpPr/>
          <p:nvPr/>
        </p:nvSpPr>
        <p:spPr>
          <a:xfrm>
            <a:off x="1033272" y="1929384"/>
            <a:ext cx="0" cy="228600"/>
          </a:xfrm>
          <a:prstGeom prst="line">
            <a:avLst/>
          </a:prstGeom>
          <a:noFill/>
          <a:ln w="22225">
            <a:solidFill>
              <a:srgbClr val="22D3EE"/>
            </a:solidFill>
            <a:prstDash val="solid"/>
          </a:ln>
        </p:spPr>
      </p:sp>
      <p:sp>
        <p:nvSpPr>
          <p:cNvPr id="6" name="Shape 3"/>
          <p:cNvSpPr/>
          <p:nvPr/>
        </p:nvSpPr>
        <p:spPr>
          <a:xfrm>
            <a:off x="822960" y="1508760"/>
            <a:ext cx="420624" cy="420624"/>
          </a:xfrm>
          <a:prstGeom prst="ellipse">
            <a:avLst/>
          </a:prstGeom>
          <a:solidFill>
            <a:srgbClr val="22D3EE"/>
          </a:solidFill>
          <a:ln/>
        </p:spPr>
      </p:sp>
      <p:sp>
        <p:nvSpPr>
          <p:cNvPr id="7" name="Text 4"/>
          <p:cNvSpPr/>
          <p:nvPr/>
        </p:nvSpPr>
        <p:spPr>
          <a:xfrm>
            <a:off x="822960" y="149047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1</a:t>
            </a:r>
            <a:endParaRPr lang="en-US" sz="1500" dirty="0"/>
          </a:p>
        </p:txBody>
      </p:sp>
      <p:sp>
        <p:nvSpPr>
          <p:cNvPr id="8" name="Text 5"/>
          <p:cNvSpPr/>
          <p:nvPr/>
        </p:nvSpPr>
        <p:spPr>
          <a:xfrm>
            <a:off x="1472184" y="1435608"/>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H1      </a:t>
            </a:r>
            <a:pPr indent="0" marL="0">
              <a:buNone/>
            </a:pPr>
            <a:r>
              <a:rPr lang="en-US" sz="1550" dirty="0">
                <a:solidFill>
                  <a:srgbClr val="A3E635"/>
                </a:solidFill>
                <a:latin typeface="Calibri" pitchFamily="34" charset="0"/>
                <a:ea typeface="Calibri" pitchFamily="34" charset="-122"/>
                <a:cs typeface="Calibri" pitchFamily="34" charset="-120"/>
              </a:rPr>
              <a:t>Repo + Next.js scaffold + Supabase + “hello world” live on Vercel</a:t>
            </a:r>
            <a:endParaRPr lang="en-US" sz="1350" dirty="0"/>
          </a:p>
        </p:txBody>
      </p:sp>
      <p:sp>
        <p:nvSpPr>
          <p:cNvPr id="9" name="Shape 6"/>
          <p:cNvSpPr/>
          <p:nvPr/>
        </p:nvSpPr>
        <p:spPr>
          <a:xfrm>
            <a:off x="1033272" y="2578608"/>
            <a:ext cx="0" cy="228600"/>
          </a:xfrm>
          <a:prstGeom prst="line">
            <a:avLst/>
          </a:prstGeom>
          <a:noFill/>
          <a:ln w="22225">
            <a:solidFill>
              <a:srgbClr val="22D3EE"/>
            </a:solidFill>
            <a:prstDash val="solid"/>
          </a:ln>
        </p:spPr>
      </p:sp>
      <p:sp>
        <p:nvSpPr>
          <p:cNvPr id="10" name="Shape 7"/>
          <p:cNvSpPr/>
          <p:nvPr/>
        </p:nvSpPr>
        <p:spPr>
          <a:xfrm>
            <a:off x="822960" y="2157984"/>
            <a:ext cx="420624" cy="420624"/>
          </a:xfrm>
          <a:prstGeom prst="ellipse">
            <a:avLst/>
          </a:prstGeom>
          <a:solidFill>
            <a:srgbClr val="22D3EE"/>
          </a:solidFill>
          <a:ln/>
        </p:spPr>
      </p:sp>
      <p:sp>
        <p:nvSpPr>
          <p:cNvPr id="11" name="Text 8"/>
          <p:cNvSpPr/>
          <p:nvPr/>
        </p:nvSpPr>
        <p:spPr>
          <a:xfrm>
            <a:off x="822960" y="2139696"/>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2</a:t>
            </a:r>
            <a:endParaRPr lang="en-US" sz="1500" dirty="0"/>
          </a:p>
        </p:txBody>
      </p:sp>
      <p:sp>
        <p:nvSpPr>
          <p:cNvPr id="12" name="Text 9"/>
          <p:cNvSpPr/>
          <p:nvPr/>
        </p:nvSpPr>
        <p:spPr>
          <a:xfrm>
            <a:off x="1472184" y="2084832"/>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H2–3   </a:t>
            </a:r>
            <a:pPr indent="0" marL="0">
              <a:buNone/>
            </a:pPr>
            <a:r>
              <a:rPr lang="en-US" sz="1550" dirty="0">
                <a:solidFill>
                  <a:srgbClr val="F1F5F9"/>
                </a:solidFill>
                <a:latin typeface="Calibri" pitchFamily="34" charset="0"/>
                <a:ea typeface="Calibri" pitchFamily="34" charset="-122"/>
                <a:cs typeface="Calibri" pitchFamily="34" charset="-120"/>
              </a:rPr>
              <a:t>Walking skeleton — form posts to a stub endpoint, writes a row</a:t>
            </a:r>
            <a:endParaRPr lang="en-US" sz="1350" dirty="0"/>
          </a:p>
        </p:txBody>
      </p:sp>
      <p:sp>
        <p:nvSpPr>
          <p:cNvPr id="13" name="Shape 10"/>
          <p:cNvSpPr/>
          <p:nvPr/>
        </p:nvSpPr>
        <p:spPr>
          <a:xfrm>
            <a:off x="1033272" y="3227832"/>
            <a:ext cx="0" cy="228600"/>
          </a:xfrm>
          <a:prstGeom prst="line">
            <a:avLst/>
          </a:prstGeom>
          <a:noFill/>
          <a:ln w="22225">
            <a:solidFill>
              <a:srgbClr val="22D3EE"/>
            </a:solidFill>
            <a:prstDash val="solid"/>
          </a:ln>
        </p:spPr>
      </p:sp>
      <p:sp>
        <p:nvSpPr>
          <p:cNvPr id="14" name="Shape 11"/>
          <p:cNvSpPr/>
          <p:nvPr/>
        </p:nvSpPr>
        <p:spPr>
          <a:xfrm>
            <a:off x="822960" y="2807208"/>
            <a:ext cx="420624" cy="420624"/>
          </a:xfrm>
          <a:prstGeom prst="ellipse">
            <a:avLst/>
          </a:prstGeom>
          <a:solidFill>
            <a:srgbClr val="22D3EE"/>
          </a:solidFill>
          <a:ln/>
        </p:spPr>
      </p:sp>
      <p:sp>
        <p:nvSpPr>
          <p:cNvPr id="15" name="Text 12"/>
          <p:cNvSpPr/>
          <p:nvPr/>
        </p:nvSpPr>
        <p:spPr>
          <a:xfrm>
            <a:off x="822960" y="2788920"/>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3</a:t>
            </a:r>
            <a:endParaRPr lang="en-US" sz="1500" dirty="0"/>
          </a:p>
        </p:txBody>
      </p:sp>
      <p:sp>
        <p:nvSpPr>
          <p:cNvPr id="16" name="Text 13"/>
          <p:cNvSpPr/>
          <p:nvPr/>
        </p:nvSpPr>
        <p:spPr>
          <a:xfrm>
            <a:off x="1472184" y="2734056"/>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H3–8   </a:t>
            </a:r>
            <a:pPr indent="0" marL="0">
              <a:buNone/>
            </a:pPr>
            <a:r>
              <a:rPr lang="en-US" sz="1550" dirty="0">
                <a:solidFill>
                  <a:srgbClr val="A3E635"/>
                </a:solidFill>
                <a:latin typeface="Calibri" pitchFamily="34" charset="0"/>
                <a:ea typeface="Calibri" pitchFamily="34" charset="-122"/>
                <a:cs typeface="Calibri" pitchFamily="34" charset="-120"/>
              </a:rPr>
              <a:t>Vertical slice — real balance logic + balances screen</a:t>
            </a:r>
            <a:endParaRPr lang="en-US" sz="1350" dirty="0"/>
          </a:p>
        </p:txBody>
      </p:sp>
      <p:sp>
        <p:nvSpPr>
          <p:cNvPr id="17" name="Shape 14"/>
          <p:cNvSpPr/>
          <p:nvPr/>
        </p:nvSpPr>
        <p:spPr>
          <a:xfrm>
            <a:off x="1033272" y="3877056"/>
            <a:ext cx="0" cy="228600"/>
          </a:xfrm>
          <a:prstGeom prst="line">
            <a:avLst/>
          </a:prstGeom>
          <a:noFill/>
          <a:ln w="22225">
            <a:solidFill>
              <a:srgbClr val="22D3EE"/>
            </a:solidFill>
            <a:prstDash val="solid"/>
          </a:ln>
        </p:spPr>
      </p:sp>
      <p:sp>
        <p:nvSpPr>
          <p:cNvPr id="18" name="Shape 15"/>
          <p:cNvSpPr/>
          <p:nvPr/>
        </p:nvSpPr>
        <p:spPr>
          <a:xfrm>
            <a:off x="822960" y="3456432"/>
            <a:ext cx="420624" cy="420624"/>
          </a:xfrm>
          <a:prstGeom prst="ellipse">
            <a:avLst/>
          </a:prstGeom>
          <a:solidFill>
            <a:srgbClr val="22D3EE"/>
          </a:solidFill>
          <a:ln/>
        </p:spPr>
      </p:sp>
      <p:sp>
        <p:nvSpPr>
          <p:cNvPr id="19" name="Text 16"/>
          <p:cNvSpPr/>
          <p:nvPr/>
        </p:nvSpPr>
        <p:spPr>
          <a:xfrm>
            <a:off x="822960" y="3438144"/>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4</a:t>
            </a:r>
            <a:endParaRPr lang="en-US" sz="1500" dirty="0"/>
          </a:p>
        </p:txBody>
      </p:sp>
      <p:sp>
        <p:nvSpPr>
          <p:cNvPr id="20" name="Text 17"/>
          <p:cNvSpPr/>
          <p:nvPr/>
        </p:nvSpPr>
        <p:spPr>
          <a:xfrm>
            <a:off x="1472184" y="3383280"/>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H8–10  </a:t>
            </a:r>
            <a:pPr indent="0" marL="0">
              <a:buNone/>
            </a:pPr>
            <a:r>
              <a:rPr lang="en-US" sz="1550" dirty="0">
                <a:solidFill>
                  <a:srgbClr val="F1F5F9"/>
                </a:solidFill>
                <a:latin typeface="Calibri" pitchFamily="34" charset="0"/>
                <a:ea typeface="Calibri" pitchFamily="34" charset="-122"/>
                <a:cs typeface="Calibri" pitchFamily="34" charset="-120"/>
              </a:rPr>
              <a:t>Delighter — the “settle up” animation</a:t>
            </a:r>
            <a:endParaRPr lang="en-US" sz="1350" dirty="0"/>
          </a:p>
        </p:txBody>
      </p:sp>
      <p:sp>
        <p:nvSpPr>
          <p:cNvPr id="21" name="Shape 18"/>
          <p:cNvSpPr/>
          <p:nvPr/>
        </p:nvSpPr>
        <p:spPr>
          <a:xfrm>
            <a:off x="1033272" y="4526280"/>
            <a:ext cx="0" cy="228600"/>
          </a:xfrm>
          <a:prstGeom prst="line">
            <a:avLst/>
          </a:prstGeom>
          <a:noFill/>
          <a:ln w="22225">
            <a:solidFill>
              <a:srgbClr val="22D3EE"/>
            </a:solidFill>
            <a:prstDash val="solid"/>
          </a:ln>
        </p:spPr>
      </p:sp>
      <p:sp>
        <p:nvSpPr>
          <p:cNvPr id="22" name="Shape 19"/>
          <p:cNvSpPr/>
          <p:nvPr/>
        </p:nvSpPr>
        <p:spPr>
          <a:xfrm>
            <a:off x="822960" y="4105656"/>
            <a:ext cx="420624" cy="420624"/>
          </a:xfrm>
          <a:prstGeom prst="ellipse">
            <a:avLst/>
          </a:prstGeom>
          <a:solidFill>
            <a:srgbClr val="22D3EE"/>
          </a:solidFill>
          <a:ln/>
        </p:spPr>
      </p:sp>
      <p:sp>
        <p:nvSpPr>
          <p:cNvPr id="23" name="Text 20"/>
          <p:cNvSpPr/>
          <p:nvPr/>
        </p:nvSpPr>
        <p:spPr>
          <a:xfrm>
            <a:off x="822960" y="4087368"/>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5</a:t>
            </a:r>
            <a:endParaRPr lang="en-US" sz="1500" dirty="0"/>
          </a:p>
        </p:txBody>
      </p:sp>
      <p:sp>
        <p:nvSpPr>
          <p:cNvPr id="24" name="Text 21"/>
          <p:cNvSpPr/>
          <p:nvPr/>
        </p:nvSpPr>
        <p:spPr>
          <a:xfrm>
            <a:off x="1472184" y="4032504"/>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H10–12  </a:t>
            </a:r>
            <a:pPr indent="0" marL="0">
              <a:buNone/>
            </a:pPr>
            <a:r>
              <a:rPr lang="en-US" sz="1550" dirty="0">
                <a:solidFill>
                  <a:srgbClr val="F1F5F9"/>
                </a:solidFill>
                <a:latin typeface="Calibri" pitchFamily="34" charset="0"/>
                <a:ea typeface="Calibri" pitchFamily="34" charset="-122"/>
                <a:cs typeface="Calibri" pitchFamily="34" charset="-120"/>
              </a:rPr>
              <a:t>Auth via Supabase — or stub a user if time is tight</a:t>
            </a:r>
            <a:endParaRPr lang="en-US" sz="1350" dirty="0"/>
          </a:p>
        </p:txBody>
      </p:sp>
      <p:sp>
        <p:nvSpPr>
          <p:cNvPr id="25" name="Shape 22"/>
          <p:cNvSpPr/>
          <p:nvPr/>
        </p:nvSpPr>
        <p:spPr>
          <a:xfrm>
            <a:off x="1033272" y="5175504"/>
            <a:ext cx="0" cy="228600"/>
          </a:xfrm>
          <a:prstGeom prst="line">
            <a:avLst/>
          </a:prstGeom>
          <a:noFill/>
          <a:ln w="22225">
            <a:solidFill>
              <a:srgbClr val="22D3EE"/>
            </a:solidFill>
            <a:prstDash val="solid"/>
          </a:ln>
        </p:spPr>
      </p:sp>
      <p:sp>
        <p:nvSpPr>
          <p:cNvPr id="26" name="Shape 23"/>
          <p:cNvSpPr/>
          <p:nvPr/>
        </p:nvSpPr>
        <p:spPr>
          <a:xfrm>
            <a:off x="822960" y="4754880"/>
            <a:ext cx="420624" cy="420624"/>
          </a:xfrm>
          <a:prstGeom prst="ellipse">
            <a:avLst/>
          </a:prstGeom>
          <a:solidFill>
            <a:srgbClr val="22D3EE"/>
          </a:solidFill>
          <a:ln/>
        </p:spPr>
      </p:sp>
      <p:sp>
        <p:nvSpPr>
          <p:cNvPr id="27" name="Text 24"/>
          <p:cNvSpPr/>
          <p:nvPr/>
        </p:nvSpPr>
        <p:spPr>
          <a:xfrm>
            <a:off x="822960" y="4736592"/>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6</a:t>
            </a:r>
            <a:endParaRPr lang="en-US" sz="1500" dirty="0"/>
          </a:p>
        </p:txBody>
      </p:sp>
      <p:sp>
        <p:nvSpPr>
          <p:cNvPr id="28" name="Text 25"/>
          <p:cNvSpPr/>
          <p:nvPr/>
        </p:nvSpPr>
        <p:spPr>
          <a:xfrm>
            <a:off x="1472184" y="4681728"/>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H12–15  </a:t>
            </a:r>
            <a:pPr indent="0" marL="0">
              <a:buNone/>
            </a:pPr>
            <a:r>
              <a:rPr lang="en-US" sz="1550" dirty="0">
                <a:solidFill>
                  <a:srgbClr val="A3E635"/>
                </a:solidFill>
                <a:latin typeface="Calibri" pitchFamily="34" charset="0"/>
                <a:ea typeface="Calibri" pitchFamily="34" charset="-122"/>
                <a:cs typeface="Calibri" pitchFamily="34" charset="-120"/>
              </a:rPr>
              <a:t>Test critical path + deploy + README</a:t>
            </a:r>
            <a:endParaRPr lang="en-US" sz="1350" dirty="0"/>
          </a:p>
        </p:txBody>
      </p:sp>
      <p:sp>
        <p:nvSpPr>
          <p:cNvPr id="29" name="Shape 26"/>
          <p:cNvSpPr/>
          <p:nvPr/>
        </p:nvSpPr>
        <p:spPr>
          <a:xfrm>
            <a:off x="822960" y="5404104"/>
            <a:ext cx="420624" cy="420624"/>
          </a:xfrm>
          <a:prstGeom prst="ellipse">
            <a:avLst/>
          </a:prstGeom>
          <a:solidFill>
            <a:srgbClr val="22D3EE"/>
          </a:solidFill>
          <a:ln/>
        </p:spPr>
      </p:sp>
      <p:sp>
        <p:nvSpPr>
          <p:cNvPr id="30" name="Text 27"/>
          <p:cNvSpPr/>
          <p:nvPr/>
        </p:nvSpPr>
        <p:spPr>
          <a:xfrm>
            <a:off x="822960" y="5385816"/>
            <a:ext cx="420624" cy="420624"/>
          </a:xfrm>
          <a:prstGeom prst="rect">
            <a:avLst/>
          </a:prstGeom>
          <a:noFill/>
          <a:ln/>
        </p:spPr>
        <p:txBody>
          <a:bodyPr wrap="square" lIns="0" tIns="0" rIns="0" bIns="0" rtlCol="0" anchor="ctr"/>
          <a:lstStyle/>
          <a:p>
            <a:pPr algn="ctr" indent="0" marL="0">
              <a:buNone/>
            </a:pPr>
            <a:r>
              <a:rPr lang="en-US" sz="1500" dirty="0">
                <a:solidFill>
                  <a:srgbClr val="0B1220"/>
                </a:solidFill>
                <a:latin typeface="Arial Black" pitchFamily="34" charset="0"/>
                <a:ea typeface="Arial Black" pitchFamily="34" charset="-122"/>
                <a:cs typeface="Arial Black" pitchFamily="34" charset="-120"/>
              </a:rPr>
              <a:t>7</a:t>
            </a:r>
            <a:endParaRPr lang="en-US" sz="1500" dirty="0"/>
          </a:p>
        </p:txBody>
      </p:sp>
      <p:sp>
        <p:nvSpPr>
          <p:cNvPr id="31" name="Text 28"/>
          <p:cNvSpPr/>
          <p:nvPr/>
        </p:nvSpPr>
        <p:spPr>
          <a:xfrm>
            <a:off x="1472184" y="5330952"/>
            <a:ext cx="9957816" cy="603504"/>
          </a:xfrm>
          <a:prstGeom prst="rect">
            <a:avLst/>
          </a:prstGeom>
          <a:noFill/>
          <a:ln/>
        </p:spPr>
        <p:txBody>
          <a:bodyPr wrap="square" lIns="0" tIns="0" rIns="0" bIns="0" rtlCol="0" anchor="ctr"/>
          <a:lstStyle/>
          <a:p>
            <a:pPr indent="0" marL="0">
              <a:buNone/>
            </a:pPr>
            <a:r>
              <a:rPr lang="en-US" sz="1350" dirty="0">
                <a:solidFill>
                  <a:srgbClr val="22D3EE"/>
                </a:solidFill>
                <a:latin typeface="Consolas" pitchFamily="34" charset="0"/>
                <a:ea typeface="Consolas" pitchFamily="34" charset="-122"/>
                <a:cs typeface="Consolas" pitchFamily="34" charset="-120"/>
              </a:rPr>
              <a:t>SPARE  </a:t>
            </a:r>
            <a:pPr indent="0" marL="0">
              <a:buNone/>
            </a:pPr>
            <a:r>
              <a:rPr lang="en-US" sz="1550" dirty="0">
                <a:solidFill>
                  <a:srgbClr val="F1F5F9"/>
                </a:solidFill>
                <a:latin typeface="Calibri" pitchFamily="34" charset="0"/>
                <a:ea typeface="Calibri" pitchFamily="34" charset="-122"/>
                <a:cs typeface="Calibri" pitchFamily="34" charset="-120"/>
              </a:rPr>
              <a:t>Nice-to-haves on a branch — only if stable time remains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09 — GIT &amp; GITHUB</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Version Control in One Picture</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45</a:t>
            </a:r>
            <a:endParaRPr lang="en-US" sz="1000" dirty="0"/>
          </a:p>
        </p:txBody>
      </p:sp>
      <p:sp>
        <p:nvSpPr>
          <p:cNvPr id="6" name="Shape 3"/>
          <p:cNvSpPr/>
          <p:nvPr/>
        </p:nvSpPr>
        <p:spPr>
          <a:xfrm>
            <a:off x="914400" y="2880360"/>
            <a:ext cx="10332720" cy="0"/>
          </a:xfrm>
          <a:prstGeom prst="line">
            <a:avLst/>
          </a:prstGeom>
          <a:noFill/>
          <a:ln w="44450">
            <a:solidFill>
              <a:srgbClr val="A3E635"/>
            </a:solidFill>
            <a:prstDash val="solid"/>
          </a:ln>
        </p:spPr>
      </p:sp>
      <p:sp>
        <p:nvSpPr>
          <p:cNvPr id="7" name="Shape 4"/>
          <p:cNvSpPr/>
          <p:nvPr/>
        </p:nvSpPr>
        <p:spPr>
          <a:xfrm>
            <a:off x="2377440" y="1920240"/>
            <a:ext cx="0" cy="960120"/>
          </a:xfrm>
          <a:prstGeom prst="line">
            <a:avLst/>
          </a:prstGeom>
          <a:noFill/>
          <a:ln w="31750">
            <a:solidFill>
              <a:srgbClr val="22D3EE"/>
            </a:solidFill>
            <a:prstDash val="solid"/>
          </a:ln>
        </p:spPr>
      </p:sp>
      <p:sp>
        <p:nvSpPr>
          <p:cNvPr id="8" name="Shape 5"/>
          <p:cNvSpPr/>
          <p:nvPr/>
        </p:nvSpPr>
        <p:spPr>
          <a:xfrm>
            <a:off x="2377440" y="1920240"/>
            <a:ext cx="4754880" cy="0"/>
          </a:xfrm>
          <a:prstGeom prst="line">
            <a:avLst/>
          </a:prstGeom>
          <a:noFill/>
          <a:ln w="31750">
            <a:solidFill>
              <a:srgbClr val="22D3EE"/>
            </a:solidFill>
            <a:prstDash val="solid"/>
          </a:ln>
        </p:spPr>
      </p:sp>
      <p:sp>
        <p:nvSpPr>
          <p:cNvPr id="9" name="Shape 6"/>
          <p:cNvSpPr/>
          <p:nvPr/>
        </p:nvSpPr>
        <p:spPr>
          <a:xfrm>
            <a:off x="7132320" y="1920240"/>
            <a:ext cx="0" cy="960120"/>
          </a:xfrm>
          <a:prstGeom prst="line">
            <a:avLst/>
          </a:prstGeom>
          <a:noFill/>
          <a:ln w="31750">
            <a:solidFill>
              <a:srgbClr val="22D3EE"/>
            </a:solidFill>
            <a:prstDash val="solid"/>
            <a:tailEnd type="triangle"/>
          </a:ln>
        </p:spPr>
      </p:sp>
      <p:sp>
        <p:nvSpPr>
          <p:cNvPr id="10" name="Shape 7"/>
          <p:cNvSpPr/>
          <p:nvPr/>
        </p:nvSpPr>
        <p:spPr>
          <a:xfrm>
            <a:off x="1453896" y="2779776"/>
            <a:ext cx="201168" cy="201168"/>
          </a:xfrm>
          <a:prstGeom prst="ellipse">
            <a:avLst/>
          </a:prstGeom>
          <a:solidFill>
            <a:srgbClr val="A3E635"/>
          </a:solidFill>
          <a:ln/>
        </p:spPr>
      </p:sp>
      <p:sp>
        <p:nvSpPr>
          <p:cNvPr id="11" name="Shape 8"/>
          <p:cNvSpPr/>
          <p:nvPr/>
        </p:nvSpPr>
        <p:spPr>
          <a:xfrm>
            <a:off x="3739896" y="2779776"/>
            <a:ext cx="201168" cy="201168"/>
          </a:xfrm>
          <a:prstGeom prst="ellipse">
            <a:avLst/>
          </a:prstGeom>
          <a:solidFill>
            <a:srgbClr val="A3E635"/>
          </a:solidFill>
          <a:ln/>
        </p:spPr>
      </p:sp>
      <p:sp>
        <p:nvSpPr>
          <p:cNvPr id="12" name="Shape 9"/>
          <p:cNvSpPr/>
          <p:nvPr/>
        </p:nvSpPr>
        <p:spPr>
          <a:xfrm>
            <a:off x="8769096" y="2779776"/>
            <a:ext cx="201168" cy="201168"/>
          </a:xfrm>
          <a:prstGeom prst="ellipse">
            <a:avLst/>
          </a:prstGeom>
          <a:solidFill>
            <a:srgbClr val="A3E635"/>
          </a:solidFill>
          <a:ln/>
        </p:spPr>
      </p:sp>
      <p:sp>
        <p:nvSpPr>
          <p:cNvPr id="13" name="Shape 10"/>
          <p:cNvSpPr/>
          <p:nvPr/>
        </p:nvSpPr>
        <p:spPr>
          <a:xfrm>
            <a:off x="10780776" y="2779776"/>
            <a:ext cx="201168" cy="201168"/>
          </a:xfrm>
          <a:prstGeom prst="ellipse">
            <a:avLst/>
          </a:prstGeom>
          <a:solidFill>
            <a:srgbClr val="A3E635"/>
          </a:solidFill>
          <a:ln/>
        </p:spPr>
      </p:sp>
      <p:sp>
        <p:nvSpPr>
          <p:cNvPr id="14" name="Shape 11"/>
          <p:cNvSpPr/>
          <p:nvPr/>
        </p:nvSpPr>
        <p:spPr>
          <a:xfrm>
            <a:off x="3191256" y="1819656"/>
            <a:ext cx="201168" cy="201168"/>
          </a:xfrm>
          <a:prstGeom prst="ellipse">
            <a:avLst/>
          </a:prstGeom>
          <a:solidFill>
            <a:srgbClr val="22D3EE"/>
          </a:solidFill>
          <a:ln/>
        </p:spPr>
      </p:sp>
      <p:sp>
        <p:nvSpPr>
          <p:cNvPr id="15" name="Shape 12"/>
          <p:cNvSpPr/>
          <p:nvPr/>
        </p:nvSpPr>
        <p:spPr>
          <a:xfrm>
            <a:off x="5294376" y="1819656"/>
            <a:ext cx="201168" cy="201168"/>
          </a:xfrm>
          <a:prstGeom prst="ellipse">
            <a:avLst/>
          </a:prstGeom>
          <a:solidFill>
            <a:srgbClr val="22D3EE"/>
          </a:solidFill>
          <a:ln/>
        </p:spPr>
      </p:sp>
      <p:sp>
        <p:nvSpPr>
          <p:cNvPr id="16" name="Text 13"/>
          <p:cNvSpPr/>
          <p:nvPr/>
        </p:nvSpPr>
        <p:spPr>
          <a:xfrm>
            <a:off x="914400" y="3017520"/>
            <a:ext cx="1280160" cy="292608"/>
          </a:xfrm>
          <a:prstGeom prst="rect">
            <a:avLst/>
          </a:prstGeom>
          <a:noFill/>
          <a:ln/>
        </p:spPr>
        <p:txBody>
          <a:bodyPr wrap="square" lIns="0" tIns="0" rIns="0" bIns="0" rtlCol="0" anchor="ctr"/>
          <a:lstStyle/>
          <a:p>
            <a:pPr indent="0" marL="0">
              <a:buNone/>
            </a:pPr>
            <a:r>
              <a:rPr lang="en-US" sz="1400" dirty="0">
                <a:solidFill>
                  <a:srgbClr val="A3E635"/>
                </a:solidFill>
                <a:latin typeface="Consolas" pitchFamily="34" charset="0"/>
                <a:ea typeface="Consolas" pitchFamily="34" charset="-122"/>
                <a:cs typeface="Consolas" pitchFamily="34" charset="-120"/>
              </a:rPr>
              <a:t>main</a:t>
            </a:r>
            <a:endParaRPr lang="en-US" sz="1400" dirty="0"/>
          </a:p>
        </p:txBody>
      </p:sp>
      <p:sp>
        <p:nvSpPr>
          <p:cNvPr id="17" name="Text 14"/>
          <p:cNvSpPr/>
          <p:nvPr/>
        </p:nvSpPr>
        <p:spPr>
          <a:xfrm>
            <a:off x="2514600" y="1463040"/>
            <a:ext cx="3291840" cy="292608"/>
          </a:xfrm>
          <a:prstGeom prst="rect">
            <a:avLst/>
          </a:prstGeom>
          <a:noFill/>
          <a:ln/>
        </p:spPr>
        <p:txBody>
          <a:bodyPr wrap="square" lIns="0" tIns="0" rIns="0" bIns="0" rtlCol="0" anchor="ctr"/>
          <a:lstStyle/>
          <a:p>
            <a:pPr indent="0" marL="0">
              <a:buNone/>
            </a:pPr>
            <a:r>
              <a:rPr lang="en-US" sz="1300" dirty="0">
                <a:solidFill>
                  <a:srgbClr val="22D3EE"/>
                </a:solidFill>
                <a:latin typeface="Consolas" pitchFamily="34" charset="0"/>
                <a:ea typeface="Consolas" pitchFamily="34" charset="-122"/>
                <a:cs typeface="Consolas" pitchFamily="34" charset="-120"/>
              </a:rPr>
              <a:t>feature branch — commits</a:t>
            </a:r>
            <a:endParaRPr lang="en-US" sz="1300" dirty="0"/>
          </a:p>
        </p:txBody>
      </p:sp>
      <p:sp>
        <p:nvSpPr>
          <p:cNvPr id="18" name="Shape 15"/>
          <p:cNvSpPr/>
          <p:nvPr/>
        </p:nvSpPr>
        <p:spPr>
          <a:xfrm>
            <a:off x="6035040" y="1408176"/>
            <a:ext cx="3291840" cy="384048"/>
          </a:xfrm>
          <a:prstGeom prst="roundRect">
            <a:avLst>
              <a:gd name="adj" fmla="val 16667"/>
            </a:avLst>
          </a:prstGeom>
          <a:solidFill>
            <a:srgbClr val="141E33"/>
          </a:solidFill>
          <a:ln/>
        </p:spPr>
      </p:sp>
      <p:sp>
        <p:nvSpPr>
          <p:cNvPr id="19" name="Text 16"/>
          <p:cNvSpPr/>
          <p:nvPr/>
        </p:nvSpPr>
        <p:spPr>
          <a:xfrm>
            <a:off x="6089904" y="1408176"/>
            <a:ext cx="3182112" cy="384048"/>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pull request → review → merge</a:t>
            </a:r>
            <a:endParaRPr lang="en-US" sz="1250" dirty="0"/>
          </a:p>
        </p:txBody>
      </p:sp>
      <p:sp>
        <p:nvSpPr>
          <p:cNvPr id="20" name="Text 17"/>
          <p:cNvSpPr/>
          <p:nvPr/>
        </p:nvSpPr>
        <p:spPr>
          <a:xfrm>
            <a:off x="7269480" y="3017520"/>
            <a:ext cx="1463040" cy="292608"/>
          </a:xfrm>
          <a:prstGeom prst="rect">
            <a:avLst/>
          </a:prstGeom>
          <a:noFill/>
          <a:ln/>
        </p:spPr>
        <p:txBody>
          <a:bodyPr wrap="square" lIns="0" tIns="0" rIns="0" bIns="0" rtlCol="0" anchor="ctr"/>
          <a:lstStyle/>
          <a:p>
            <a:pPr indent="0" marL="0">
              <a:buNone/>
            </a:pPr>
            <a:r>
              <a:rPr lang="en-US" sz="1400" dirty="0">
                <a:solidFill>
                  <a:srgbClr val="A3E635"/>
                </a:solidFill>
                <a:latin typeface="Consolas" pitchFamily="34" charset="0"/>
                <a:ea typeface="Consolas" pitchFamily="34" charset="-122"/>
                <a:cs typeface="Consolas" pitchFamily="34" charset="-120"/>
              </a:rPr>
              <a:t>merge ✓</a:t>
            </a:r>
            <a:endParaRPr lang="en-US" sz="1400" dirty="0"/>
          </a:p>
        </p:txBody>
      </p:sp>
      <p:sp>
        <p:nvSpPr>
          <p:cNvPr id="21" name="Shape 18"/>
          <p:cNvSpPr/>
          <p:nvPr/>
        </p:nvSpPr>
        <p:spPr>
          <a:xfrm>
            <a:off x="548640" y="3794760"/>
            <a:ext cx="2622042" cy="960120"/>
          </a:xfrm>
          <a:prstGeom prst="roundRect">
            <a:avLst>
              <a:gd name="adj" fmla="val 8571"/>
            </a:avLst>
          </a:prstGeom>
          <a:solidFill>
            <a:srgbClr val="141E33"/>
          </a:solidFill>
          <a:ln/>
        </p:spPr>
      </p:sp>
      <p:sp>
        <p:nvSpPr>
          <p:cNvPr id="22" name="Text 19"/>
          <p:cNvSpPr/>
          <p:nvPr/>
        </p:nvSpPr>
        <p:spPr>
          <a:xfrm>
            <a:off x="694944" y="3794760"/>
            <a:ext cx="232943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22D3EE"/>
                </a:solidFill>
                <a:latin typeface="Calibri" pitchFamily="34" charset="0"/>
                <a:ea typeface="Calibri" pitchFamily="34" charset="-122"/>
                <a:cs typeface="Calibri" pitchFamily="34" charset="-120"/>
              </a:rPr>
              <a:t>Repo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project + full history</a:t>
            </a:r>
            <a:endParaRPr lang="en-US" sz="1400" dirty="0"/>
          </a:p>
        </p:txBody>
      </p:sp>
      <p:sp>
        <p:nvSpPr>
          <p:cNvPr id="23" name="Shape 20"/>
          <p:cNvSpPr/>
          <p:nvPr/>
        </p:nvSpPr>
        <p:spPr>
          <a:xfrm>
            <a:off x="3371850" y="3794760"/>
            <a:ext cx="2622042" cy="960120"/>
          </a:xfrm>
          <a:prstGeom prst="roundRect">
            <a:avLst>
              <a:gd name="adj" fmla="val 8571"/>
            </a:avLst>
          </a:prstGeom>
          <a:solidFill>
            <a:srgbClr val="141E33"/>
          </a:solidFill>
          <a:ln/>
        </p:spPr>
      </p:sp>
      <p:sp>
        <p:nvSpPr>
          <p:cNvPr id="24" name="Text 21"/>
          <p:cNvSpPr/>
          <p:nvPr/>
        </p:nvSpPr>
        <p:spPr>
          <a:xfrm>
            <a:off x="3518154" y="3794760"/>
            <a:ext cx="232943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22D3EE"/>
                </a:solidFill>
                <a:latin typeface="Calibri" pitchFamily="34" charset="0"/>
                <a:ea typeface="Calibri" pitchFamily="34" charset="-122"/>
                <a:cs typeface="Calibri" pitchFamily="34" charset="-120"/>
              </a:rPr>
              <a:t>Commit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saved snapshot</a:t>
            </a:r>
            <a:endParaRPr lang="en-US" sz="1400" dirty="0"/>
          </a:p>
        </p:txBody>
      </p:sp>
      <p:sp>
        <p:nvSpPr>
          <p:cNvPr id="25" name="Shape 22"/>
          <p:cNvSpPr/>
          <p:nvPr/>
        </p:nvSpPr>
        <p:spPr>
          <a:xfrm>
            <a:off x="6195060" y="3794760"/>
            <a:ext cx="2622042" cy="960120"/>
          </a:xfrm>
          <a:prstGeom prst="roundRect">
            <a:avLst>
              <a:gd name="adj" fmla="val 8571"/>
            </a:avLst>
          </a:prstGeom>
          <a:solidFill>
            <a:srgbClr val="141E33"/>
          </a:solidFill>
          <a:ln/>
        </p:spPr>
      </p:sp>
      <p:sp>
        <p:nvSpPr>
          <p:cNvPr id="26" name="Text 23"/>
          <p:cNvSpPr/>
          <p:nvPr/>
        </p:nvSpPr>
        <p:spPr>
          <a:xfrm>
            <a:off x="6341364" y="3794760"/>
            <a:ext cx="232943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22D3EE"/>
                </a:solidFill>
                <a:latin typeface="Calibri" pitchFamily="34" charset="0"/>
                <a:ea typeface="Calibri" pitchFamily="34" charset="-122"/>
                <a:cs typeface="Calibri" pitchFamily="34" charset="-120"/>
              </a:rPr>
              <a:t>Branch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independent line of work</a:t>
            </a:r>
            <a:endParaRPr lang="en-US" sz="1400" dirty="0"/>
          </a:p>
        </p:txBody>
      </p:sp>
      <p:sp>
        <p:nvSpPr>
          <p:cNvPr id="27" name="Shape 24"/>
          <p:cNvSpPr/>
          <p:nvPr/>
        </p:nvSpPr>
        <p:spPr>
          <a:xfrm>
            <a:off x="9018270" y="3794760"/>
            <a:ext cx="2622042" cy="960120"/>
          </a:xfrm>
          <a:prstGeom prst="roundRect">
            <a:avLst>
              <a:gd name="adj" fmla="val 8571"/>
            </a:avLst>
          </a:prstGeom>
          <a:solidFill>
            <a:srgbClr val="141E33"/>
          </a:solidFill>
          <a:ln/>
        </p:spPr>
      </p:sp>
      <p:sp>
        <p:nvSpPr>
          <p:cNvPr id="28" name="Text 25"/>
          <p:cNvSpPr/>
          <p:nvPr/>
        </p:nvSpPr>
        <p:spPr>
          <a:xfrm>
            <a:off x="9164574" y="3794760"/>
            <a:ext cx="232943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22D3EE"/>
                </a:solidFill>
                <a:latin typeface="Calibri" pitchFamily="34" charset="0"/>
                <a:ea typeface="Calibri" pitchFamily="34" charset="-122"/>
                <a:cs typeface="Calibri" pitchFamily="34" charset="-120"/>
              </a:rPr>
              <a:t>Merge / PR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combine — after review</a:t>
            </a:r>
            <a:endParaRPr lang="en-US" sz="1400" dirty="0"/>
          </a:p>
        </p:txBody>
      </p:sp>
      <p:sp>
        <p:nvSpPr>
          <p:cNvPr id="29" name="Shape 26"/>
          <p:cNvSpPr/>
          <p:nvPr/>
        </p:nvSpPr>
        <p:spPr>
          <a:xfrm>
            <a:off x="548640" y="4956048"/>
            <a:ext cx="3563112" cy="960120"/>
          </a:xfrm>
          <a:prstGeom prst="roundRect">
            <a:avLst>
              <a:gd name="adj" fmla="val 8571"/>
            </a:avLst>
          </a:prstGeom>
          <a:solidFill>
            <a:srgbClr val="141E33"/>
          </a:solidFill>
          <a:ln/>
        </p:spPr>
      </p:sp>
      <p:sp>
        <p:nvSpPr>
          <p:cNvPr id="30" name="Text 27"/>
          <p:cNvSpPr/>
          <p:nvPr/>
        </p:nvSpPr>
        <p:spPr>
          <a:xfrm>
            <a:off x="694944" y="4956048"/>
            <a:ext cx="327050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22D3EE"/>
                </a:solidFill>
                <a:latin typeface="Calibri" pitchFamily="34" charset="0"/>
                <a:ea typeface="Calibri" pitchFamily="34" charset="-122"/>
                <a:cs typeface="Calibri" pitchFamily="34" charset="-120"/>
              </a:rPr>
              <a:t>Clone · push · pull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copy · upload · download</a:t>
            </a:r>
            <a:endParaRPr lang="en-US" sz="1400" dirty="0"/>
          </a:p>
        </p:txBody>
      </p:sp>
      <p:sp>
        <p:nvSpPr>
          <p:cNvPr id="31" name="Shape 28"/>
          <p:cNvSpPr/>
          <p:nvPr/>
        </p:nvSpPr>
        <p:spPr>
          <a:xfrm>
            <a:off x="4312920" y="4956048"/>
            <a:ext cx="3563112" cy="960120"/>
          </a:xfrm>
          <a:prstGeom prst="roundRect">
            <a:avLst>
              <a:gd name="adj" fmla="val 8571"/>
            </a:avLst>
          </a:prstGeom>
          <a:solidFill>
            <a:srgbClr val="141E33"/>
          </a:solidFill>
          <a:ln/>
        </p:spPr>
      </p:sp>
      <p:sp>
        <p:nvSpPr>
          <p:cNvPr id="32" name="Text 29"/>
          <p:cNvSpPr/>
          <p:nvPr/>
        </p:nvSpPr>
        <p:spPr>
          <a:xfrm>
            <a:off x="4459224" y="4956048"/>
            <a:ext cx="327050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22D3EE"/>
                </a:solidFill>
                <a:latin typeface="Calibri" pitchFamily="34" charset="0"/>
                <a:ea typeface="Calibri" pitchFamily="34" charset="-122"/>
                <a:cs typeface="Calibri" pitchFamily="34" charset="-120"/>
              </a:rPr>
              <a:t>Conflict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same lines changed — you choose</a:t>
            </a:r>
            <a:endParaRPr lang="en-US" sz="1400" dirty="0"/>
          </a:p>
        </p:txBody>
      </p:sp>
      <p:sp>
        <p:nvSpPr>
          <p:cNvPr id="33" name="Shape 30"/>
          <p:cNvSpPr/>
          <p:nvPr/>
        </p:nvSpPr>
        <p:spPr>
          <a:xfrm>
            <a:off x="8077200" y="4956048"/>
            <a:ext cx="3563112" cy="960120"/>
          </a:xfrm>
          <a:prstGeom prst="roundRect">
            <a:avLst>
              <a:gd name="adj" fmla="val 8571"/>
            </a:avLst>
          </a:prstGeom>
          <a:solidFill>
            <a:srgbClr val="141E33"/>
          </a:solidFill>
          <a:ln/>
        </p:spPr>
      </p:sp>
      <p:sp>
        <p:nvSpPr>
          <p:cNvPr id="34" name="Text 31"/>
          <p:cNvSpPr/>
          <p:nvPr/>
        </p:nvSpPr>
        <p:spPr>
          <a:xfrm>
            <a:off x="8223504" y="4956048"/>
            <a:ext cx="3270504" cy="960120"/>
          </a:xfrm>
          <a:prstGeom prst="rect">
            <a:avLst/>
          </a:prstGeom>
          <a:noFill/>
          <a:ln/>
        </p:spPr>
        <p:txBody>
          <a:bodyPr wrap="square" lIns="0" tIns="0" rIns="0" bIns="0" rtlCol="0" anchor="ctr"/>
          <a:lstStyle/>
          <a:p>
            <a:pPr indent="0" marL="0">
              <a:lnSpc>
                <a:spcPct val="100000"/>
              </a:lnSpc>
              <a:spcAft>
                <a:spcPts val="200"/>
              </a:spcAft>
              <a:buNone/>
            </a:pPr>
            <a:r>
              <a:rPr lang="en-US" sz="1400" b="1" dirty="0">
                <a:solidFill>
                  <a:srgbClr val="A3E635"/>
                </a:solidFill>
                <a:latin typeface="Calibri" pitchFamily="34" charset="0"/>
                <a:ea typeface="Calibri" pitchFamily="34" charset="-122"/>
                <a:cs typeface="Calibri" pitchFamily="34" charset="-120"/>
              </a:rPr>
              <a:t>Repo = artifact
</a:t>
            </a:r>
            <a:pPr indent="0" marL="0">
              <a:lnSpc>
                <a:spcPct val="100000"/>
              </a:lnSpc>
              <a:buNone/>
            </a:pPr>
            <a:r>
              <a:rPr lang="en-US" sz="1200" dirty="0">
                <a:solidFill>
                  <a:srgbClr val="7C8CA5"/>
                </a:solidFill>
                <a:latin typeface="Calibri" pitchFamily="34" charset="0"/>
                <a:ea typeface="Calibri" pitchFamily="34" charset="-122"/>
                <a:cs typeface="Calibri" pitchFamily="34" charset="-120"/>
              </a:rPr>
              <a:t>clean history + README = points</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PRs, Boards &amp; Merge Conflicts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46</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TEAM WORKFLOW — 9.5</a:t>
            </a:r>
            <a:endParaRPr lang="en-US" sz="1400" dirty="0"/>
          </a:p>
        </p:txBody>
      </p:sp>
      <p:sp>
        <p:nvSpPr>
          <p:cNvPr id="6" name="Shape 3"/>
          <p:cNvSpPr/>
          <p:nvPr/>
        </p:nvSpPr>
        <p:spPr>
          <a:xfrm>
            <a:off x="548640" y="1965960"/>
            <a:ext cx="548640" cy="548640"/>
          </a:xfrm>
          <a:prstGeom prst="ellipse">
            <a:avLst/>
          </a:prstGeom>
          <a:solidFill>
            <a:srgbClr val="1B2842"/>
          </a:solidFill>
          <a:ln/>
        </p:spPr>
      </p:sp>
      <p:pic>
        <p:nvPicPr>
          <p:cNvPr id="7" name="Image 0" descr="C:\Users\User\AppData\Local\Temp\claude\C--Users-User-OneDrive-Music-Hackathon\67e3d9e6-0718-4380-8c09-13d83fcd8fa7\scratchpad\pptbuild\v2\assets\icons\pullrequest-cyan.png">    </p:cNvPr>
          <p:cNvPicPr>
            <a:picLocks noChangeAspect="1"/>
          </p:cNvPicPr>
          <p:nvPr/>
        </p:nvPicPr>
        <p:blipFill>
          <a:blip r:embed="rId1"/>
          <a:stretch>
            <a:fillRect/>
          </a:stretch>
        </p:blipFill>
        <p:spPr>
          <a:xfrm>
            <a:off x="680314" y="2097634"/>
            <a:ext cx="285293" cy="285293"/>
          </a:xfrm>
          <a:prstGeom prst="rect">
            <a:avLst/>
          </a:prstGeom>
        </p:spPr>
      </p:pic>
      <p:sp>
        <p:nvSpPr>
          <p:cNvPr id="8" name="Text 4"/>
          <p:cNvSpPr/>
          <p:nvPr/>
        </p:nvSpPr>
        <p:spPr>
          <a:xfrm>
            <a:off x="1325880" y="1783080"/>
            <a:ext cx="461772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PRs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teammate sanity-glance before main</a:t>
            </a:r>
            <a:endParaRPr lang="en-US" sz="1500" dirty="0"/>
          </a:p>
        </p:txBody>
      </p:sp>
      <p:sp>
        <p:nvSpPr>
          <p:cNvPr id="9" name="Shape 5"/>
          <p:cNvSpPr/>
          <p:nvPr/>
        </p:nvSpPr>
        <p:spPr>
          <a:xfrm>
            <a:off x="548640" y="2880360"/>
            <a:ext cx="548640" cy="548640"/>
          </a:xfrm>
          <a:prstGeom prst="ellipse">
            <a:avLst/>
          </a:prstGeom>
          <a:solidFill>
            <a:srgbClr val="1B2842"/>
          </a:solidFill>
          <a:ln/>
        </p:spPr>
      </p:sp>
      <p:pic>
        <p:nvPicPr>
          <p:cNvPr id="10" name="Image 1" descr="C:\Users\User\AppData\Local\Temp\claude\C--Users-User-OneDrive-Music-Hackathon\67e3d9e6-0718-4380-8c09-13d83fcd8fa7\scratchpad\pptbuild\v2\assets\icons\list-cyan.png">    </p:cNvPr>
          <p:cNvPicPr>
            <a:picLocks noChangeAspect="1"/>
          </p:cNvPicPr>
          <p:nvPr/>
        </p:nvPicPr>
        <p:blipFill>
          <a:blip r:embed="rId2"/>
          <a:stretch>
            <a:fillRect/>
          </a:stretch>
        </p:blipFill>
        <p:spPr>
          <a:xfrm>
            <a:off x="680314" y="3012034"/>
            <a:ext cx="285293" cy="285293"/>
          </a:xfrm>
          <a:prstGeom prst="rect">
            <a:avLst/>
          </a:prstGeom>
        </p:spPr>
      </p:pic>
      <p:sp>
        <p:nvSpPr>
          <p:cNvPr id="11" name="Text 6"/>
          <p:cNvSpPr/>
          <p:nvPr/>
        </p:nvSpPr>
        <p:spPr>
          <a:xfrm>
            <a:off x="1325880" y="2697480"/>
            <a:ext cx="461772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Issues + board</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to-do / in-progress / done — live backlog</a:t>
            </a:r>
            <a:endParaRPr lang="en-US" sz="1500" dirty="0"/>
          </a:p>
        </p:txBody>
      </p:sp>
      <p:sp>
        <p:nvSpPr>
          <p:cNvPr id="12" name="Shape 7"/>
          <p:cNvSpPr/>
          <p:nvPr/>
        </p:nvSpPr>
        <p:spPr>
          <a:xfrm>
            <a:off x="548640" y="3794760"/>
            <a:ext cx="548640" cy="548640"/>
          </a:xfrm>
          <a:prstGeom prst="ellipse">
            <a:avLst/>
          </a:prstGeom>
          <a:solidFill>
            <a:srgbClr val="1B2842"/>
          </a:solidFill>
          <a:ln/>
        </p:spPr>
      </p:sp>
      <p:pic>
        <p:nvPicPr>
          <p:cNvPr id="13" name="Image 2" descr="C:\Users\User\AppData\Local\Temp\claude\C--Users-User-OneDrive-Music-Hackathon\67e3d9e6-0718-4380-8c09-13d83fcd8fa7\scratchpad\pptbuild\v2\assets\icons\usercheck-cyan.png">    </p:cNvPr>
          <p:cNvPicPr>
            <a:picLocks noChangeAspect="1"/>
          </p:cNvPicPr>
          <p:nvPr/>
        </p:nvPicPr>
        <p:blipFill>
          <a:blip r:embed="rId3"/>
          <a:stretch>
            <a:fillRect/>
          </a:stretch>
        </p:blipFill>
        <p:spPr>
          <a:xfrm>
            <a:off x="680314" y="3926434"/>
            <a:ext cx="285293" cy="285293"/>
          </a:xfrm>
          <a:prstGeom prst="rect">
            <a:avLst/>
          </a:prstGeom>
        </p:spPr>
      </p:pic>
      <p:sp>
        <p:nvSpPr>
          <p:cNvPr id="14" name="Text 8"/>
          <p:cNvSpPr/>
          <p:nvPr/>
        </p:nvSpPr>
        <p:spPr>
          <a:xfrm>
            <a:off x="1325880" y="3611880"/>
            <a:ext cx="4617720" cy="91440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Owners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MoSCoW Musts → issues → board → owners</a:t>
            </a:r>
            <a:endParaRPr lang="en-US" sz="1500" dirty="0"/>
          </a:p>
        </p:txBody>
      </p:sp>
      <p:sp>
        <p:nvSpPr>
          <p:cNvPr id="15" name="Shape 9"/>
          <p:cNvSpPr/>
          <p:nvPr/>
        </p:nvSpPr>
        <p:spPr>
          <a:xfrm>
            <a:off x="548640" y="4892040"/>
            <a:ext cx="4389120" cy="420624"/>
          </a:xfrm>
          <a:prstGeom prst="roundRect">
            <a:avLst>
              <a:gd name="adj" fmla="val 15217"/>
            </a:avLst>
          </a:prstGeom>
          <a:solidFill>
            <a:srgbClr val="141E33"/>
          </a:solidFill>
          <a:ln/>
        </p:spPr>
      </p:sp>
      <p:sp>
        <p:nvSpPr>
          <p:cNvPr id="16" name="Text 10"/>
          <p:cNvSpPr/>
          <p:nvPr/>
        </p:nvSpPr>
        <p:spPr>
          <a:xfrm>
            <a:off x="603504" y="4892040"/>
            <a:ext cx="4279392" cy="420624"/>
          </a:xfrm>
          <a:prstGeom prst="rect">
            <a:avLst/>
          </a:prstGeom>
          <a:noFill/>
          <a:ln/>
        </p:spPr>
        <p:txBody>
          <a:bodyPr wrap="square" lIns="0" tIns="0" rIns="0" bIns="0" rtlCol="0" anchor="ctr"/>
          <a:lstStyle/>
          <a:p>
            <a:pPr algn="l" indent="0" marL="0">
              <a:buNone/>
            </a:pPr>
            <a:r>
              <a:rPr lang="en-US" sz="1300" dirty="0">
                <a:solidFill>
                  <a:srgbClr val="A3E635"/>
                </a:solidFill>
                <a:latin typeface="Consolas" pitchFamily="34" charset="0"/>
                <a:ea typeface="Consolas" pitchFamily="34" charset="-122"/>
                <a:cs typeface="Consolas" pitchFamily="34" charset="-120"/>
              </a:rPr>
              <a:t>&gt; anyone free pulls the next task</a:t>
            </a:r>
            <a:endParaRPr lang="en-US" sz="1300" dirty="0"/>
          </a:p>
        </p:txBody>
      </p:sp>
      <p:sp>
        <p:nvSpPr>
          <p:cNvPr id="17" name="Text 11"/>
          <p:cNvSpPr/>
          <p:nvPr/>
        </p:nvSpPr>
        <p:spPr>
          <a:xfrm>
            <a:off x="6263640" y="1371600"/>
            <a:ext cx="548640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MERGE CONFLICTS — 9.6</a:t>
            </a:r>
            <a:endParaRPr lang="en-US" sz="1400" dirty="0"/>
          </a:p>
        </p:txBody>
      </p:sp>
      <p:sp>
        <p:nvSpPr>
          <p:cNvPr id="18" name="Shape 12"/>
          <p:cNvSpPr/>
          <p:nvPr/>
        </p:nvSpPr>
        <p:spPr>
          <a:xfrm>
            <a:off x="6263640" y="1783080"/>
            <a:ext cx="5376672" cy="1554480"/>
          </a:xfrm>
          <a:prstGeom prst="roundRect">
            <a:avLst>
              <a:gd name="adj" fmla="val 5294"/>
            </a:avLst>
          </a:prstGeom>
          <a:solidFill>
            <a:srgbClr val="141E33"/>
          </a:solidFill>
          <a:ln/>
          <a:effectLst>
            <a:outerShdw sx="100000" sy="100000" kx="0" ky="0" algn="bl" rotWithShape="0" blurRad="114300" dist="38100" dir="5400000">
              <a:srgbClr val="000000">
                <a:alpha val="45000"/>
              </a:srgbClr>
            </a:outerShdw>
          </a:effectLst>
        </p:spPr>
      </p:sp>
      <p:sp>
        <p:nvSpPr>
          <p:cNvPr id="19" name="Text 13"/>
          <p:cNvSpPr/>
          <p:nvPr/>
        </p:nvSpPr>
        <p:spPr>
          <a:xfrm>
            <a:off x="6583680" y="1874520"/>
            <a:ext cx="4754880" cy="1371600"/>
          </a:xfrm>
          <a:prstGeom prst="rect">
            <a:avLst/>
          </a:prstGeom>
          <a:noFill/>
          <a:ln/>
        </p:spPr>
        <p:txBody>
          <a:bodyPr wrap="square" lIns="0" tIns="0" rIns="0" bIns="0" rtlCol="0" anchor="ctr"/>
          <a:lstStyle/>
          <a:p>
            <a:pPr indent="0" marL="0">
              <a:lnSpc>
                <a:spcPct val="112000"/>
              </a:lnSpc>
              <a:buNone/>
            </a:pPr>
            <a:r>
              <a:rPr lang="en-US" sz="1250" dirty="0">
                <a:solidFill>
                  <a:srgbClr val="F59E0B"/>
                </a:solidFill>
                <a:latin typeface="Consolas" pitchFamily="34" charset="0"/>
                <a:ea typeface="Consolas" pitchFamily="34" charset="-122"/>
                <a:cs typeface="Consolas" pitchFamily="34" charset="-120"/>
              </a:rPr>
              <a:t>&lt;&lt;&lt;&lt;&lt;&lt;&lt; HEAD
</a:t>
            </a:r>
            <a:pPr indent="0" marL="0">
              <a:lnSpc>
                <a:spcPct val="112000"/>
              </a:lnSpc>
              <a:buNone/>
            </a:pPr>
            <a:r>
              <a:rPr lang="en-US" sz="1250" dirty="0">
                <a:solidFill>
                  <a:srgbClr val="F1F5F9"/>
                </a:solidFill>
                <a:latin typeface="Consolas" pitchFamily="34" charset="0"/>
                <a:ea typeface="Consolas" pitchFamily="34" charset="-122"/>
                <a:cs typeface="Consolas" pitchFamily="34" charset="-120"/>
              </a:rPr>
              <a:t>your code
</a:t>
            </a:r>
            <a:pPr indent="0" marL="0">
              <a:lnSpc>
                <a:spcPct val="112000"/>
              </a:lnSpc>
              <a:buNone/>
            </a:pPr>
            <a:r>
              <a:rPr lang="en-US" sz="1250" dirty="0">
                <a:solidFill>
                  <a:srgbClr val="F59E0B"/>
                </a:solidFill>
                <a:latin typeface="Consolas" pitchFamily="34" charset="0"/>
                <a:ea typeface="Consolas" pitchFamily="34" charset="-122"/>
                <a:cs typeface="Consolas" pitchFamily="34" charset="-120"/>
              </a:rPr>
              <a:t>=======
</a:t>
            </a:r>
            <a:pPr indent="0" marL="0">
              <a:lnSpc>
                <a:spcPct val="112000"/>
              </a:lnSpc>
              <a:buNone/>
            </a:pPr>
            <a:r>
              <a:rPr lang="en-US" sz="1250" dirty="0">
                <a:solidFill>
                  <a:srgbClr val="F1F5F9"/>
                </a:solidFill>
                <a:latin typeface="Consolas" pitchFamily="34" charset="0"/>
                <a:ea typeface="Consolas" pitchFamily="34" charset="-122"/>
                <a:cs typeface="Consolas" pitchFamily="34" charset="-120"/>
              </a:rPr>
              <a:t>teammate's code
</a:t>
            </a:r>
            <a:pPr indent="0" marL="0">
              <a:lnSpc>
                <a:spcPct val="112000"/>
              </a:lnSpc>
              <a:buNone/>
            </a:pPr>
            <a:r>
              <a:rPr lang="en-US" sz="1250" dirty="0">
                <a:solidFill>
                  <a:srgbClr val="F59E0B"/>
                </a:solidFill>
                <a:latin typeface="Consolas" pitchFamily="34" charset="0"/>
                <a:ea typeface="Consolas" pitchFamily="34" charset="-122"/>
                <a:cs typeface="Consolas" pitchFamily="34" charset="-120"/>
              </a:rPr>
              <a:t>&gt;&gt;&gt;&gt;&gt;&gt;&gt; feature</a:t>
            </a:r>
            <a:endParaRPr lang="en-US" sz="1250" dirty="0"/>
          </a:p>
        </p:txBody>
      </p:sp>
      <p:sp>
        <p:nvSpPr>
          <p:cNvPr id="20" name="Text 14"/>
          <p:cNvSpPr/>
          <p:nvPr/>
        </p:nvSpPr>
        <p:spPr>
          <a:xfrm>
            <a:off x="6263640" y="3566160"/>
            <a:ext cx="5394960" cy="2194560"/>
          </a:xfrm>
          <a:prstGeom prst="rect">
            <a:avLst/>
          </a:prstGeom>
          <a:noFill/>
          <a:ln/>
        </p:spPr>
        <p:txBody>
          <a:bodyPr wrap="square" lIns="0" tIns="0" rIns="0" bIns="0" rtlCol="0" anchor="t"/>
          <a:lstStyle/>
          <a:p>
            <a:pPr algn="l" marL="177800" indent="-177800">
              <a:lnSpc>
                <a:spcPct val="110000"/>
              </a:lnSpc>
              <a:spcAft>
                <a:spcPts val="1000"/>
              </a:spcAft>
              <a:buSzPct val="100000"/>
              <a:buChar char="•"/>
            </a:pPr>
            <a:r>
              <a:rPr lang="en-US" sz="1450" b="1" dirty="0">
                <a:solidFill>
                  <a:srgbClr val="22D3EE"/>
                </a:solidFill>
                <a:latin typeface="Calibri" pitchFamily="34" charset="0"/>
                <a:ea typeface="Calibri" pitchFamily="34" charset="-122"/>
                <a:cs typeface="Calibri" pitchFamily="34" charset="-120"/>
              </a:rPr>
              <a:t>Prevent  </a:t>
            </a:r>
            <a:pPr algn="l" indent="0" marL="0">
              <a:lnSpc>
                <a:spcPct val="110000"/>
              </a:lnSpc>
              <a:spcAft>
                <a:spcPts val="1000"/>
              </a:spcAft>
              <a:buNone/>
            </a:pPr>
            <a:r>
              <a:rPr lang="en-US" sz="1450" dirty="0">
                <a:solidFill>
                  <a:srgbClr val="F1F5F9"/>
                </a:solidFill>
                <a:latin typeface="Calibri" pitchFamily="34" charset="0"/>
                <a:ea typeface="Calibri" pitchFamily="34" charset="-122"/>
                <a:cs typeface="Calibri" pitchFamily="34" charset="-120"/>
              </a:rPr>
              <a:t>small branches · frequent pulls · agreed folders</a:t>
            </a:r>
            <a:endParaRPr lang="en-US" sz="1450" dirty="0"/>
          </a:p>
          <a:p>
            <a:pPr algn="l" marL="177800" indent="-177800">
              <a:lnSpc>
                <a:spcPct val="110000"/>
              </a:lnSpc>
              <a:spcAft>
                <a:spcPts val="1000"/>
              </a:spcAft>
              <a:buSzPct val="100000"/>
              <a:buChar char="•"/>
            </a:pPr>
            <a:r>
              <a:rPr lang="en-US" sz="1450" b="1" dirty="0">
                <a:solidFill>
                  <a:srgbClr val="22D3EE"/>
                </a:solidFill>
                <a:latin typeface="Calibri" pitchFamily="34" charset="0"/>
                <a:ea typeface="Calibri" pitchFamily="34" charset="-122"/>
                <a:cs typeface="Calibri" pitchFamily="34" charset="-120"/>
              </a:rPr>
              <a:t>Resolve  </a:t>
            </a:r>
            <a:pPr algn="l" indent="0" marL="0">
              <a:lnSpc>
                <a:spcPct val="110000"/>
              </a:lnSpc>
              <a:spcAft>
                <a:spcPts val="1000"/>
              </a:spcAft>
              <a:buNone/>
            </a:pPr>
            <a:r>
              <a:rPr lang="en-US" sz="1450" dirty="0">
                <a:solidFill>
                  <a:srgbClr val="F1F5F9"/>
                </a:solidFill>
                <a:latin typeface="Calibri" pitchFamily="34" charset="0"/>
                <a:ea typeface="Calibri" pitchFamily="34" charset="-122"/>
                <a:cs typeface="Calibri" pitchFamily="34" charset="-120"/>
              </a:rPr>
              <a:t>pick the correct code → delete markers → commit</a:t>
            </a:r>
            <a:endParaRPr lang="en-US" sz="1450" dirty="0"/>
          </a:p>
          <a:p>
            <a:pPr algn="l" marL="177800" indent="-177800">
              <a:lnSpc>
                <a:spcPct val="110000"/>
              </a:lnSpc>
              <a:spcAft>
                <a:spcPts val="1000"/>
              </a:spcAft>
              <a:buSzPct val="100000"/>
              <a:buChar char="•"/>
            </a:pPr>
            <a:r>
              <a:rPr lang="en-US" sz="1450" b="1" dirty="0">
                <a:solidFill>
                  <a:srgbClr val="A3E635"/>
                </a:solidFill>
                <a:latin typeface="Calibri" pitchFamily="34" charset="0"/>
                <a:ea typeface="Calibri" pitchFamily="34" charset="-122"/>
                <a:cs typeface="Calibri" pitchFamily="34" charset="-120"/>
              </a:rPr>
              <a:t>Stay calm  </a:t>
            </a:r>
            <a:pPr algn="l" indent="0" marL="0">
              <a:lnSpc>
                <a:spcPct val="110000"/>
              </a:lnSpc>
              <a:spcAft>
                <a:spcPts val="1000"/>
              </a:spcAft>
              <a:buNone/>
            </a:pPr>
            <a:r>
              <a:rPr lang="en-US" sz="1450" dirty="0">
                <a:solidFill>
                  <a:srgbClr val="F1F5F9"/>
                </a:solidFill>
                <a:latin typeface="Calibri" pitchFamily="34" charset="0"/>
                <a:ea typeface="Calibri" pitchFamily="34" charset="-122"/>
                <a:cs typeface="Calibri" pitchFamily="34" charset="-120"/>
              </a:rPr>
              <a:t>conflicts are normal — resolve, test, continue</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10 — APIs, SDKs &amp; INTEGRATIONS</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API Auth, Rate Limits &amp; Cost</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47</a:t>
            </a:r>
            <a:endParaRPr lang="en-US" sz="1000" dirty="0"/>
          </a:p>
        </p:txBody>
      </p:sp>
      <p:sp>
        <p:nvSpPr>
          <p:cNvPr id="6" name="Text 3"/>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AUTH METHODS — 10.4</a:t>
            </a:r>
            <a:endParaRPr lang="en-US" sz="1400" dirty="0"/>
          </a:p>
        </p:txBody>
      </p:sp>
      <p:sp>
        <p:nvSpPr>
          <p:cNvPr id="7" name="Shape 4"/>
          <p:cNvSpPr/>
          <p:nvPr/>
        </p:nvSpPr>
        <p:spPr>
          <a:xfrm>
            <a:off x="548640" y="2016252"/>
            <a:ext cx="585216" cy="585216"/>
          </a:xfrm>
          <a:prstGeom prst="ellipse">
            <a:avLst/>
          </a:prstGeom>
          <a:solidFill>
            <a:srgbClr val="1B2842"/>
          </a:solidFill>
          <a:ln/>
        </p:spPr>
      </p:sp>
      <p:pic>
        <p:nvPicPr>
          <p:cNvPr id="8" name="Image 0" descr="C:\Users\User\AppData\Local\Temp\claude\C--Users-User-OneDrive-Music-Hackathon\67e3d9e6-0718-4380-8c09-13d83fcd8fa7\scratchpad\pptbuild\v2\assets\icons\key-cyan.png">    </p:cNvPr>
          <p:cNvPicPr>
            <a:picLocks noChangeAspect="1"/>
          </p:cNvPicPr>
          <p:nvPr/>
        </p:nvPicPr>
        <p:blipFill>
          <a:blip r:embed="rId1"/>
          <a:stretch>
            <a:fillRect/>
          </a:stretch>
        </p:blipFill>
        <p:spPr>
          <a:xfrm>
            <a:off x="689092" y="2156704"/>
            <a:ext cx="304312" cy="304312"/>
          </a:xfrm>
          <a:prstGeom prst="rect">
            <a:avLst/>
          </a:prstGeom>
        </p:spPr>
      </p:pic>
      <p:sp>
        <p:nvSpPr>
          <p:cNvPr id="9" name="Text 5"/>
          <p:cNvSpPr/>
          <p:nvPr/>
        </p:nvSpPr>
        <p:spPr>
          <a:xfrm>
            <a:off x="1362456" y="1783080"/>
            <a:ext cx="4581144" cy="10515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API key</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secret string per request — env var, never in code</a:t>
            </a:r>
            <a:endParaRPr lang="en-US" sz="1500" dirty="0"/>
          </a:p>
        </p:txBody>
      </p:sp>
      <p:sp>
        <p:nvSpPr>
          <p:cNvPr id="10" name="Shape 6"/>
          <p:cNvSpPr/>
          <p:nvPr/>
        </p:nvSpPr>
        <p:spPr>
          <a:xfrm>
            <a:off x="548640" y="3067812"/>
            <a:ext cx="585216" cy="585216"/>
          </a:xfrm>
          <a:prstGeom prst="ellipse">
            <a:avLst/>
          </a:prstGeom>
          <a:solidFill>
            <a:srgbClr val="1B2842"/>
          </a:solidFill>
          <a:ln/>
        </p:spPr>
      </p:sp>
      <p:pic>
        <p:nvPicPr>
          <p:cNvPr id="11" name="Image 1" descr="C:\Users\User\AppData\Local\Temp\claude\C--Users-User-OneDrive-Music-Hackathon\67e3d9e6-0718-4380-8c09-13d83fcd8fa7\scratchpad\pptbuild\v2\assets\icons\usercheck-cyan.png">    </p:cNvPr>
          <p:cNvPicPr>
            <a:picLocks noChangeAspect="1"/>
          </p:cNvPicPr>
          <p:nvPr/>
        </p:nvPicPr>
        <p:blipFill>
          <a:blip r:embed="rId2"/>
          <a:stretch>
            <a:fillRect/>
          </a:stretch>
        </p:blipFill>
        <p:spPr>
          <a:xfrm>
            <a:off x="689092" y="3208264"/>
            <a:ext cx="304312" cy="304312"/>
          </a:xfrm>
          <a:prstGeom prst="rect">
            <a:avLst/>
          </a:prstGeom>
        </p:spPr>
      </p:pic>
      <p:sp>
        <p:nvSpPr>
          <p:cNvPr id="12" name="Text 7"/>
          <p:cNvSpPr/>
          <p:nvPr/>
        </p:nvSpPr>
        <p:spPr>
          <a:xfrm>
            <a:off x="1362456" y="2834640"/>
            <a:ext cx="4581144" cy="10515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OAuth</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“sign in with Google” — no passwords shared. Use an SDK</a:t>
            </a:r>
            <a:endParaRPr lang="en-US" sz="1500" dirty="0"/>
          </a:p>
        </p:txBody>
      </p:sp>
      <p:sp>
        <p:nvSpPr>
          <p:cNvPr id="13" name="Shape 8"/>
          <p:cNvSpPr/>
          <p:nvPr/>
        </p:nvSpPr>
        <p:spPr>
          <a:xfrm>
            <a:off x="548640" y="4119372"/>
            <a:ext cx="585216" cy="585216"/>
          </a:xfrm>
          <a:prstGeom prst="ellipse">
            <a:avLst/>
          </a:prstGeom>
          <a:solidFill>
            <a:srgbClr val="1B2842"/>
          </a:solidFill>
          <a:ln/>
        </p:spPr>
      </p:sp>
      <p:pic>
        <p:nvPicPr>
          <p:cNvPr id="14" name="Image 2" descr="C:\Users\User\AppData\Local\Temp\claude\C--Users-User-OneDrive-Music-Hackathon\67e3d9e6-0718-4380-8c09-13d83fcd8fa7\scratchpad\pptbuild\v2\assets\icons\lock-cyan.png">    </p:cNvPr>
          <p:cNvPicPr>
            <a:picLocks noChangeAspect="1"/>
          </p:cNvPicPr>
          <p:nvPr/>
        </p:nvPicPr>
        <p:blipFill>
          <a:blip r:embed="rId3"/>
          <a:stretch>
            <a:fillRect/>
          </a:stretch>
        </p:blipFill>
        <p:spPr>
          <a:xfrm>
            <a:off x="689092" y="4259824"/>
            <a:ext cx="304312" cy="304312"/>
          </a:xfrm>
          <a:prstGeom prst="rect">
            <a:avLst/>
          </a:prstGeom>
        </p:spPr>
      </p:pic>
      <p:sp>
        <p:nvSpPr>
          <p:cNvPr id="15" name="Text 9"/>
          <p:cNvSpPr/>
          <p:nvPr/>
        </p:nvSpPr>
        <p:spPr>
          <a:xfrm>
            <a:off x="1362456" y="3886200"/>
            <a:ext cx="4581144" cy="105156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Bearer / JWT</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token in the request header proves identity</a:t>
            </a:r>
            <a:endParaRPr lang="en-US" sz="1500" dirty="0"/>
          </a:p>
        </p:txBody>
      </p:sp>
      <p:sp>
        <p:nvSpPr>
          <p:cNvPr id="16" name="Text 10"/>
          <p:cNvSpPr/>
          <p:nvPr/>
        </p:nvSpPr>
        <p:spPr>
          <a:xfrm>
            <a:off x="6263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RATE LIMITS &amp; COST — 10.6</a:t>
            </a:r>
            <a:endParaRPr lang="en-US" sz="1400" dirty="0"/>
          </a:p>
        </p:txBody>
      </p:sp>
      <p:sp>
        <p:nvSpPr>
          <p:cNvPr id="17" name="Text 11"/>
          <p:cNvSpPr/>
          <p:nvPr/>
        </p:nvSpPr>
        <p:spPr>
          <a:xfrm>
            <a:off x="6263640" y="1783080"/>
            <a:ext cx="5394960" cy="685800"/>
          </a:xfrm>
          <a:prstGeom prst="rect">
            <a:avLst/>
          </a:prstGeom>
          <a:noFill/>
          <a:ln/>
        </p:spPr>
        <p:txBody>
          <a:bodyPr wrap="square" lIns="0" tIns="0" rIns="0" bIns="0" rtlCol="0" anchor="ctr"/>
          <a:lstStyle/>
          <a:p>
            <a:pPr indent="0" marL="0">
              <a:buNone/>
            </a:pPr>
            <a:r>
              <a:rPr lang="en-US" sz="1450" b="1" dirty="0">
                <a:solidFill>
                  <a:srgbClr val="22D3EE"/>
                </a:solidFill>
                <a:latin typeface="Calibri" pitchFamily="34" charset="0"/>
                <a:ea typeface="Calibri" pitchFamily="34" charset="-122"/>
                <a:cs typeface="Calibri" pitchFamily="34" charset="-120"/>
              </a:rPr>
              <a:t>Rate limit </a:t>
            </a:r>
            <a:pPr indent="0" marL="0">
              <a:buNone/>
            </a:pPr>
            <a:r>
              <a:rPr lang="en-US" sz="1450" dirty="0">
                <a:solidFill>
                  <a:srgbClr val="F1F5F9"/>
                </a:solidFill>
                <a:latin typeface="Calibri" pitchFamily="34" charset="0"/>
                <a:ea typeface="Calibri" pitchFamily="34" charset="-122"/>
                <a:cs typeface="Calibri" pitchFamily="34" charset="-120"/>
              </a:rPr>
              <a:t>= call cap per window — exceed → 429 errors. Check limits before a live demo.</a:t>
            </a:r>
            <a:endParaRPr lang="en-US" sz="1450" dirty="0"/>
          </a:p>
        </p:txBody>
      </p:sp>
      <p:sp>
        <p:nvSpPr>
          <p:cNvPr id="18" name="Shape 12"/>
          <p:cNvSpPr/>
          <p:nvPr/>
        </p:nvSpPr>
        <p:spPr>
          <a:xfrm>
            <a:off x="6263640" y="2606040"/>
            <a:ext cx="2551176" cy="1463040"/>
          </a:xfrm>
          <a:prstGeom prst="roundRect">
            <a:avLst>
              <a:gd name="adj" fmla="val 5625"/>
            </a:avLst>
          </a:prstGeom>
          <a:solidFill>
            <a:srgbClr val="141E33"/>
          </a:solidFill>
          <a:ln/>
          <a:effectLst>
            <a:outerShdw sx="100000" sy="100000" kx="0" ky="0" algn="bl" rotWithShape="0" blurRad="114300" dist="38100" dir="5400000">
              <a:srgbClr val="000000">
                <a:alpha val="45000"/>
              </a:srgbClr>
            </a:outerShdw>
          </a:effectLst>
        </p:spPr>
      </p:sp>
      <p:sp>
        <p:nvSpPr>
          <p:cNvPr id="19" name="Shape 13"/>
          <p:cNvSpPr/>
          <p:nvPr/>
        </p:nvSpPr>
        <p:spPr>
          <a:xfrm>
            <a:off x="6501384" y="2843784"/>
            <a:ext cx="512064" cy="512064"/>
          </a:xfrm>
          <a:prstGeom prst="ellipse">
            <a:avLst/>
          </a:prstGeom>
          <a:solidFill>
            <a:srgbClr val="1B2842"/>
          </a:solidFill>
          <a:ln/>
        </p:spPr>
      </p:sp>
      <p:pic>
        <p:nvPicPr>
          <p:cNvPr id="20" name="Image 3" descr="C:\Users\User\AppData\Local\Temp\claude\C--Users-User-OneDrive-Music-Hackathon\67e3d9e6-0718-4380-8c09-13d83fcd8fa7\scratchpad\pptbuild\v2\assets\icons\package-cyan.png">    </p:cNvPr>
          <p:cNvPicPr>
            <a:picLocks noChangeAspect="1"/>
          </p:cNvPicPr>
          <p:nvPr/>
        </p:nvPicPr>
        <p:blipFill>
          <a:blip r:embed="rId4"/>
          <a:stretch>
            <a:fillRect/>
          </a:stretch>
        </p:blipFill>
        <p:spPr>
          <a:xfrm>
            <a:off x="6624279" y="2966679"/>
            <a:ext cx="266273" cy="266273"/>
          </a:xfrm>
          <a:prstGeom prst="rect">
            <a:avLst/>
          </a:prstGeom>
        </p:spPr>
      </p:pic>
      <p:sp>
        <p:nvSpPr>
          <p:cNvPr id="21" name="Text 14"/>
          <p:cNvSpPr/>
          <p:nvPr/>
        </p:nvSpPr>
        <p:spPr>
          <a:xfrm>
            <a:off x="6501384" y="3465576"/>
            <a:ext cx="2075688" cy="466344"/>
          </a:xfrm>
          <a:prstGeom prst="rect">
            <a:avLst/>
          </a:prstGeom>
          <a:noFill/>
          <a:ln/>
        </p:spPr>
        <p:txBody>
          <a:bodyPr wrap="square" lIns="0" tIns="0" rIns="0" bIns="0" rtlCol="0" anchor="t"/>
          <a:lstStyle/>
          <a:p>
            <a:pPr indent="0" marL="0">
              <a:lnSpc>
                <a:spcPct val="106000"/>
              </a:lnSpc>
              <a:spcAft>
                <a:spcPts val="400"/>
              </a:spcAft>
              <a:buNone/>
            </a:pPr>
            <a:r>
              <a:rPr lang="en-US" sz="1450" b="1" dirty="0">
                <a:solidFill>
                  <a:srgbClr val="F1F5F9"/>
                </a:solidFill>
                <a:latin typeface="Calibri" pitchFamily="34" charset="0"/>
                <a:ea typeface="Calibri" pitchFamily="34" charset="-122"/>
                <a:cs typeface="Calibri" pitchFamily="34" charset="-120"/>
              </a:rPr>
              <a:t>Cache</a:t>
            </a:r>
            <a:endParaRPr lang="en-US" sz="1450" dirty="0"/>
          </a:p>
          <a:p>
            <a:pPr indent="0" marL="0">
              <a:lnSpc>
                <a:spcPct val="106000"/>
              </a:lnSpc>
              <a:buNone/>
            </a:pPr>
            <a:r>
              <a:rPr lang="en-US" sz="1200" dirty="0">
                <a:solidFill>
                  <a:srgbClr val="7C8CA5"/>
                </a:solidFill>
                <a:latin typeface="Calibri" pitchFamily="34" charset="0"/>
                <a:ea typeface="Calibri" pitchFamily="34" charset="-122"/>
                <a:cs typeface="Calibri" pitchFamily="34" charset="-120"/>
              </a:rPr>
              <a:t>repeats don't re-call</a:t>
            </a:r>
            <a:endParaRPr lang="en-US" sz="1450" dirty="0"/>
          </a:p>
        </p:txBody>
      </p:sp>
      <p:sp>
        <p:nvSpPr>
          <p:cNvPr id="22" name="Shape 15"/>
          <p:cNvSpPr/>
          <p:nvPr/>
        </p:nvSpPr>
        <p:spPr>
          <a:xfrm>
            <a:off x="9089136" y="2606040"/>
            <a:ext cx="2551176" cy="1463040"/>
          </a:xfrm>
          <a:prstGeom prst="roundRect">
            <a:avLst>
              <a:gd name="adj" fmla="val 5625"/>
            </a:avLst>
          </a:prstGeom>
          <a:solidFill>
            <a:srgbClr val="141E33"/>
          </a:solidFill>
          <a:ln/>
          <a:effectLst>
            <a:outerShdw sx="100000" sy="100000" kx="0" ky="0" algn="bl" rotWithShape="0" blurRad="114300" dist="38100" dir="5400000">
              <a:srgbClr val="000000">
                <a:alpha val="45000"/>
              </a:srgbClr>
            </a:outerShdw>
          </a:effectLst>
        </p:spPr>
      </p:sp>
      <p:sp>
        <p:nvSpPr>
          <p:cNvPr id="23" name="Shape 16"/>
          <p:cNvSpPr/>
          <p:nvPr/>
        </p:nvSpPr>
        <p:spPr>
          <a:xfrm>
            <a:off x="9326880" y="2843784"/>
            <a:ext cx="512064" cy="512064"/>
          </a:xfrm>
          <a:prstGeom prst="ellipse">
            <a:avLst/>
          </a:prstGeom>
          <a:solidFill>
            <a:srgbClr val="1B2842"/>
          </a:solidFill>
          <a:ln/>
        </p:spPr>
      </p:sp>
      <p:pic>
        <p:nvPicPr>
          <p:cNvPr id="24" name="Image 4" descr="C:\Users\User\AppData\Local\Temp\claude\C--Users-User-OneDrive-Music-Hackathon\67e3d9e6-0718-4380-8c09-13d83fcd8fa7\scratchpad\pptbuild\v2\assets\icons\box-cyan.png">    </p:cNvPr>
          <p:cNvPicPr>
            <a:picLocks noChangeAspect="1"/>
          </p:cNvPicPr>
          <p:nvPr/>
        </p:nvPicPr>
        <p:blipFill>
          <a:blip r:embed="rId5"/>
          <a:stretch>
            <a:fillRect/>
          </a:stretch>
        </p:blipFill>
        <p:spPr>
          <a:xfrm>
            <a:off x="9449775" y="2966679"/>
            <a:ext cx="266273" cy="266273"/>
          </a:xfrm>
          <a:prstGeom prst="rect">
            <a:avLst/>
          </a:prstGeom>
        </p:spPr>
      </p:pic>
      <p:sp>
        <p:nvSpPr>
          <p:cNvPr id="25" name="Text 17"/>
          <p:cNvSpPr/>
          <p:nvPr/>
        </p:nvSpPr>
        <p:spPr>
          <a:xfrm>
            <a:off x="9326880" y="3465576"/>
            <a:ext cx="2075688" cy="466344"/>
          </a:xfrm>
          <a:prstGeom prst="rect">
            <a:avLst/>
          </a:prstGeom>
          <a:noFill/>
          <a:ln/>
        </p:spPr>
        <p:txBody>
          <a:bodyPr wrap="square" lIns="0" tIns="0" rIns="0" bIns="0" rtlCol="0" anchor="t"/>
          <a:lstStyle/>
          <a:p>
            <a:pPr indent="0" marL="0">
              <a:lnSpc>
                <a:spcPct val="106000"/>
              </a:lnSpc>
              <a:spcAft>
                <a:spcPts val="400"/>
              </a:spcAft>
              <a:buNone/>
            </a:pPr>
            <a:r>
              <a:rPr lang="en-US" sz="1450" b="1" dirty="0">
                <a:solidFill>
                  <a:srgbClr val="F1F5F9"/>
                </a:solidFill>
                <a:latin typeface="Calibri" pitchFamily="34" charset="0"/>
                <a:ea typeface="Calibri" pitchFamily="34" charset="-122"/>
                <a:cs typeface="Calibri" pitchFamily="34" charset="-120"/>
              </a:rPr>
              <a:t>Batch</a:t>
            </a:r>
            <a:endParaRPr lang="en-US" sz="1450" dirty="0"/>
          </a:p>
          <a:p>
            <a:pPr indent="0" marL="0">
              <a:lnSpc>
                <a:spcPct val="106000"/>
              </a:lnSpc>
              <a:buNone/>
            </a:pPr>
            <a:r>
              <a:rPr lang="en-US" sz="1200" dirty="0">
                <a:solidFill>
                  <a:srgbClr val="7C8CA5"/>
                </a:solidFill>
                <a:latin typeface="Calibri" pitchFamily="34" charset="0"/>
                <a:ea typeface="Calibri" pitchFamily="34" charset="-122"/>
                <a:cs typeface="Calibri" pitchFamily="34" charset="-120"/>
              </a:rPr>
              <a:t>group requests</a:t>
            </a:r>
            <a:endParaRPr lang="en-US" sz="1450" dirty="0"/>
          </a:p>
        </p:txBody>
      </p:sp>
      <p:sp>
        <p:nvSpPr>
          <p:cNvPr id="26" name="Shape 18"/>
          <p:cNvSpPr/>
          <p:nvPr/>
        </p:nvSpPr>
        <p:spPr>
          <a:xfrm>
            <a:off x="6263640" y="4343400"/>
            <a:ext cx="2551176" cy="1463040"/>
          </a:xfrm>
          <a:prstGeom prst="roundRect">
            <a:avLst>
              <a:gd name="adj" fmla="val 5625"/>
            </a:avLst>
          </a:prstGeom>
          <a:solidFill>
            <a:srgbClr val="141E33"/>
          </a:solidFill>
          <a:ln/>
          <a:effectLst>
            <a:outerShdw sx="100000" sy="100000" kx="0" ky="0" algn="bl" rotWithShape="0" blurRad="114300" dist="38100" dir="5400000">
              <a:srgbClr val="000000">
                <a:alpha val="45000"/>
              </a:srgbClr>
            </a:outerShdw>
          </a:effectLst>
        </p:spPr>
      </p:sp>
      <p:sp>
        <p:nvSpPr>
          <p:cNvPr id="27" name="Shape 19"/>
          <p:cNvSpPr/>
          <p:nvPr/>
        </p:nvSpPr>
        <p:spPr>
          <a:xfrm>
            <a:off x="6501384" y="4581144"/>
            <a:ext cx="512064" cy="512064"/>
          </a:xfrm>
          <a:prstGeom prst="ellipse">
            <a:avLst/>
          </a:prstGeom>
          <a:solidFill>
            <a:srgbClr val="1B2842"/>
          </a:solidFill>
          <a:ln/>
        </p:spPr>
      </p:sp>
      <p:pic>
        <p:nvPicPr>
          <p:cNvPr id="28" name="Image 5" descr="C:\Users\User\AppData\Local\Temp\claude\C--Users-User-OneDrive-Music-Hackathon\67e3d9e6-0718-4380-8c09-13d83fcd8fa7\scratchpad\pptbuild\v2\assets\icons\play-cyan.png">    </p:cNvPr>
          <p:cNvPicPr>
            <a:picLocks noChangeAspect="1"/>
          </p:cNvPicPr>
          <p:nvPr/>
        </p:nvPicPr>
        <p:blipFill>
          <a:blip r:embed="rId6"/>
          <a:stretch>
            <a:fillRect/>
          </a:stretch>
        </p:blipFill>
        <p:spPr>
          <a:xfrm>
            <a:off x="6624279" y="4704039"/>
            <a:ext cx="266273" cy="266273"/>
          </a:xfrm>
          <a:prstGeom prst="rect">
            <a:avLst/>
          </a:prstGeom>
        </p:spPr>
      </p:pic>
      <p:sp>
        <p:nvSpPr>
          <p:cNvPr id="29" name="Text 20"/>
          <p:cNvSpPr/>
          <p:nvPr/>
        </p:nvSpPr>
        <p:spPr>
          <a:xfrm>
            <a:off x="6501384" y="5202936"/>
            <a:ext cx="2075688" cy="466344"/>
          </a:xfrm>
          <a:prstGeom prst="rect">
            <a:avLst/>
          </a:prstGeom>
          <a:noFill/>
          <a:ln/>
        </p:spPr>
        <p:txBody>
          <a:bodyPr wrap="square" lIns="0" tIns="0" rIns="0" bIns="0" rtlCol="0" anchor="t"/>
          <a:lstStyle/>
          <a:p>
            <a:pPr indent="0" marL="0">
              <a:lnSpc>
                <a:spcPct val="106000"/>
              </a:lnSpc>
              <a:spcAft>
                <a:spcPts val="400"/>
              </a:spcAft>
              <a:buNone/>
            </a:pPr>
            <a:r>
              <a:rPr lang="en-US" sz="1450" b="1" dirty="0">
                <a:solidFill>
                  <a:srgbClr val="F1F5F9"/>
                </a:solidFill>
                <a:latin typeface="Calibri" pitchFamily="34" charset="0"/>
                <a:ea typeface="Calibri" pitchFamily="34" charset="-122"/>
                <a:cs typeface="Calibri" pitchFamily="34" charset="-120"/>
              </a:rPr>
              <a:t>Pre-generate</a:t>
            </a:r>
            <a:endParaRPr lang="en-US" sz="1450" dirty="0"/>
          </a:p>
          <a:p>
            <a:pPr indent="0" marL="0">
              <a:lnSpc>
                <a:spcPct val="106000"/>
              </a:lnSpc>
              <a:buNone/>
            </a:pPr>
            <a:r>
              <a:rPr lang="en-US" sz="1200" dirty="0">
                <a:solidFill>
                  <a:srgbClr val="7C8CA5"/>
                </a:solidFill>
                <a:latin typeface="Calibri" pitchFamily="34" charset="0"/>
                <a:ea typeface="Calibri" pitchFamily="34" charset="-122"/>
                <a:cs typeface="Calibri" pitchFamily="34" charset="-120"/>
              </a:rPr>
              <a:t>few live calls in the demo</a:t>
            </a:r>
            <a:endParaRPr lang="en-US" sz="1450" dirty="0"/>
          </a:p>
        </p:txBody>
      </p:sp>
      <p:sp>
        <p:nvSpPr>
          <p:cNvPr id="30" name="Shape 21"/>
          <p:cNvSpPr/>
          <p:nvPr/>
        </p:nvSpPr>
        <p:spPr>
          <a:xfrm>
            <a:off x="9089136" y="4343400"/>
            <a:ext cx="2551176" cy="1463040"/>
          </a:xfrm>
          <a:prstGeom prst="roundRect">
            <a:avLst>
              <a:gd name="adj" fmla="val 5625"/>
            </a:avLst>
          </a:prstGeom>
          <a:solidFill>
            <a:srgbClr val="141E33"/>
          </a:solidFill>
          <a:ln/>
          <a:effectLst>
            <a:outerShdw sx="100000" sy="100000" kx="0" ky="0" algn="bl" rotWithShape="0" blurRad="114300" dist="38100" dir="5400000">
              <a:srgbClr val="000000">
                <a:alpha val="45000"/>
              </a:srgbClr>
            </a:outerShdw>
          </a:effectLst>
        </p:spPr>
      </p:sp>
      <p:sp>
        <p:nvSpPr>
          <p:cNvPr id="31" name="Shape 22"/>
          <p:cNvSpPr/>
          <p:nvPr/>
        </p:nvSpPr>
        <p:spPr>
          <a:xfrm>
            <a:off x="9326880" y="4581144"/>
            <a:ext cx="512064" cy="512064"/>
          </a:xfrm>
          <a:prstGeom prst="ellipse">
            <a:avLst/>
          </a:prstGeom>
          <a:solidFill>
            <a:srgbClr val="1B2842"/>
          </a:solidFill>
          <a:ln/>
        </p:spPr>
      </p:sp>
      <p:pic>
        <p:nvPicPr>
          <p:cNvPr id="32" name="Image 6" descr="C:\Users\User\AppData\Local\Temp\claude\C--Users-User-OneDrive-Music-Hackathon\67e3d9e6-0718-4380-8c09-13d83fcd8fa7\scratchpad\pptbuild\v2\assets\icons\shieldcheck-cyan.png">    </p:cNvPr>
          <p:cNvPicPr>
            <a:picLocks noChangeAspect="1"/>
          </p:cNvPicPr>
          <p:nvPr/>
        </p:nvPicPr>
        <p:blipFill>
          <a:blip r:embed="rId7"/>
          <a:stretch>
            <a:fillRect/>
          </a:stretch>
        </p:blipFill>
        <p:spPr>
          <a:xfrm>
            <a:off x="9449775" y="4704039"/>
            <a:ext cx="266273" cy="266273"/>
          </a:xfrm>
          <a:prstGeom prst="rect">
            <a:avLst/>
          </a:prstGeom>
        </p:spPr>
      </p:pic>
      <p:sp>
        <p:nvSpPr>
          <p:cNvPr id="33" name="Text 23"/>
          <p:cNvSpPr/>
          <p:nvPr/>
        </p:nvSpPr>
        <p:spPr>
          <a:xfrm>
            <a:off x="9326880" y="5202936"/>
            <a:ext cx="2075688" cy="466344"/>
          </a:xfrm>
          <a:prstGeom prst="rect">
            <a:avLst/>
          </a:prstGeom>
          <a:noFill/>
          <a:ln/>
        </p:spPr>
        <p:txBody>
          <a:bodyPr wrap="square" lIns="0" tIns="0" rIns="0" bIns="0" rtlCol="0" anchor="t"/>
          <a:lstStyle/>
          <a:p>
            <a:pPr indent="0" marL="0">
              <a:lnSpc>
                <a:spcPct val="106000"/>
              </a:lnSpc>
              <a:spcAft>
                <a:spcPts val="400"/>
              </a:spcAft>
              <a:buNone/>
            </a:pPr>
            <a:r>
              <a:rPr lang="en-US" sz="1450" b="1" dirty="0">
                <a:solidFill>
                  <a:srgbClr val="A3E635"/>
                </a:solidFill>
                <a:latin typeface="Calibri" pitchFamily="34" charset="0"/>
                <a:ea typeface="Calibri" pitchFamily="34" charset="-122"/>
                <a:cs typeface="Calibri" pitchFamily="34" charset="-120"/>
              </a:rPr>
              <a:t>Fallback / mock</a:t>
            </a:r>
            <a:endParaRPr lang="en-US" sz="1450" dirty="0"/>
          </a:p>
          <a:p>
            <a:pPr indent="0" marL="0">
              <a:lnSpc>
                <a:spcPct val="106000"/>
              </a:lnSpc>
              <a:buNone/>
            </a:pPr>
            <a:r>
              <a:rPr lang="en-US" sz="1200" dirty="0">
                <a:solidFill>
                  <a:srgbClr val="7C8CA5"/>
                </a:solidFill>
                <a:latin typeface="Calibri" pitchFamily="34" charset="0"/>
                <a:ea typeface="Calibri" pitchFamily="34" charset="-122"/>
                <a:cs typeface="Calibri" pitchFamily="34" charset="-120"/>
              </a:rPr>
              <a:t>API dies ≠ demo dies</a:t>
            </a:r>
            <a:endParaRPr lang="en-US" sz="14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Integration Cheat-Sheet</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48</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606040"/>
                <a:gridCol w="4828032"/>
                <a:gridCol w="3657600"/>
              </a:tblGrid>
              <a:tr h="484632">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Need</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Typical integration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Note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Login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Firebase / Supabase Auth · Auth0 · Clerk</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59E0B"/>
                          </a:solidFill>
                          <a:latin typeface="Calibri" pitchFamily="34" charset="0"/>
                          <a:ea typeface="Calibri" pitchFamily="34" charset="-122"/>
                          <a:cs typeface="Calibri" pitchFamily="34" charset="-120"/>
                        </a:rPr>
                        <a:t>Don't build auth</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Payments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Stripe (test / sandbox)</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59E0B"/>
                          </a:solidFill>
                          <a:latin typeface="Calibri" pitchFamily="34" charset="0"/>
                          <a:ea typeface="Calibri" pitchFamily="34" charset="-122"/>
                          <a:cs typeface="Calibri" pitchFamily="34" charset="-120"/>
                        </a:rPr>
                        <a:t>Never real cards in a demo</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Maps / location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Google Maps · Mapbox</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Free tiers · watch key limits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Email</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Resend · SendGrid</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Simple API-key send</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SMS / notifications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Twilio · push services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Trial credit / sandbox</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Messaging / chat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Firebase · Ably · Pusher</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Live chat &amp; updates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File storage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Firebase / Supabase · S3</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Images &amp; uploads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484632">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AI — text · vision · speech</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onsolas" pitchFamily="34" charset="0"/>
                          <a:ea typeface="Consolas" pitchFamily="34" charset="-122"/>
                          <a:cs typeface="Consolas" pitchFamily="34" charset="-120"/>
                        </a:rPr>
                        <a:t>LLM / vision / speech APIs</a:t>
                      </a:r>
                      <a:endParaRPr lang="en-US" sz="140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22D3EE"/>
                          </a:solidFill>
                          <a:latin typeface="Calibri" pitchFamily="34" charset="0"/>
                          <a:ea typeface="Calibri" pitchFamily="34" charset="-122"/>
                          <a:cs typeface="Calibri" pitchFamily="34" charset="-120"/>
                        </a:rPr>
                        <a:t>→ Module 11</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6" name="Text 2"/>
          <p:cNvSpPr/>
          <p:nvPr/>
        </p:nvSpPr>
        <p:spPr>
          <a:xfrm>
            <a:off x="548640" y="5943600"/>
            <a:ext cx="11091672" cy="292608"/>
          </a:xfrm>
          <a:prstGeom prst="rect">
            <a:avLst/>
          </a:prstGeom>
          <a:noFill/>
          <a:ln/>
        </p:spPr>
        <p:txBody>
          <a:bodyPr wrap="square" lIns="0" tIns="0" rIns="0" bIns="0" rtlCol="0" anchor="ctr"/>
          <a:lstStyle/>
          <a:p>
            <a:pPr algn="ctr" indent="0" marL="0">
              <a:buNone/>
            </a:pPr>
            <a:r>
              <a:rPr lang="en-US" sz="1350" i="1" dirty="0">
                <a:solidFill>
                  <a:srgbClr val="7C8CA5"/>
                </a:solidFill>
                <a:latin typeface="Calibri" pitchFamily="34" charset="0"/>
                <a:ea typeface="Calibri" pitchFamily="34" charset="-122"/>
                <a:cs typeface="Calibri" pitchFamily="34" charset="-120"/>
              </a:rPr>
              <a:t>Integrate, don't reinvent — save your hours for the core innovation.</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AI API Families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49</a:t>
            </a:r>
            <a:endParaRPr lang="en-US" sz="1000" dirty="0"/>
          </a:p>
        </p:txBody>
      </p:sp>
      <p:sp>
        <p:nvSpPr>
          <p:cNvPr id="5" name="Shape 2"/>
          <p:cNvSpPr/>
          <p:nvPr/>
        </p:nvSpPr>
        <p:spPr>
          <a:xfrm>
            <a:off x="548640"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4650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message-cyan.png">    </p:cNvPr>
          <p:cNvPicPr>
            <a:picLocks noChangeAspect="1"/>
          </p:cNvPicPr>
          <p:nvPr/>
        </p:nvPicPr>
        <p:blipFill>
          <a:blip r:embed="rId1"/>
          <a:stretch>
            <a:fillRect/>
          </a:stretch>
        </p:blipFill>
        <p:spPr>
          <a:xfrm>
            <a:off x="931225" y="1891345"/>
            <a:ext cx="313822" cy="313822"/>
          </a:xfrm>
          <a:prstGeom prst="rect">
            <a:avLst/>
          </a:prstGeom>
        </p:spPr>
      </p:pic>
      <p:sp>
        <p:nvSpPr>
          <p:cNvPr id="8" name="Text 4"/>
          <p:cNvSpPr/>
          <p:nvPr/>
        </p:nvSpPr>
        <p:spPr>
          <a:xfrm>
            <a:off x="786384"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LLM</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chat · summarize · extract</a:t>
            </a:r>
            <a:endParaRPr lang="en-US" sz="1600" dirty="0"/>
          </a:p>
        </p:txBody>
      </p:sp>
      <p:sp>
        <p:nvSpPr>
          <p:cNvPr id="9" name="Shape 5"/>
          <p:cNvSpPr/>
          <p:nvPr/>
        </p:nvSpPr>
        <p:spPr>
          <a:xfrm>
            <a:off x="4337304"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74650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eye-cyan.png">    </p:cNvPr>
          <p:cNvPicPr>
            <a:picLocks noChangeAspect="1"/>
          </p:cNvPicPr>
          <p:nvPr/>
        </p:nvPicPr>
        <p:blipFill>
          <a:blip r:embed="rId2"/>
          <a:stretch>
            <a:fillRect/>
          </a:stretch>
        </p:blipFill>
        <p:spPr>
          <a:xfrm>
            <a:off x="4719889" y="1891345"/>
            <a:ext cx="313822" cy="313822"/>
          </a:xfrm>
          <a:prstGeom prst="rect">
            <a:avLst/>
          </a:prstGeom>
        </p:spPr>
      </p:pic>
      <p:sp>
        <p:nvSpPr>
          <p:cNvPr id="12" name="Text 7"/>
          <p:cNvSpPr/>
          <p:nvPr/>
        </p:nvSpPr>
        <p:spPr>
          <a:xfrm>
            <a:off x="4575048"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Vision</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labels · OCR · detection</a:t>
            </a:r>
            <a:endParaRPr lang="en-US" sz="1600" dirty="0"/>
          </a:p>
        </p:txBody>
      </p:sp>
      <p:sp>
        <p:nvSpPr>
          <p:cNvPr id="13" name="Shape 8"/>
          <p:cNvSpPr/>
          <p:nvPr/>
        </p:nvSpPr>
        <p:spPr>
          <a:xfrm>
            <a:off x="8125968"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74650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mic-cyan.png">    </p:cNvPr>
          <p:cNvPicPr>
            <a:picLocks noChangeAspect="1"/>
          </p:cNvPicPr>
          <p:nvPr/>
        </p:nvPicPr>
        <p:blipFill>
          <a:blip r:embed="rId3"/>
          <a:stretch>
            <a:fillRect/>
          </a:stretch>
        </p:blipFill>
        <p:spPr>
          <a:xfrm>
            <a:off x="8508553" y="1891345"/>
            <a:ext cx="313822" cy="313822"/>
          </a:xfrm>
          <a:prstGeom prst="rect">
            <a:avLst/>
          </a:prstGeom>
        </p:spPr>
      </p:pic>
      <p:sp>
        <p:nvSpPr>
          <p:cNvPr id="16" name="Text 10"/>
          <p:cNvSpPr/>
          <p:nvPr/>
        </p:nvSpPr>
        <p:spPr>
          <a:xfrm>
            <a:off x="8363712"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Speech</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speech-to-text · text-to-speech</a:t>
            </a:r>
            <a:endParaRPr lang="en-US" sz="1600" dirty="0"/>
          </a:p>
        </p:txBody>
      </p:sp>
      <p:sp>
        <p:nvSpPr>
          <p:cNvPr id="17" name="Shape 11"/>
          <p:cNvSpPr/>
          <p:nvPr/>
        </p:nvSpPr>
        <p:spPr>
          <a:xfrm>
            <a:off x="548640"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786384" y="4123944"/>
            <a:ext cx="603504" cy="603504"/>
          </a:xfrm>
          <a:prstGeom prst="ellipse">
            <a:avLst/>
          </a:prstGeom>
          <a:solidFill>
            <a:srgbClr val="1B2842"/>
          </a:solidFill>
          <a:ln/>
        </p:spPr>
      </p:sp>
      <p:pic>
        <p:nvPicPr>
          <p:cNvPr id="19" name="Image 3" descr="C:\Users\User\AppData\Local\Temp\claude\C--Users-User-OneDrive-Music-Hackathon\67e3d9e6-0718-4380-8c09-13d83fcd8fa7\scratchpad\pptbuild\v2\assets\icons\languages-cyan.png">    </p:cNvPr>
          <p:cNvPicPr>
            <a:picLocks noChangeAspect="1"/>
          </p:cNvPicPr>
          <p:nvPr/>
        </p:nvPicPr>
        <p:blipFill>
          <a:blip r:embed="rId4"/>
          <a:stretch>
            <a:fillRect/>
          </a:stretch>
        </p:blipFill>
        <p:spPr>
          <a:xfrm>
            <a:off x="931225" y="4268785"/>
            <a:ext cx="313822" cy="313822"/>
          </a:xfrm>
          <a:prstGeom prst="rect">
            <a:avLst/>
          </a:prstGeom>
        </p:spPr>
      </p:pic>
      <p:sp>
        <p:nvSpPr>
          <p:cNvPr id="20" name="Text 13"/>
          <p:cNvSpPr/>
          <p:nvPr/>
        </p:nvSpPr>
        <p:spPr>
          <a:xfrm>
            <a:off x="786384"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Translation</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language ↔ language</a:t>
            </a:r>
            <a:endParaRPr lang="en-US" sz="1600" dirty="0"/>
          </a:p>
        </p:txBody>
      </p:sp>
      <p:sp>
        <p:nvSpPr>
          <p:cNvPr id="21" name="Shape 14"/>
          <p:cNvSpPr/>
          <p:nvPr/>
        </p:nvSpPr>
        <p:spPr>
          <a:xfrm>
            <a:off x="4337304"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4575048" y="4123944"/>
            <a:ext cx="603504" cy="603504"/>
          </a:xfrm>
          <a:prstGeom prst="ellipse">
            <a:avLst/>
          </a:prstGeom>
          <a:solidFill>
            <a:srgbClr val="1B2842"/>
          </a:solidFill>
          <a:ln/>
        </p:spPr>
      </p:sp>
      <p:pic>
        <p:nvPicPr>
          <p:cNvPr id="23" name="Image 4" descr="C:\Users\User\AppData\Local\Temp\claude\C--Users-User-OneDrive-Music-Hackathon\67e3d9e6-0718-4380-8c09-13d83fcd8fa7\scratchpad\pptbuild\v2\assets\icons\cloud-cyan.png">    </p:cNvPr>
          <p:cNvPicPr>
            <a:picLocks noChangeAspect="1"/>
          </p:cNvPicPr>
          <p:nvPr/>
        </p:nvPicPr>
        <p:blipFill>
          <a:blip r:embed="rId5"/>
          <a:stretch>
            <a:fillRect/>
          </a:stretch>
        </p:blipFill>
        <p:spPr>
          <a:xfrm>
            <a:off x="4719889" y="4268785"/>
            <a:ext cx="313822" cy="313822"/>
          </a:xfrm>
          <a:prstGeom prst="rect">
            <a:avLst/>
          </a:prstGeom>
        </p:spPr>
      </p:pic>
      <p:sp>
        <p:nvSpPr>
          <p:cNvPr id="24" name="Text 16"/>
          <p:cNvSpPr/>
          <p:nvPr/>
        </p:nvSpPr>
        <p:spPr>
          <a:xfrm>
            <a:off x="4575048"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Cloud AI bundles</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all of the above, one vendor</a:t>
            </a:r>
            <a:endParaRPr lang="en-US" sz="1600" dirty="0"/>
          </a:p>
        </p:txBody>
      </p:sp>
      <p:sp>
        <p:nvSpPr>
          <p:cNvPr id="25" name="Shape 17"/>
          <p:cNvSpPr/>
          <p:nvPr/>
        </p:nvSpPr>
        <p:spPr>
          <a:xfrm>
            <a:off x="8125968"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8363712" y="4123944"/>
            <a:ext cx="603504" cy="603504"/>
          </a:xfrm>
          <a:prstGeom prst="ellipse">
            <a:avLst/>
          </a:prstGeom>
          <a:solidFill>
            <a:srgbClr val="1B2842"/>
          </a:solidFill>
          <a:ln/>
        </p:spPr>
      </p:sp>
      <p:pic>
        <p:nvPicPr>
          <p:cNvPr id="27" name="Image 5" descr="C:\Users\User\AppData\Local\Temp\claude\C--Users-User-OneDrive-Music-Hackathon\67e3d9e6-0718-4380-8c09-13d83fcd8fa7\scratchpad\pptbuild\v2\assets\icons\zap-cyan.png">    </p:cNvPr>
          <p:cNvPicPr>
            <a:picLocks noChangeAspect="1"/>
          </p:cNvPicPr>
          <p:nvPr/>
        </p:nvPicPr>
        <p:blipFill>
          <a:blip r:embed="rId6"/>
          <a:stretch>
            <a:fillRect/>
          </a:stretch>
        </p:blipFill>
        <p:spPr>
          <a:xfrm>
            <a:off x="8508553" y="4268785"/>
            <a:ext cx="313822" cy="313822"/>
          </a:xfrm>
          <a:prstGeom prst="rect">
            <a:avLst/>
          </a:prstGeom>
        </p:spPr>
      </p:pic>
      <p:sp>
        <p:nvSpPr>
          <p:cNvPr id="28" name="Text 19"/>
          <p:cNvSpPr/>
          <p:nvPr/>
        </p:nvSpPr>
        <p:spPr>
          <a:xfrm>
            <a:off x="8363712"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A3E635"/>
                </a:solidFill>
                <a:latin typeface="Calibri" pitchFamily="34" charset="0"/>
                <a:ea typeface="Calibri" pitchFamily="34" charset="-122"/>
                <a:cs typeface="Calibri" pitchFamily="34" charset="-120"/>
              </a:rPr>
              <a:t>The rule</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need “smart”? call a pre-trained API — don't train</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11 — AI INTEGRATION</a:t>
            </a:r>
            <a:endParaRPr lang="en-US" sz="1300" dirty="0"/>
          </a:p>
        </p:txBody>
      </p:sp>
      <p:sp>
        <p:nvSpPr>
          <p:cNvPr id="3" name="Text 1"/>
          <p:cNvSpPr/>
          <p:nvPr/>
        </p:nvSpPr>
        <p:spPr>
          <a:xfrm>
            <a:off x="548640" y="1828800"/>
            <a:ext cx="11091672" cy="320040"/>
          </a:xfrm>
          <a:prstGeom prst="rect">
            <a:avLst/>
          </a:prstGeom>
          <a:noFill/>
          <a:ln/>
        </p:spPr>
        <p:txBody>
          <a:bodyPr wrap="square" lIns="0" tIns="0" rIns="0" bIns="0" rtlCol="0" anchor="ctr"/>
          <a:lstStyle/>
          <a:p>
            <a:pPr algn="ctr" indent="0" marL="0">
              <a:buNone/>
            </a:pPr>
            <a:r>
              <a:rPr lang="en-US" sz="1400" spc="400" kern="0" dirty="0">
                <a:solidFill>
                  <a:srgbClr val="7C8CA5"/>
                </a:solidFill>
                <a:latin typeface="Consolas" pitchFamily="34" charset="0"/>
                <a:ea typeface="Consolas" pitchFamily="34" charset="-122"/>
                <a:cs typeface="Consolas" pitchFamily="34" charset="-120"/>
              </a:rPr>
              <a:t>PRE-TRAINED MODEL = TRAINED BY A PROVIDER, USED VIA API. SEND INPUT → GET OUTPUT.</a:t>
            </a:r>
            <a:endParaRPr lang="en-US" sz="1400" dirty="0"/>
          </a:p>
        </p:txBody>
      </p:sp>
      <p:sp>
        <p:nvSpPr>
          <p:cNvPr id="4" name="Text 2"/>
          <p:cNvSpPr/>
          <p:nvPr/>
        </p:nvSpPr>
        <p:spPr>
          <a:xfrm>
            <a:off x="548640" y="2194560"/>
            <a:ext cx="11091672" cy="2011680"/>
          </a:xfrm>
          <a:prstGeom prst="rect">
            <a:avLst/>
          </a:prstGeom>
          <a:noFill/>
          <a:ln/>
        </p:spPr>
        <p:txBody>
          <a:bodyPr wrap="square" lIns="0" tIns="0" rIns="0" bIns="0" rtlCol="0" anchor="ctr"/>
          <a:lstStyle/>
          <a:p>
            <a:pPr algn="ctr" indent="0" marL="0">
              <a:buNone/>
            </a:pPr>
            <a:r>
              <a:rPr lang="en-US" sz="7200" dirty="0">
                <a:solidFill>
                  <a:srgbClr val="22D3EE"/>
                </a:solidFill>
                <a:latin typeface="Arial Black" pitchFamily="34" charset="0"/>
                <a:ea typeface="Arial Black" pitchFamily="34" charset="-122"/>
                <a:cs typeface="Arial Black" pitchFamily="34" charset="-120"/>
              </a:rPr>
              <a:t>CALL, DON'T TRAIN.</a:t>
            </a:r>
            <a:endParaRPr lang="en-US" sz="7200" dirty="0"/>
          </a:p>
        </p:txBody>
      </p:sp>
      <p:sp>
        <p:nvSpPr>
          <p:cNvPr id="5" name="Text 3"/>
          <p:cNvSpPr/>
          <p:nvPr/>
        </p:nvSpPr>
        <p:spPr>
          <a:xfrm>
            <a:off x="1463040" y="4389120"/>
            <a:ext cx="9262872" cy="822960"/>
          </a:xfrm>
          <a:prstGeom prst="rect">
            <a:avLst/>
          </a:prstGeom>
          <a:noFill/>
          <a:ln/>
        </p:spPr>
        <p:txBody>
          <a:bodyPr wrap="square" lIns="0" tIns="0" rIns="0" bIns="0" rtlCol="0" anchor="t"/>
          <a:lstStyle/>
          <a:p>
            <a:pPr algn="ctr" indent="0" marL="0">
              <a:buNone/>
            </a:pPr>
            <a:r>
              <a:rPr lang="en-US" sz="1800" dirty="0">
                <a:solidFill>
                  <a:srgbClr val="F1F5F9"/>
                </a:solidFill>
                <a:latin typeface="Calibri" pitchFamily="34" charset="0"/>
                <a:ea typeface="Calibri" pitchFamily="34" charset="-122"/>
                <a:cs typeface="Calibri" pitchFamily="34" charset="-120"/>
              </a:rPr>
              <a:t>Training needs data, time and compute you don't have this weekend.</a:t>
            </a:r>
            <a:endParaRPr lang="en-US" sz="1800" dirty="0"/>
          </a:p>
          <a:p>
            <a:pPr algn="ctr" indent="0" marL="0">
              <a:buNone/>
            </a:pPr>
            <a:r>
              <a:rPr lang="en-US" sz="1800" dirty="0">
                <a:solidFill>
                  <a:srgbClr val="F1F5F9"/>
                </a:solidFill>
                <a:latin typeface="Calibri" pitchFamily="34" charset="0"/>
                <a:ea typeface="Calibri" pitchFamily="34" charset="-122"/>
                <a:cs typeface="Calibri" pitchFamily="34" charset="-120"/>
              </a:rPr>
              <a:t>An LLM understands &amp; generates language: chat, summarize, extract, analyze code — one API call away.</a:t>
            </a:r>
            <a:endParaRPr lang="en-US" sz="1800" dirty="0"/>
          </a:p>
        </p:txBody>
      </p:sp>
      <p:sp>
        <p:nvSpPr>
          <p:cNvPr id="6" name="Text 4"/>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The LLM API Landscape (Mid-2026)</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51</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828800"/>
                <a:gridCol w="3776472"/>
                <a:gridCol w="1645920"/>
                <a:gridCol w="3840480"/>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 $/1M tok</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Use when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Frontier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GPT-5.x · Opus 4.8 · Gemini 3 Pro</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$2–30</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AI is your differentiator</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A3E635"/>
                          </a:solidFill>
                          <a:latin typeface="Calibri" pitchFamily="34" charset="0"/>
                          <a:ea typeface="Calibri" pitchFamily="34" charset="-122"/>
                          <a:cs typeface="Calibri" pitchFamily="34" charset="-120"/>
                        </a:rPr>
                        <a:t>Mid-tier ✓</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Sonnet 5 · GPT-5 mid · Gemini Pro</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Most features — best value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Budget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Flash-Lite · DeepSeek · small</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&lt; $1</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Bulk / simple tasks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Open-weight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Llama 4 · Qwen · DeepSeek</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$0 + GPU</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Privacy · offline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6" name="Text 2"/>
          <p:cNvSpPr/>
          <p:nvPr/>
        </p:nvSpPr>
        <p:spPr>
          <a:xfrm>
            <a:off x="548640" y="3977640"/>
            <a:ext cx="5943600" cy="1920240"/>
          </a:xfrm>
          <a:prstGeom prst="rect">
            <a:avLst/>
          </a:prstGeom>
          <a:noFill/>
          <a:ln/>
        </p:spPr>
        <p:txBody>
          <a:bodyPr wrap="square" lIns="0" tIns="0" rIns="0" bIns="0" rtlCol="0" anchor="t"/>
          <a:lstStyle/>
          <a:p>
            <a:pPr algn="l" marL="177800" indent="-177800">
              <a:lnSpc>
                <a:spcPct val="110000"/>
              </a:lnSpc>
              <a:spcAft>
                <a:spcPts val="700"/>
              </a:spcAft>
              <a:buSzPct val="100000"/>
              <a:buChar char="•"/>
            </a:pPr>
            <a:r>
              <a:rPr lang="en-US" sz="1400" b="1" dirty="0">
                <a:solidFill>
                  <a:srgbClr val="22D3EE"/>
                </a:solidFill>
                <a:latin typeface="Calibri" pitchFamily="34" charset="0"/>
                <a:ea typeface="Calibri" pitchFamily="34" charset="-122"/>
                <a:cs typeface="Calibri" pitchFamily="34" charset="-120"/>
              </a:rPr>
              <a:t>token  </a:t>
            </a:r>
            <a:pPr algn="l" indent="0" marL="0">
              <a:lnSpc>
                <a:spcPct val="110000"/>
              </a:lnSpc>
              <a:spcAft>
                <a:spcPts val="700"/>
              </a:spcAft>
              <a:buNone/>
            </a:pPr>
            <a:r>
              <a:rPr lang="en-US" sz="1400" dirty="0">
                <a:solidFill>
                  <a:srgbClr val="F1F5F9"/>
                </a:solidFill>
                <a:latin typeface="Calibri" pitchFamily="34" charset="0"/>
                <a:ea typeface="Calibri" pitchFamily="34" charset="-122"/>
                <a:cs typeface="Calibri" pitchFamily="34" charset="-120"/>
              </a:rPr>
              <a:t>≈ ¾ word · billed input + output</a:t>
            </a:r>
            <a:endParaRPr lang="en-US" sz="1400" dirty="0"/>
          </a:p>
          <a:p>
            <a:pPr algn="l" marL="177800" indent="-177800">
              <a:lnSpc>
                <a:spcPct val="110000"/>
              </a:lnSpc>
              <a:spcAft>
                <a:spcPts val="700"/>
              </a:spcAft>
              <a:buSzPct val="100000"/>
              <a:buChar char="•"/>
            </a:pPr>
            <a:r>
              <a:rPr lang="en-US" sz="1400" b="1" dirty="0">
                <a:solidFill>
                  <a:srgbClr val="22D3EE"/>
                </a:solidFill>
                <a:latin typeface="Calibri" pitchFamily="34" charset="0"/>
                <a:ea typeface="Calibri" pitchFamily="34" charset="-122"/>
                <a:cs typeface="Calibri" pitchFamily="34" charset="-120"/>
              </a:rPr>
              <a:t>context window  </a:t>
            </a:r>
            <a:pPr algn="l" indent="0" marL="0">
              <a:lnSpc>
                <a:spcPct val="110000"/>
              </a:lnSpc>
              <a:spcAft>
                <a:spcPts val="700"/>
              </a:spcAft>
              <a:buNone/>
            </a:pPr>
            <a:r>
              <a:rPr lang="en-US" sz="1400" dirty="0">
                <a:solidFill>
                  <a:srgbClr val="F1F5F9"/>
                </a:solidFill>
                <a:latin typeface="Calibri" pitchFamily="34" charset="0"/>
                <a:ea typeface="Calibri" pitchFamily="34" charset="-122"/>
                <a:cs typeface="Calibri" pitchFamily="34" charset="-120"/>
              </a:rPr>
              <a:t>max tokens considered at once</a:t>
            </a:r>
            <a:endParaRPr lang="en-US" sz="1400" dirty="0"/>
          </a:p>
          <a:p>
            <a:pPr algn="l" marL="177800" indent="-177800">
              <a:lnSpc>
                <a:spcPct val="110000"/>
              </a:lnSpc>
              <a:spcAft>
                <a:spcPts val="700"/>
              </a:spcAft>
              <a:buSzPct val="100000"/>
              <a:buChar char="•"/>
            </a:pPr>
            <a:r>
              <a:rPr lang="en-US" sz="1400" b="1" dirty="0">
                <a:solidFill>
                  <a:srgbClr val="22D3EE"/>
                </a:solidFill>
                <a:latin typeface="Calibri" pitchFamily="34" charset="0"/>
                <a:ea typeface="Calibri" pitchFamily="34" charset="-122"/>
                <a:cs typeface="Calibri" pitchFamily="34" charset="-120"/>
              </a:rPr>
              <a:t>router  </a:t>
            </a:r>
            <a:pPr algn="l" indent="0" marL="0">
              <a:lnSpc>
                <a:spcPct val="110000"/>
              </a:lnSpc>
              <a:spcAft>
                <a:spcPts val="700"/>
              </a:spcAft>
              <a:buNone/>
            </a:pPr>
            <a:r>
              <a:rPr lang="en-US" sz="1400" dirty="0">
                <a:solidFill>
                  <a:srgbClr val="F1F5F9"/>
                </a:solidFill>
                <a:latin typeface="Calibri" pitchFamily="34" charset="0"/>
                <a:ea typeface="Calibri" pitchFamily="34" charset="-122"/>
                <a:cs typeface="Calibri" pitchFamily="34" charset="-120"/>
              </a:rPr>
              <a:t>OpenRouter: one API → many models</a:t>
            </a:r>
            <a:endParaRPr lang="en-US" sz="1400" dirty="0"/>
          </a:p>
          <a:p>
            <a:pPr algn="l" marL="177800" indent="-177800">
              <a:lnSpc>
                <a:spcPct val="110000"/>
              </a:lnSpc>
              <a:spcAft>
                <a:spcPts val="700"/>
              </a:spcAft>
              <a:buSzPct val="100000"/>
              <a:buChar char="•"/>
            </a:pPr>
            <a:r>
              <a:rPr lang="en-US" sz="1400" b="1" dirty="0">
                <a:solidFill>
                  <a:srgbClr val="22D3EE"/>
                </a:solidFill>
                <a:latin typeface="Calibri" pitchFamily="34" charset="0"/>
                <a:ea typeface="Calibri" pitchFamily="34" charset="-122"/>
                <a:cs typeface="Calibri" pitchFamily="34" charset="-120"/>
              </a:rPr>
              <a:t>free tiers  </a:t>
            </a:r>
            <a:pPr algn="l" indent="0" marL="0">
              <a:lnSpc>
                <a:spcPct val="110000"/>
              </a:lnSpc>
              <a:spcAft>
                <a:spcPts val="700"/>
              </a:spcAft>
              <a:buNone/>
            </a:pPr>
            <a:r>
              <a:rPr lang="en-US" sz="1400" dirty="0">
                <a:solidFill>
                  <a:srgbClr val="F1F5F9"/>
                </a:solidFill>
                <a:latin typeface="Calibri" pitchFamily="34" charset="0"/>
                <a:ea typeface="Calibri" pitchFamily="34" charset="-122"/>
                <a:cs typeface="Calibri" pitchFamily="34" charset="-120"/>
              </a:rPr>
              <a:t>grab credits early — enough for a demo</a:t>
            </a:r>
            <a:endParaRPr lang="en-US" sz="1400" dirty="0"/>
          </a:p>
        </p:txBody>
      </p:sp>
      <p:sp>
        <p:nvSpPr>
          <p:cNvPr id="7" name="Shape 3"/>
          <p:cNvSpPr/>
          <p:nvPr/>
        </p:nvSpPr>
        <p:spPr>
          <a:xfrm>
            <a:off x="6858000" y="4023360"/>
            <a:ext cx="4782312" cy="1783080"/>
          </a:xfrm>
          <a:prstGeom prst="roundRect">
            <a:avLst>
              <a:gd name="adj" fmla="val 4615"/>
            </a:avLst>
          </a:prstGeom>
          <a:solidFill>
            <a:srgbClr val="1B2842"/>
          </a:solidFill>
          <a:ln/>
          <a:effectLst>
            <a:outerShdw sx="100000" sy="100000" kx="0" ky="0" algn="bl" rotWithShape="0" blurRad="114300" dist="38100" dir="5400000">
              <a:srgbClr val="000000">
                <a:alpha val="45000"/>
              </a:srgbClr>
            </a:outerShdw>
          </a:effectLst>
        </p:spPr>
      </p:sp>
      <p:sp>
        <p:nvSpPr>
          <p:cNvPr id="8" name="Text 4"/>
          <p:cNvSpPr/>
          <p:nvPr/>
        </p:nvSpPr>
        <p:spPr>
          <a:xfrm>
            <a:off x="7178040" y="4023360"/>
            <a:ext cx="4160520" cy="1783080"/>
          </a:xfrm>
          <a:prstGeom prst="rect">
            <a:avLst/>
          </a:prstGeom>
          <a:noFill/>
          <a:ln/>
        </p:spPr>
        <p:txBody>
          <a:bodyPr wrap="square" lIns="0" tIns="0" rIns="0" bIns="0" rtlCol="0" anchor="ctr"/>
          <a:lstStyle/>
          <a:p>
            <a:pPr indent="0" marL="0">
              <a:lnSpc>
                <a:spcPct val="110000"/>
              </a:lnSpc>
              <a:spcAft>
                <a:spcPts val="600"/>
              </a:spcAft>
              <a:buNone/>
            </a:pPr>
            <a:r>
              <a:rPr lang="en-US" sz="1200" spc="300" kern="0" dirty="0">
                <a:solidFill>
                  <a:srgbClr val="A3E635"/>
                </a:solidFill>
                <a:latin typeface="Consolas" pitchFamily="34" charset="0"/>
                <a:ea typeface="Consolas" pitchFamily="34" charset="-122"/>
                <a:cs typeface="Consolas" pitchFamily="34" charset="-120"/>
              </a:rPr>
              <a:t>SELECTION RULE
</a:t>
            </a:r>
            <a:pPr indent="0" marL="0">
              <a:lnSpc>
                <a:spcPct val="110000"/>
              </a:lnSpc>
              <a:buNone/>
            </a:pPr>
            <a:r>
              <a:rPr lang="en-US" sz="1550" b="1" dirty="0">
                <a:solidFill>
                  <a:srgbClr val="F1F5F9"/>
                </a:solidFill>
                <a:latin typeface="Calibri" pitchFamily="34" charset="0"/>
                <a:ea typeface="Calibri" pitchFamily="34" charset="-122"/>
                <a:cs typeface="Calibri" pitchFamily="34" charset="-120"/>
              </a:rPr>
              <a:t>Default mid-tier. Frontier only for hard reasoning. Budget for bulk.</a:t>
            </a:r>
            <a:endParaRPr lang="en-US" sz="1200" dirty="0"/>
          </a:p>
        </p:txBody>
      </p:sp>
      <p:sp>
        <p:nvSpPr>
          <p:cNvPr id="9" name="Text 5"/>
          <p:cNvSpPr/>
          <p:nvPr/>
        </p:nvSpPr>
        <p:spPr>
          <a:xfrm>
            <a:off x="548640" y="5989320"/>
            <a:ext cx="11091672" cy="274320"/>
          </a:xfrm>
          <a:prstGeom prst="rect">
            <a:avLst/>
          </a:prstGeom>
          <a:noFill/>
          <a:ln/>
        </p:spPr>
        <p:txBody>
          <a:bodyPr wrap="square" lIns="0" tIns="0" rIns="0" bIns="0" rtlCol="0" anchor="ctr"/>
          <a:lstStyle/>
          <a:p>
            <a:pPr algn="ctr" indent="0" marL="0">
              <a:buNone/>
            </a:pPr>
            <a:r>
              <a:rPr lang="en-US" sz="1200" i="1" dirty="0">
                <a:solidFill>
                  <a:srgbClr val="7C8CA5"/>
                </a:solidFill>
                <a:latin typeface="Calibri" pitchFamily="34" charset="0"/>
                <a:ea typeface="Calibri" pitchFamily="34" charset="-122"/>
                <a:cs typeface="Calibri" pitchFamily="34" charset="-120"/>
              </a:rPr>
              <a:t>Models &amp; prices change every few months — verify before the event.</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Prompt It Well — Then Guard It</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52</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PROMPTING HABITS — 11.3</a:t>
            </a:r>
            <a:endParaRPr lang="en-US" sz="1400" dirty="0"/>
          </a:p>
        </p:txBody>
      </p:sp>
      <p:sp>
        <p:nvSpPr>
          <p:cNvPr id="6" name="Text 3"/>
          <p:cNvSpPr/>
          <p:nvPr/>
        </p:nvSpPr>
        <p:spPr>
          <a:xfrm>
            <a:off x="548640" y="1783080"/>
            <a:ext cx="5394960" cy="2834640"/>
          </a:xfrm>
          <a:prstGeom prst="rect">
            <a:avLst/>
          </a:prstGeom>
          <a:noFill/>
          <a:ln/>
        </p:spPr>
        <p:txBody>
          <a:bodyPr wrap="square" lIns="0" tIns="0" rIns="0" bIns="0" rtlCol="0" anchor="t"/>
          <a:lstStyle/>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Be explicit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role + task + format</a:t>
            </a:r>
            <a:endParaRPr lang="en-US" sz="1500" dirty="0"/>
          </a:p>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Few-shot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1–3 input→output examples steer it</a:t>
            </a:r>
            <a:endParaRPr lang="en-US" sz="1500" dirty="0"/>
          </a:p>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Constrain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ask for JSON → parse safely</a:t>
            </a:r>
            <a:endParaRPr lang="en-US" sz="1500" dirty="0"/>
          </a:p>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Boundaries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“if not in context, say you don't know”</a:t>
            </a:r>
            <a:endParaRPr lang="en-US" sz="1500" dirty="0"/>
          </a:p>
          <a:p>
            <a:pPr algn="l" marL="177800" indent="-177800">
              <a:lnSpc>
                <a:spcPct val="110000"/>
              </a:lnSpc>
              <a:spcAft>
                <a:spcPts val="900"/>
              </a:spcAft>
              <a:buSzPct val="100000"/>
              <a:buChar char="•"/>
            </a:pPr>
            <a:r>
              <a:rPr lang="en-US" sz="1500" b="1" dirty="0">
                <a:solidFill>
                  <a:srgbClr val="22D3EE"/>
                </a:solidFill>
                <a:latin typeface="Calibri" pitchFamily="34" charset="0"/>
                <a:ea typeface="Calibri" pitchFamily="34" charset="-122"/>
                <a:cs typeface="Calibri" pitchFamily="34" charset="-120"/>
              </a:rPr>
              <a:t>Iterate  </a:t>
            </a:r>
            <a:pPr algn="l" indent="0" marL="0">
              <a:lnSpc>
                <a:spcPct val="110000"/>
              </a:lnSpc>
              <a:spcAft>
                <a:spcPts val="900"/>
              </a:spcAft>
              <a:buNone/>
            </a:pPr>
            <a:r>
              <a:rPr lang="en-US" sz="1500" dirty="0">
                <a:solidFill>
                  <a:srgbClr val="F1F5F9"/>
                </a:solidFill>
                <a:latin typeface="Calibri" pitchFamily="34" charset="0"/>
                <a:ea typeface="Calibri" pitchFamily="34" charset="-122"/>
                <a:cs typeface="Calibri" pitchFamily="34" charset="-120"/>
              </a:rPr>
              <a:t>test on real inputs until reliable</a:t>
            </a:r>
            <a:endParaRPr lang="en-US" sz="1500" dirty="0"/>
          </a:p>
        </p:txBody>
      </p:sp>
      <p:sp>
        <p:nvSpPr>
          <p:cNvPr id="7" name="Shape 4"/>
          <p:cNvSpPr/>
          <p:nvPr/>
        </p:nvSpPr>
        <p:spPr>
          <a:xfrm>
            <a:off x="548640" y="5029200"/>
            <a:ext cx="5394960" cy="457200"/>
          </a:xfrm>
          <a:prstGeom prst="roundRect">
            <a:avLst>
              <a:gd name="adj" fmla="val 14000"/>
            </a:avLst>
          </a:prstGeom>
          <a:solidFill>
            <a:srgbClr val="141E33"/>
          </a:solidFill>
          <a:ln/>
        </p:spPr>
      </p:sp>
      <p:sp>
        <p:nvSpPr>
          <p:cNvPr id="8" name="Text 5"/>
          <p:cNvSpPr/>
          <p:nvPr/>
        </p:nvSpPr>
        <p:spPr>
          <a:xfrm>
            <a:off x="603504" y="5029200"/>
            <a:ext cx="5285232" cy="457200"/>
          </a:xfrm>
          <a:prstGeom prst="rect">
            <a:avLst/>
          </a:prstGeom>
          <a:noFill/>
          <a:ln/>
        </p:spPr>
        <p:txBody>
          <a:bodyPr wrap="square" lIns="0" tIns="0" rIns="0" bIns="0" rtlCol="0" anchor="ctr"/>
          <a:lstStyle/>
          <a:p>
            <a:pPr algn="l" indent="0" marL="0">
              <a:buNone/>
            </a:pPr>
            <a:r>
              <a:rPr lang="en-US" sz="1250" dirty="0">
                <a:solidFill>
                  <a:srgbClr val="A3E635"/>
                </a:solidFill>
                <a:latin typeface="Consolas" pitchFamily="34" charset="0"/>
                <a:ea typeface="Consolas" pitchFamily="34" charset="-122"/>
                <a:cs typeface="Consolas" pitchFamily="34" charset="-120"/>
              </a:rPr>
              <a:t>&gt; “Summarize in 3 bullets. Return only the bullets.”</a:t>
            </a:r>
            <a:endParaRPr lang="en-US" sz="1250" dirty="0"/>
          </a:p>
        </p:txBody>
      </p:sp>
      <p:sp>
        <p:nvSpPr>
          <p:cNvPr id="9" name="Text 6"/>
          <p:cNvSpPr/>
          <p:nvPr/>
        </p:nvSpPr>
        <p:spPr>
          <a:xfrm>
            <a:off x="6263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HALLUCINATION GUARDRAILS — 11.7</a:t>
            </a:r>
            <a:endParaRPr lang="en-US" sz="1400" dirty="0"/>
          </a:p>
        </p:txBody>
      </p:sp>
      <p:sp>
        <p:nvSpPr>
          <p:cNvPr id="10" name="Shape 7"/>
          <p:cNvSpPr/>
          <p:nvPr/>
        </p:nvSpPr>
        <p:spPr>
          <a:xfrm>
            <a:off x="6263640" y="1897380"/>
            <a:ext cx="548640" cy="548640"/>
          </a:xfrm>
          <a:prstGeom prst="ellipse">
            <a:avLst/>
          </a:prstGeom>
          <a:solidFill>
            <a:srgbClr val="1B2842"/>
          </a:solidFill>
          <a:ln/>
        </p:spPr>
      </p:sp>
      <p:pic>
        <p:nvPicPr>
          <p:cNvPr id="11" name="Image 0" descr="C:\Users\User\AppData\Local\Temp\claude\C--Users-User-OneDrive-Music-Hackathon\67e3d9e6-0718-4380-8c09-13d83fcd8fa7\scratchpad\pptbuild\v2\assets\icons\alert-amber.png">    </p:cNvPr>
          <p:cNvPicPr>
            <a:picLocks noChangeAspect="1"/>
          </p:cNvPicPr>
          <p:nvPr/>
        </p:nvPicPr>
        <p:blipFill>
          <a:blip r:embed="rId1"/>
          <a:stretch>
            <a:fillRect/>
          </a:stretch>
        </p:blipFill>
        <p:spPr>
          <a:xfrm>
            <a:off x="6395314" y="2029054"/>
            <a:ext cx="285293" cy="285293"/>
          </a:xfrm>
          <a:prstGeom prst="rect">
            <a:avLst/>
          </a:prstGeom>
        </p:spPr>
      </p:pic>
      <p:sp>
        <p:nvSpPr>
          <p:cNvPr id="12" name="Text 8"/>
          <p:cNvSpPr/>
          <p:nvPr/>
        </p:nvSpPr>
        <p:spPr>
          <a:xfrm>
            <a:off x="7040880" y="1737360"/>
            <a:ext cx="4617720" cy="86868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59E0B"/>
                </a:solidFill>
                <a:latin typeface="Calibri" pitchFamily="34" charset="0"/>
                <a:ea typeface="Calibri" pitchFamily="34" charset="-122"/>
                <a:cs typeface="Calibri" pitchFamily="34" charset="-120"/>
              </a:rPr>
              <a:t>Hallucination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confident but false — never trust blindly</a:t>
            </a:r>
            <a:endParaRPr lang="en-US" sz="1500" dirty="0"/>
          </a:p>
        </p:txBody>
      </p:sp>
      <p:sp>
        <p:nvSpPr>
          <p:cNvPr id="13" name="Shape 9"/>
          <p:cNvSpPr/>
          <p:nvPr/>
        </p:nvSpPr>
        <p:spPr>
          <a:xfrm>
            <a:off x="6263640" y="2766060"/>
            <a:ext cx="548640" cy="548640"/>
          </a:xfrm>
          <a:prstGeom prst="ellipse">
            <a:avLst/>
          </a:prstGeom>
          <a:solidFill>
            <a:srgbClr val="1B2842"/>
          </a:solidFill>
          <a:ln/>
        </p:spPr>
      </p:sp>
      <p:pic>
        <p:nvPicPr>
          <p:cNvPr id="14" name="Image 1" descr="C:\Users\User\AppData\Local\Temp\claude\C--Users-User-OneDrive-Music-Hackathon\67e3d9e6-0718-4380-8c09-13d83fcd8fa7\scratchpad\pptbuild\v2\assets\icons\brain-cyan.png">    </p:cNvPr>
          <p:cNvPicPr>
            <a:picLocks noChangeAspect="1"/>
          </p:cNvPicPr>
          <p:nvPr/>
        </p:nvPicPr>
        <p:blipFill>
          <a:blip r:embed="rId2"/>
          <a:stretch>
            <a:fillRect/>
          </a:stretch>
        </p:blipFill>
        <p:spPr>
          <a:xfrm>
            <a:off x="6395314" y="2897734"/>
            <a:ext cx="285293" cy="285293"/>
          </a:xfrm>
          <a:prstGeom prst="rect">
            <a:avLst/>
          </a:prstGeom>
        </p:spPr>
      </p:pic>
      <p:sp>
        <p:nvSpPr>
          <p:cNvPr id="15" name="Text 10"/>
          <p:cNvSpPr/>
          <p:nvPr/>
        </p:nvSpPr>
        <p:spPr>
          <a:xfrm>
            <a:off x="7040880" y="2606040"/>
            <a:ext cx="4617720" cy="86868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Ground with RAG</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answer from your data · show sources</a:t>
            </a:r>
            <a:endParaRPr lang="en-US" sz="1500" dirty="0"/>
          </a:p>
        </p:txBody>
      </p:sp>
      <p:sp>
        <p:nvSpPr>
          <p:cNvPr id="16" name="Shape 11"/>
          <p:cNvSpPr/>
          <p:nvPr/>
        </p:nvSpPr>
        <p:spPr>
          <a:xfrm>
            <a:off x="6263640" y="3634740"/>
            <a:ext cx="548640" cy="548640"/>
          </a:xfrm>
          <a:prstGeom prst="ellipse">
            <a:avLst/>
          </a:prstGeom>
          <a:solidFill>
            <a:srgbClr val="1B2842"/>
          </a:solidFill>
          <a:ln/>
        </p:spPr>
      </p:sp>
      <p:pic>
        <p:nvPicPr>
          <p:cNvPr id="17" name="Image 2" descr="C:\Users\User\AppData\Local\Temp\claude\C--Users-User-OneDrive-Music-Hackathon\67e3d9e6-0718-4380-8c09-13d83fcd8fa7\scratchpad\pptbuild\v2\assets\icons\shieldcheck-cyan.png">    </p:cNvPr>
          <p:cNvPicPr>
            <a:picLocks noChangeAspect="1"/>
          </p:cNvPicPr>
          <p:nvPr/>
        </p:nvPicPr>
        <p:blipFill>
          <a:blip r:embed="rId3"/>
          <a:stretch>
            <a:fillRect/>
          </a:stretch>
        </p:blipFill>
        <p:spPr>
          <a:xfrm>
            <a:off x="6395314" y="3766414"/>
            <a:ext cx="285293" cy="285293"/>
          </a:xfrm>
          <a:prstGeom prst="rect">
            <a:avLst/>
          </a:prstGeom>
        </p:spPr>
      </p:pic>
      <p:sp>
        <p:nvSpPr>
          <p:cNvPr id="18" name="Text 12"/>
          <p:cNvSpPr/>
          <p:nvPr/>
        </p:nvSpPr>
        <p:spPr>
          <a:xfrm>
            <a:off x="7040880" y="3474720"/>
            <a:ext cx="4617720" cy="86868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Validate + human in loop</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check structured output · eyeball real inputs</a:t>
            </a:r>
            <a:endParaRPr lang="en-US" sz="1500" dirty="0"/>
          </a:p>
        </p:txBody>
      </p:sp>
      <p:sp>
        <p:nvSpPr>
          <p:cNvPr id="19" name="Shape 13"/>
          <p:cNvSpPr/>
          <p:nvPr/>
        </p:nvSpPr>
        <p:spPr>
          <a:xfrm>
            <a:off x="6263640" y="4503420"/>
            <a:ext cx="548640" cy="548640"/>
          </a:xfrm>
          <a:prstGeom prst="ellipse">
            <a:avLst/>
          </a:prstGeom>
          <a:solidFill>
            <a:srgbClr val="1B2842"/>
          </a:solidFill>
          <a:ln/>
        </p:spPr>
      </p:sp>
      <p:pic>
        <p:nvPicPr>
          <p:cNvPr id="20" name="Image 3" descr="C:\Users\User\AppData\Local\Temp\claude\C--Users-User-OneDrive-Music-Hackathon\67e3d9e6-0718-4380-8c09-13d83fcd8fa7\scratchpad\pptbuild\v2\assets\icons\lock-cyan.png">    </p:cNvPr>
          <p:cNvPicPr>
            <a:picLocks noChangeAspect="1"/>
          </p:cNvPicPr>
          <p:nvPr/>
        </p:nvPicPr>
        <p:blipFill>
          <a:blip r:embed="rId4"/>
          <a:stretch>
            <a:fillRect/>
          </a:stretch>
        </p:blipFill>
        <p:spPr>
          <a:xfrm>
            <a:off x="6395314" y="4635094"/>
            <a:ext cx="285293" cy="285293"/>
          </a:xfrm>
          <a:prstGeom prst="rect">
            <a:avLst/>
          </a:prstGeom>
        </p:spPr>
      </p:pic>
      <p:sp>
        <p:nvSpPr>
          <p:cNvPr id="21" name="Text 14"/>
          <p:cNvSpPr/>
          <p:nvPr/>
        </p:nvSpPr>
        <p:spPr>
          <a:xfrm>
            <a:off x="7040880" y="4343400"/>
            <a:ext cx="4617720" cy="86868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Safety</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no secrets/personal data to 3rd-party AI · be transparent</a:t>
            </a:r>
            <a:endParaRPr lang="en-US" sz="1500" dirty="0"/>
          </a:p>
        </p:txBody>
      </p:sp>
      <p:sp>
        <p:nvSpPr>
          <p:cNvPr id="22" name="Text 15"/>
          <p:cNvSpPr/>
          <p:nvPr/>
        </p:nvSpPr>
        <p:spPr>
          <a:xfrm>
            <a:off x="6263640" y="5349240"/>
            <a:ext cx="5394960" cy="365760"/>
          </a:xfrm>
          <a:prstGeom prst="rect">
            <a:avLst/>
          </a:prstGeom>
          <a:noFill/>
          <a:ln/>
        </p:spPr>
        <p:txBody>
          <a:bodyPr wrap="square" lIns="0" tIns="0" rIns="0" bIns="0" rtlCol="0" anchor="ctr"/>
          <a:lstStyle/>
          <a:p>
            <a:pPr indent="0" marL="0">
              <a:buNone/>
            </a:pPr>
            <a:r>
              <a:rPr lang="en-US" sz="1300" i="1" dirty="0">
                <a:solidFill>
                  <a:srgbClr val="7C8CA5"/>
                </a:solidFill>
                <a:latin typeface="Calibri" pitchFamily="34" charset="0"/>
                <a:ea typeface="Calibri" pitchFamily="34" charset="-122"/>
                <a:cs typeface="Calibri" pitchFamily="34" charset="-120"/>
              </a:rPr>
              <a:t>Fine-tuning: rarely worth it here — prompting + RAG is faster.</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RAG: Answer From Your Data</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53</a:t>
            </a:r>
            <a:endParaRPr lang="en-US" sz="1000" dirty="0"/>
          </a:p>
        </p:txBody>
      </p:sp>
      <p:sp>
        <p:nvSpPr>
          <p:cNvPr id="5" name="Shape 2"/>
          <p:cNvSpPr/>
          <p:nvPr/>
        </p:nvSpPr>
        <p:spPr>
          <a:xfrm>
            <a:off x="2199132" y="2354580"/>
            <a:ext cx="310896" cy="0"/>
          </a:xfrm>
          <a:prstGeom prst="line">
            <a:avLst/>
          </a:prstGeom>
          <a:noFill/>
          <a:ln w="31750">
            <a:solidFill>
              <a:srgbClr val="22D3EE"/>
            </a:solidFill>
            <a:prstDash val="solid"/>
            <a:tailEnd type="triangle"/>
          </a:ln>
        </p:spPr>
      </p:sp>
      <p:sp>
        <p:nvSpPr>
          <p:cNvPr id="6" name="Shape 3"/>
          <p:cNvSpPr/>
          <p:nvPr/>
        </p:nvSpPr>
        <p:spPr>
          <a:xfrm>
            <a:off x="4069080" y="2354580"/>
            <a:ext cx="310896" cy="0"/>
          </a:xfrm>
          <a:prstGeom prst="line">
            <a:avLst/>
          </a:prstGeom>
          <a:noFill/>
          <a:ln w="31750">
            <a:solidFill>
              <a:srgbClr val="22D3EE"/>
            </a:solidFill>
            <a:prstDash val="solid"/>
            <a:tailEnd type="triangle"/>
          </a:ln>
        </p:spPr>
      </p:sp>
      <p:sp>
        <p:nvSpPr>
          <p:cNvPr id="7" name="Shape 4"/>
          <p:cNvSpPr/>
          <p:nvPr/>
        </p:nvSpPr>
        <p:spPr>
          <a:xfrm>
            <a:off x="5939028" y="2354580"/>
            <a:ext cx="310896" cy="0"/>
          </a:xfrm>
          <a:prstGeom prst="line">
            <a:avLst/>
          </a:prstGeom>
          <a:noFill/>
          <a:ln w="31750">
            <a:solidFill>
              <a:srgbClr val="22D3EE"/>
            </a:solidFill>
            <a:prstDash val="solid"/>
            <a:tailEnd type="triangle"/>
          </a:ln>
        </p:spPr>
      </p:sp>
      <p:sp>
        <p:nvSpPr>
          <p:cNvPr id="8" name="Shape 5"/>
          <p:cNvSpPr/>
          <p:nvPr/>
        </p:nvSpPr>
        <p:spPr>
          <a:xfrm>
            <a:off x="7808976" y="2354580"/>
            <a:ext cx="310896" cy="0"/>
          </a:xfrm>
          <a:prstGeom prst="line">
            <a:avLst/>
          </a:prstGeom>
          <a:noFill/>
          <a:ln w="31750">
            <a:solidFill>
              <a:srgbClr val="22D3EE"/>
            </a:solidFill>
            <a:prstDash val="solid"/>
            <a:tailEnd type="triangle"/>
          </a:ln>
        </p:spPr>
      </p:sp>
      <p:sp>
        <p:nvSpPr>
          <p:cNvPr id="9" name="Shape 6"/>
          <p:cNvSpPr/>
          <p:nvPr/>
        </p:nvSpPr>
        <p:spPr>
          <a:xfrm>
            <a:off x="9678924" y="2354580"/>
            <a:ext cx="310896" cy="0"/>
          </a:xfrm>
          <a:prstGeom prst="line">
            <a:avLst/>
          </a:prstGeom>
          <a:noFill/>
          <a:ln w="31750">
            <a:solidFill>
              <a:srgbClr val="22D3EE"/>
            </a:solidFill>
            <a:prstDash val="solid"/>
            <a:tailEnd type="triangle"/>
          </a:ln>
        </p:spPr>
      </p:sp>
      <p:sp>
        <p:nvSpPr>
          <p:cNvPr id="10" name="Shape 7"/>
          <p:cNvSpPr/>
          <p:nvPr/>
        </p:nvSpPr>
        <p:spPr>
          <a:xfrm>
            <a:off x="640080" y="1828800"/>
            <a:ext cx="1559052" cy="1051560"/>
          </a:xfrm>
          <a:prstGeom prst="roundRect">
            <a:avLst>
              <a:gd name="adj" fmla="val 7826"/>
            </a:avLst>
          </a:prstGeom>
          <a:solidFill>
            <a:srgbClr val="141E33"/>
          </a:solidFill>
          <a:ln/>
          <a:effectLst>
            <a:outerShdw sx="100000" sy="100000" kx="0" ky="0" algn="bl" rotWithShape="0" blurRad="114300" dist="38100" dir="5400000">
              <a:srgbClr val="000000">
                <a:alpha val="45000"/>
              </a:srgbClr>
            </a:outerShdw>
          </a:effectLst>
        </p:spPr>
      </p:sp>
      <p:sp>
        <p:nvSpPr>
          <p:cNvPr id="11" name="Text 8"/>
          <p:cNvSpPr/>
          <p:nvPr/>
        </p:nvSpPr>
        <p:spPr>
          <a:xfrm>
            <a:off x="713232" y="1828800"/>
            <a:ext cx="1412748" cy="1051560"/>
          </a:xfrm>
          <a:prstGeom prst="rect">
            <a:avLst/>
          </a:prstGeom>
          <a:noFill/>
          <a:ln/>
        </p:spPr>
        <p:txBody>
          <a:bodyPr wrap="square" lIns="0" tIns="0" rIns="0" bIns="0" rtlCol="0" anchor="ctr"/>
          <a:lstStyle/>
          <a:p>
            <a:pPr algn="ctr" indent="0" marL="0">
              <a:lnSpc>
                <a:spcPct val="95000"/>
              </a:lnSpc>
              <a:buNone/>
            </a:pPr>
            <a:r>
              <a:rPr lang="en-US" sz="1250" b="1" dirty="0">
                <a:solidFill>
                  <a:srgbClr val="F1F5F9"/>
                </a:solidFill>
                <a:latin typeface="Calibri" pitchFamily="34" charset="0"/>
                <a:ea typeface="Calibri" pitchFamily="34" charset="-122"/>
                <a:cs typeface="Calibri" pitchFamily="34" charset="-120"/>
              </a:rPr>
              <a:t>User question</a:t>
            </a:r>
            <a:endParaRPr lang="en-US" sz="1250" dirty="0"/>
          </a:p>
        </p:txBody>
      </p:sp>
      <p:sp>
        <p:nvSpPr>
          <p:cNvPr id="12" name="Shape 9"/>
          <p:cNvSpPr/>
          <p:nvPr/>
        </p:nvSpPr>
        <p:spPr>
          <a:xfrm>
            <a:off x="493776" y="1682496"/>
            <a:ext cx="384048" cy="384048"/>
          </a:xfrm>
          <a:prstGeom prst="ellipse">
            <a:avLst/>
          </a:prstGeom>
          <a:solidFill>
            <a:srgbClr val="22D3EE"/>
          </a:solidFill>
          <a:ln/>
        </p:spPr>
      </p:sp>
      <p:sp>
        <p:nvSpPr>
          <p:cNvPr id="13" name="Text 10"/>
          <p:cNvSpPr/>
          <p:nvPr/>
        </p:nvSpPr>
        <p:spPr>
          <a:xfrm>
            <a:off x="493776" y="166420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1</a:t>
            </a:r>
            <a:endParaRPr lang="en-US" sz="1400" dirty="0"/>
          </a:p>
        </p:txBody>
      </p:sp>
      <p:sp>
        <p:nvSpPr>
          <p:cNvPr id="14" name="Shape 11"/>
          <p:cNvSpPr/>
          <p:nvPr/>
        </p:nvSpPr>
        <p:spPr>
          <a:xfrm>
            <a:off x="2510028" y="1828800"/>
            <a:ext cx="1559052" cy="1051560"/>
          </a:xfrm>
          <a:prstGeom prst="roundRect">
            <a:avLst>
              <a:gd name="adj" fmla="val 7826"/>
            </a:avLst>
          </a:prstGeom>
          <a:solidFill>
            <a:srgbClr val="141E33"/>
          </a:solidFill>
          <a:ln/>
          <a:effectLst>
            <a:outerShdw sx="100000" sy="100000" kx="0" ky="0" algn="bl" rotWithShape="0" blurRad="114300" dist="38100" dir="5400000">
              <a:srgbClr val="000000">
                <a:alpha val="45000"/>
              </a:srgbClr>
            </a:outerShdw>
          </a:effectLst>
        </p:spPr>
      </p:sp>
      <p:sp>
        <p:nvSpPr>
          <p:cNvPr id="15" name="Text 12"/>
          <p:cNvSpPr/>
          <p:nvPr/>
        </p:nvSpPr>
        <p:spPr>
          <a:xfrm>
            <a:off x="2583180" y="1828800"/>
            <a:ext cx="1412748" cy="1051560"/>
          </a:xfrm>
          <a:prstGeom prst="rect">
            <a:avLst/>
          </a:prstGeom>
          <a:noFill/>
          <a:ln/>
        </p:spPr>
        <p:txBody>
          <a:bodyPr wrap="square" lIns="0" tIns="0" rIns="0" bIns="0" rtlCol="0" anchor="ctr"/>
          <a:lstStyle/>
          <a:p>
            <a:pPr algn="ctr" indent="0" marL="0">
              <a:lnSpc>
                <a:spcPct val="95000"/>
              </a:lnSpc>
              <a:buNone/>
            </a:pPr>
            <a:r>
              <a:rPr lang="en-US" sz="1250" b="1" dirty="0">
                <a:solidFill>
                  <a:srgbClr val="F1F5F9"/>
                </a:solidFill>
                <a:latin typeface="Calibri" pitchFamily="34" charset="0"/>
                <a:ea typeface="Calibri" pitchFamily="34" charset="-122"/>
                <a:cs typeface="Calibri" pitchFamily="34" charset="-120"/>
              </a:rPr>
              <a:t>Embed question</a:t>
            </a:r>
            <a:endParaRPr lang="en-US" sz="1250" dirty="0"/>
          </a:p>
        </p:txBody>
      </p:sp>
      <p:sp>
        <p:nvSpPr>
          <p:cNvPr id="16" name="Shape 13"/>
          <p:cNvSpPr/>
          <p:nvPr/>
        </p:nvSpPr>
        <p:spPr>
          <a:xfrm>
            <a:off x="2363724" y="1682496"/>
            <a:ext cx="384048" cy="384048"/>
          </a:xfrm>
          <a:prstGeom prst="ellipse">
            <a:avLst/>
          </a:prstGeom>
          <a:solidFill>
            <a:srgbClr val="22D3EE"/>
          </a:solidFill>
          <a:ln/>
        </p:spPr>
      </p:sp>
      <p:sp>
        <p:nvSpPr>
          <p:cNvPr id="17" name="Text 14"/>
          <p:cNvSpPr/>
          <p:nvPr/>
        </p:nvSpPr>
        <p:spPr>
          <a:xfrm>
            <a:off x="2363724" y="166420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2</a:t>
            </a:r>
            <a:endParaRPr lang="en-US" sz="1400" dirty="0"/>
          </a:p>
        </p:txBody>
      </p:sp>
      <p:sp>
        <p:nvSpPr>
          <p:cNvPr id="18" name="Shape 15"/>
          <p:cNvSpPr/>
          <p:nvPr/>
        </p:nvSpPr>
        <p:spPr>
          <a:xfrm>
            <a:off x="4379976" y="1828800"/>
            <a:ext cx="1559052" cy="1051560"/>
          </a:xfrm>
          <a:prstGeom prst="roundRect">
            <a:avLst>
              <a:gd name="adj" fmla="val 7826"/>
            </a:avLst>
          </a:prstGeom>
          <a:solidFill>
            <a:srgbClr val="141E33"/>
          </a:solidFill>
          <a:ln/>
          <a:effectLst>
            <a:outerShdw sx="100000" sy="100000" kx="0" ky="0" algn="bl" rotWithShape="0" blurRad="114300" dist="38100" dir="5400000">
              <a:srgbClr val="000000">
                <a:alpha val="45000"/>
              </a:srgbClr>
            </a:outerShdw>
          </a:effectLst>
        </p:spPr>
      </p:sp>
      <p:sp>
        <p:nvSpPr>
          <p:cNvPr id="19" name="Text 16"/>
          <p:cNvSpPr/>
          <p:nvPr/>
        </p:nvSpPr>
        <p:spPr>
          <a:xfrm>
            <a:off x="4453128" y="1828800"/>
            <a:ext cx="1412748" cy="1051560"/>
          </a:xfrm>
          <a:prstGeom prst="rect">
            <a:avLst/>
          </a:prstGeom>
          <a:noFill/>
          <a:ln/>
        </p:spPr>
        <p:txBody>
          <a:bodyPr wrap="square" lIns="0" tIns="0" rIns="0" bIns="0" rtlCol="0" anchor="ctr"/>
          <a:lstStyle/>
          <a:p>
            <a:pPr algn="ctr" indent="0" marL="0">
              <a:lnSpc>
                <a:spcPct val="95000"/>
              </a:lnSpc>
              <a:buNone/>
            </a:pPr>
            <a:r>
              <a:rPr lang="en-US" sz="1250" b="1" dirty="0">
                <a:solidFill>
                  <a:srgbClr val="F1F5F9"/>
                </a:solidFill>
                <a:latin typeface="Calibri" pitchFamily="34" charset="0"/>
                <a:ea typeface="Calibri" pitchFamily="34" charset="-122"/>
                <a:cs typeface="Calibri" pitchFamily="34" charset="-120"/>
              </a:rPr>
              <a:t>Search vector DB</a:t>
            </a:r>
            <a:endParaRPr lang="en-US" sz="1250" dirty="0"/>
          </a:p>
        </p:txBody>
      </p:sp>
      <p:sp>
        <p:nvSpPr>
          <p:cNvPr id="20" name="Shape 17"/>
          <p:cNvSpPr/>
          <p:nvPr/>
        </p:nvSpPr>
        <p:spPr>
          <a:xfrm>
            <a:off x="4233672" y="1682496"/>
            <a:ext cx="384048" cy="384048"/>
          </a:xfrm>
          <a:prstGeom prst="ellipse">
            <a:avLst/>
          </a:prstGeom>
          <a:solidFill>
            <a:srgbClr val="22D3EE"/>
          </a:solidFill>
          <a:ln/>
        </p:spPr>
      </p:sp>
      <p:sp>
        <p:nvSpPr>
          <p:cNvPr id="21" name="Text 18"/>
          <p:cNvSpPr/>
          <p:nvPr/>
        </p:nvSpPr>
        <p:spPr>
          <a:xfrm>
            <a:off x="4233672" y="166420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3</a:t>
            </a:r>
            <a:endParaRPr lang="en-US" sz="1400" dirty="0"/>
          </a:p>
        </p:txBody>
      </p:sp>
      <p:sp>
        <p:nvSpPr>
          <p:cNvPr id="22" name="Shape 19"/>
          <p:cNvSpPr/>
          <p:nvPr/>
        </p:nvSpPr>
        <p:spPr>
          <a:xfrm>
            <a:off x="6249924" y="1828800"/>
            <a:ext cx="1559052" cy="1051560"/>
          </a:xfrm>
          <a:prstGeom prst="roundRect">
            <a:avLst>
              <a:gd name="adj" fmla="val 7826"/>
            </a:avLst>
          </a:prstGeom>
          <a:solidFill>
            <a:srgbClr val="141E33"/>
          </a:solidFill>
          <a:ln/>
          <a:effectLst>
            <a:outerShdw sx="100000" sy="100000" kx="0" ky="0" algn="bl" rotWithShape="0" blurRad="114300" dist="38100" dir="5400000">
              <a:srgbClr val="000000">
                <a:alpha val="45000"/>
              </a:srgbClr>
            </a:outerShdw>
          </a:effectLst>
        </p:spPr>
      </p:sp>
      <p:sp>
        <p:nvSpPr>
          <p:cNvPr id="23" name="Text 20"/>
          <p:cNvSpPr/>
          <p:nvPr/>
        </p:nvSpPr>
        <p:spPr>
          <a:xfrm>
            <a:off x="6323076" y="1828800"/>
            <a:ext cx="1412748" cy="1051560"/>
          </a:xfrm>
          <a:prstGeom prst="rect">
            <a:avLst/>
          </a:prstGeom>
          <a:noFill/>
          <a:ln/>
        </p:spPr>
        <p:txBody>
          <a:bodyPr wrap="square" lIns="0" tIns="0" rIns="0" bIns="0" rtlCol="0" anchor="ctr"/>
          <a:lstStyle/>
          <a:p>
            <a:pPr algn="ctr" indent="0" marL="0">
              <a:lnSpc>
                <a:spcPct val="95000"/>
              </a:lnSpc>
              <a:buNone/>
            </a:pPr>
            <a:r>
              <a:rPr lang="en-US" sz="1250" b="1" dirty="0">
                <a:solidFill>
                  <a:srgbClr val="F1F5F9"/>
                </a:solidFill>
                <a:latin typeface="Calibri" pitchFamily="34" charset="0"/>
                <a:ea typeface="Calibri" pitchFamily="34" charset="-122"/>
                <a:cs typeface="Calibri" pitchFamily="34" charset="-120"/>
              </a:rPr>
              <a:t>Retrieve top chunks</a:t>
            </a:r>
            <a:endParaRPr lang="en-US" sz="1250" dirty="0"/>
          </a:p>
        </p:txBody>
      </p:sp>
      <p:sp>
        <p:nvSpPr>
          <p:cNvPr id="24" name="Shape 21"/>
          <p:cNvSpPr/>
          <p:nvPr/>
        </p:nvSpPr>
        <p:spPr>
          <a:xfrm>
            <a:off x="6103620" y="1682496"/>
            <a:ext cx="384048" cy="384048"/>
          </a:xfrm>
          <a:prstGeom prst="ellipse">
            <a:avLst/>
          </a:prstGeom>
          <a:solidFill>
            <a:srgbClr val="22D3EE"/>
          </a:solidFill>
          <a:ln/>
        </p:spPr>
      </p:sp>
      <p:sp>
        <p:nvSpPr>
          <p:cNvPr id="25" name="Text 22"/>
          <p:cNvSpPr/>
          <p:nvPr/>
        </p:nvSpPr>
        <p:spPr>
          <a:xfrm>
            <a:off x="6103620" y="166420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4</a:t>
            </a:r>
            <a:endParaRPr lang="en-US" sz="1400" dirty="0"/>
          </a:p>
        </p:txBody>
      </p:sp>
      <p:sp>
        <p:nvSpPr>
          <p:cNvPr id="26" name="Shape 23"/>
          <p:cNvSpPr/>
          <p:nvPr/>
        </p:nvSpPr>
        <p:spPr>
          <a:xfrm>
            <a:off x="8119872" y="1828800"/>
            <a:ext cx="1559052" cy="1051560"/>
          </a:xfrm>
          <a:prstGeom prst="roundRect">
            <a:avLst>
              <a:gd name="adj" fmla="val 7826"/>
            </a:avLst>
          </a:prstGeom>
          <a:solidFill>
            <a:srgbClr val="141E33"/>
          </a:solidFill>
          <a:ln/>
          <a:effectLst>
            <a:outerShdw sx="100000" sy="100000" kx="0" ky="0" algn="bl" rotWithShape="0" blurRad="114300" dist="38100" dir="5400000">
              <a:srgbClr val="000000">
                <a:alpha val="45000"/>
              </a:srgbClr>
            </a:outerShdw>
          </a:effectLst>
        </p:spPr>
      </p:sp>
      <p:sp>
        <p:nvSpPr>
          <p:cNvPr id="27" name="Text 24"/>
          <p:cNvSpPr/>
          <p:nvPr/>
        </p:nvSpPr>
        <p:spPr>
          <a:xfrm>
            <a:off x="8193024" y="1828800"/>
            <a:ext cx="1412748" cy="1051560"/>
          </a:xfrm>
          <a:prstGeom prst="rect">
            <a:avLst/>
          </a:prstGeom>
          <a:noFill/>
          <a:ln/>
        </p:spPr>
        <p:txBody>
          <a:bodyPr wrap="square" lIns="0" tIns="0" rIns="0" bIns="0" rtlCol="0" anchor="ctr"/>
          <a:lstStyle/>
          <a:p>
            <a:pPr algn="ctr" indent="0" marL="0">
              <a:lnSpc>
                <a:spcPct val="95000"/>
              </a:lnSpc>
              <a:buNone/>
            </a:pPr>
            <a:r>
              <a:rPr lang="en-US" sz="1250" b="1" dirty="0">
                <a:solidFill>
                  <a:srgbClr val="F1F5F9"/>
                </a:solidFill>
                <a:latin typeface="Calibri" pitchFamily="34" charset="0"/>
                <a:ea typeface="Calibri" pitchFamily="34" charset="-122"/>
                <a:cs typeface="Calibri" pitchFamily="34" charset="-120"/>
              </a:rPr>
              <a:t>Prompt = question + chunks</a:t>
            </a:r>
            <a:endParaRPr lang="en-US" sz="1250" dirty="0"/>
          </a:p>
        </p:txBody>
      </p:sp>
      <p:sp>
        <p:nvSpPr>
          <p:cNvPr id="28" name="Shape 25"/>
          <p:cNvSpPr/>
          <p:nvPr/>
        </p:nvSpPr>
        <p:spPr>
          <a:xfrm>
            <a:off x="7973568" y="1682496"/>
            <a:ext cx="384048" cy="384048"/>
          </a:xfrm>
          <a:prstGeom prst="ellipse">
            <a:avLst/>
          </a:prstGeom>
          <a:solidFill>
            <a:srgbClr val="22D3EE"/>
          </a:solidFill>
          <a:ln/>
        </p:spPr>
      </p:sp>
      <p:sp>
        <p:nvSpPr>
          <p:cNvPr id="29" name="Text 26"/>
          <p:cNvSpPr/>
          <p:nvPr/>
        </p:nvSpPr>
        <p:spPr>
          <a:xfrm>
            <a:off x="7973568" y="166420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5</a:t>
            </a:r>
            <a:endParaRPr lang="en-US" sz="1400" dirty="0"/>
          </a:p>
        </p:txBody>
      </p:sp>
      <p:sp>
        <p:nvSpPr>
          <p:cNvPr id="30" name="Shape 27"/>
          <p:cNvSpPr/>
          <p:nvPr/>
        </p:nvSpPr>
        <p:spPr>
          <a:xfrm>
            <a:off x="9989820" y="1828800"/>
            <a:ext cx="1559052" cy="1051560"/>
          </a:xfrm>
          <a:prstGeom prst="roundRect">
            <a:avLst>
              <a:gd name="adj" fmla="val 7826"/>
            </a:avLst>
          </a:prstGeom>
          <a:solidFill>
            <a:srgbClr val="22D3EE"/>
          </a:solidFill>
          <a:ln/>
          <a:effectLst>
            <a:outerShdw sx="100000" sy="100000" kx="0" ky="0" algn="bl" rotWithShape="0" blurRad="114300" dist="38100" dir="5400000">
              <a:srgbClr val="000000">
                <a:alpha val="45000"/>
              </a:srgbClr>
            </a:outerShdw>
          </a:effectLst>
        </p:spPr>
      </p:sp>
      <p:sp>
        <p:nvSpPr>
          <p:cNvPr id="31" name="Text 28"/>
          <p:cNvSpPr/>
          <p:nvPr/>
        </p:nvSpPr>
        <p:spPr>
          <a:xfrm>
            <a:off x="10062972" y="1828800"/>
            <a:ext cx="1412748" cy="1051560"/>
          </a:xfrm>
          <a:prstGeom prst="rect">
            <a:avLst/>
          </a:prstGeom>
          <a:noFill/>
          <a:ln/>
        </p:spPr>
        <p:txBody>
          <a:bodyPr wrap="square" lIns="0" tIns="0" rIns="0" bIns="0" rtlCol="0" anchor="ctr"/>
          <a:lstStyle/>
          <a:p>
            <a:pPr algn="ctr" indent="0" marL="0">
              <a:lnSpc>
                <a:spcPct val="95000"/>
              </a:lnSpc>
              <a:buNone/>
            </a:pPr>
            <a:r>
              <a:rPr lang="en-US" sz="1250" b="1" dirty="0">
                <a:solidFill>
                  <a:srgbClr val="0B1220"/>
                </a:solidFill>
                <a:latin typeface="Calibri" pitchFamily="34" charset="0"/>
                <a:ea typeface="Calibri" pitchFamily="34" charset="-122"/>
                <a:cs typeface="Calibri" pitchFamily="34" charset="-120"/>
              </a:rPr>
              <a:t>Grounded answer + sources</a:t>
            </a:r>
            <a:endParaRPr lang="en-US" sz="1250" dirty="0"/>
          </a:p>
        </p:txBody>
      </p:sp>
      <p:sp>
        <p:nvSpPr>
          <p:cNvPr id="32" name="Shape 29"/>
          <p:cNvSpPr/>
          <p:nvPr/>
        </p:nvSpPr>
        <p:spPr>
          <a:xfrm>
            <a:off x="9843516" y="1682496"/>
            <a:ext cx="384048" cy="384048"/>
          </a:xfrm>
          <a:prstGeom prst="ellipse">
            <a:avLst/>
          </a:prstGeom>
          <a:solidFill>
            <a:srgbClr val="22D3EE"/>
          </a:solidFill>
          <a:ln/>
        </p:spPr>
      </p:sp>
      <p:sp>
        <p:nvSpPr>
          <p:cNvPr id="33" name="Text 30"/>
          <p:cNvSpPr/>
          <p:nvPr/>
        </p:nvSpPr>
        <p:spPr>
          <a:xfrm>
            <a:off x="9843516" y="1664208"/>
            <a:ext cx="384048" cy="384048"/>
          </a:xfrm>
          <a:prstGeom prst="rect">
            <a:avLst/>
          </a:prstGeom>
          <a:noFill/>
          <a:ln/>
        </p:spPr>
        <p:txBody>
          <a:bodyPr wrap="square" lIns="0" tIns="0" rIns="0" bIns="0" rtlCol="0" anchor="ctr"/>
          <a:lstStyle/>
          <a:p>
            <a:pPr algn="ctr" indent="0" marL="0">
              <a:buNone/>
            </a:pPr>
            <a:r>
              <a:rPr lang="en-US" sz="1400" dirty="0">
                <a:solidFill>
                  <a:srgbClr val="0B1220"/>
                </a:solidFill>
                <a:latin typeface="Arial Black" pitchFamily="34" charset="0"/>
                <a:ea typeface="Arial Black" pitchFamily="34" charset="-122"/>
                <a:cs typeface="Arial Black" pitchFamily="34" charset="-120"/>
              </a:rPr>
              <a:t>6</a:t>
            </a:r>
            <a:endParaRPr lang="en-US" sz="1400" dirty="0"/>
          </a:p>
        </p:txBody>
      </p:sp>
      <p:sp>
        <p:nvSpPr>
          <p:cNvPr id="34" name="Shape 31"/>
          <p:cNvSpPr/>
          <p:nvPr/>
        </p:nvSpPr>
        <p:spPr>
          <a:xfrm>
            <a:off x="548640" y="3794760"/>
            <a:ext cx="3611880" cy="1737360"/>
          </a:xfrm>
          <a:prstGeom prst="roundRect">
            <a:avLst>
              <a:gd name="adj" fmla="val 4737"/>
            </a:avLst>
          </a:prstGeom>
          <a:solidFill>
            <a:srgbClr val="141E33"/>
          </a:solidFill>
          <a:ln/>
          <a:effectLst>
            <a:outerShdw sx="100000" sy="100000" kx="0" ky="0" algn="bl" rotWithShape="0" blurRad="114300" dist="38100" dir="5400000">
              <a:srgbClr val="000000">
                <a:alpha val="45000"/>
              </a:srgbClr>
            </a:outerShdw>
          </a:effectLst>
        </p:spPr>
      </p:sp>
      <p:sp>
        <p:nvSpPr>
          <p:cNvPr id="35" name="Shape 32"/>
          <p:cNvSpPr/>
          <p:nvPr/>
        </p:nvSpPr>
        <p:spPr>
          <a:xfrm>
            <a:off x="777240" y="4023360"/>
            <a:ext cx="548640" cy="548640"/>
          </a:xfrm>
          <a:prstGeom prst="ellipse">
            <a:avLst/>
          </a:prstGeom>
          <a:solidFill>
            <a:srgbClr val="1B2842"/>
          </a:solidFill>
          <a:ln/>
        </p:spPr>
      </p:sp>
      <p:pic>
        <p:nvPicPr>
          <p:cNvPr id="36" name="Image 0" descr="C:\Users\User\AppData\Local\Temp\claude\C--Users-User-OneDrive-Music-Hackathon\67e3d9e6-0718-4380-8c09-13d83fcd8fa7\scratchpad\pptbuild\v2\assets\icons\scan-cyan.png">    </p:cNvPr>
          <p:cNvPicPr>
            <a:picLocks noChangeAspect="1"/>
          </p:cNvPicPr>
          <p:nvPr/>
        </p:nvPicPr>
        <p:blipFill>
          <a:blip r:embed="rId1"/>
          <a:stretch>
            <a:fillRect/>
          </a:stretch>
        </p:blipFill>
        <p:spPr>
          <a:xfrm>
            <a:off x="908914" y="4155034"/>
            <a:ext cx="285293" cy="285293"/>
          </a:xfrm>
          <a:prstGeom prst="rect">
            <a:avLst/>
          </a:prstGeom>
        </p:spPr>
      </p:pic>
      <p:sp>
        <p:nvSpPr>
          <p:cNvPr id="37" name="Text 33"/>
          <p:cNvSpPr/>
          <p:nvPr/>
        </p:nvSpPr>
        <p:spPr>
          <a:xfrm>
            <a:off x="777240" y="4617720"/>
            <a:ext cx="3154680" cy="868680"/>
          </a:xfrm>
          <a:prstGeom prst="rect">
            <a:avLst/>
          </a:prstGeom>
          <a:noFill/>
          <a:ln/>
        </p:spPr>
        <p:txBody>
          <a:bodyPr wrap="square" lIns="0" tIns="0" rIns="0" bIns="0" rtlCol="0" anchor="t"/>
          <a:lstStyle/>
          <a:p>
            <a:pPr indent="0" marL="0">
              <a:lnSpc>
                <a:spcPct val="105000"/>
              </a:lnSpc>
              <a:spcAft>
                <a:spcPts val="400"/>
              </a:spcAft>
              <a:buNone/>
            </a:pPr>
            <a:r>
              <a:rPr lang="en-US" sz="1550" b="1" dirty="0">
                <a:solidFill>
                  <a:srgbClr val="22D3EE"/>
                </a:solidFill>
                <a:latin typeface="Calibri" pitchFamily="34" charset="0"/>
                <a:ea typeface="Calibri" pitchFamily="34" charset="-122"/>
                <a:cs typeface="Calibri" pitchFamily="34" charset="-120"/>
              </a:rPr>
              <a:t>Embedding
</a:t>
            </a:r>
            <a:pPr indent="0" marL="0">
              <a:lnSpc>
                <a:spcPct val="105000"/>
              </a:lnSpc>
              <a:buNone/>
            </a:pPr>
            <a:r>
              <a:rPr lang="en-US" sz="1300" dirty="0">
                <a:solidFill>
                  <a:srgbClr val="F1F5F9"/>
                </a:solidFill>
                <a:latin typeface="Calibri" pitchFamily="34" charset="0"/>
                <a:ea typeface="Calibri" pitchFamily="34" charset="-122"/>
                <a:cs typeface="Calibri" pitchFamily="34" charset="-120"/>
              </a:rPr>
              <a:t>vector of text capturing meaning — similar meaning, similar vector</a:t>
            </a:r>
            <a:endParaRPr lang="en-US" sz="1550" dirty="0"/>
          </a:p>
        </p:txBody>
      </p:sp>
      <p:sp>
        <p:nvSpPr>
          <p:cNvPr id="38" name="Shape 34"/>
          <p:cNvSpPr/>
          <p:nvPr/>
        </p:nvSpPr>
        <p:spPr>
          <a:xfrm>
            <a:off x="4370832" y="3794760"/>
            <a:ext cx="3611880" cy="1737360"/>
          </a:xfrm>
          <a:prstGeom prst="roundRect">
            <a:avLst>
              <a:gd name="adj" fmla="val 4737"/>
            </a:avLst>
          </a:prstGeom>
          <a:solidFill>
            <a:srgbClr val="141E33"/>
          </a:solidFill>
          <a:ln/>
          <a:effectLst>
            <a:outerShdw sx="100000" sy="100000" kx="0" ky="0" algn="bl" rotWithShape="0" blurRad="114300" dist="38100" dir="5400000">
              <a:srgbClr val="000000">
                <a:alpha val="45000"/>
              </a:srgbClr>
            </a:outerShdw>
          </a:effectLst>
        </p:spPr>
      </p:sp>
      <p:sp>
        <p:nvSpPr>
          <p:cNvPr id="39" name="Shape 35"/>
          <p:cNvSpPr/>
          <p:nvPr/>
        </p:nvSpPr>
        <p:spPr>
          <a:xfrm>
            <a:off x="4599432" y="4023360"/>
            <a:ext cx="548640" cy="548640"/>
          </a:xfrm>
          <a:prstGeom prst="ellipse">
            <a:avLst/>
          </a:prstGeom>
          <a:solidFill>
            <a:srgbClr val="1B2842"/>
          </a:solidFill>
          <a:ln/>
        </p:spPr>
      </p:sp>
      <p:pic>
        <p:nvPicPr>
          <p:cNvPr id="40" name="Image 1" descr="C:\Users\User\AppData\Local\Temp\claude\C--Users-User-OneDrive-Music-Hackathon\67e3d9e6-0718-4380-8c09-13d83fcd8fa7\scratchpad\pptbuild\v2\assets\icons\database-cyan.png">    </p:cNvPr>
          <p:cNvPicPr>
            <a:picLocks noChangeAspect="1"/>
          </p:cNvPicPr>
          <p:nvPr/>
        </p:nvPicPr>
        <p:blipFill>
          <a:blip r:embed="rId2"/>
          <a:stretch>
            <a:fillRect/>
          </a:stretch>
        </p:blipFill>
        <p:spPr>
          <a:xfrm>
            <a:off x="4731106" y="4155034"/>
            <a:ext cx="285293" cy="285293"/>
          </a:xfrm>
          <a:prstGeom prst="rect">
            <a:avLst/>
          </a:prstGeom>
        </p:spPr>
      </p:pic>
      <p:sp>
        <p:nvSpPr>
          <p:cNvPr id="41" name="Text 36"/>
          <p:cNvSpPr/>
          <p:nvPr/>
        </p:nvSpPr>
        <p:spPr>
          <a:xfrm>
            <a:off x="4599432" y="4617720"/>
            <a:ext cx="3154680" cy="868680"/>
          </a:xfrm>
          <a:prstGeom prst="rect">
            <a:avLst/>
          </a:prstGeom>
          <a:noFill/>
          <a:ln/>
        </p:spPr>
        <p:txBody>
          <a:bodyPr wrap="square" lIns="0" tIns="0" rIns="0" bIns="0" rtlCol="0" anchor="t"/>
          <a:lstStyle/>
          <a:p>
            <a:pPr indent="0" marL="0">
              <a:lnSpc>
                <a:spcPct val="105000"/>
              </a:lnSpc>
              <a:spcAft>
                <a:spcPts val="400"/>
              </a:spcAft>
              <a:buNone/>
            </a:pPr>
            <a:r>
              <a:rPr lang="en-US" sz="1550" b="1" dirty="0">
                <a:solidFill>
                  <a:srgbClr val="22D3EE"/>
                </a:solidFill>
                <a:latin typeface="Calibri" pitchFamily="34" charset="0"/>
                <a:ea typeface="Calibri" pitchFamily="34" charset="-122"/>
                <a:cs typeface="Calibri" pitchFamily="34" charset="-120"/>
              </a:rPr>
              <a:t>Vector database
</a:t>
            </a:r>
            <a:pPr indent="0" marL="0">
              <a:lnSpc>
                <a:spcPct val="105000"/>
              </a:lnSpc>
              <a:buNone/>
            </a:pPr>
            <a:r>
              <a:rPr lang="en-US" sz="1300" dirty="0">
                <a:solidFill>
                  <a:srgbClr val="F1F5F9"/>
                </a:solidFill>
                <a:latin typeface="Calibri" pitchFamily="34" charset="0"/>
                <a:ea typeface="Calibri" pitchFamily="34" charset="-122"/>
                <a:cs typeface="Calibri" pitchFamily="34" charset="-120"/>
              </a:rPr>
              <a:t>stores embeddings · finds the most similar (semantic search)</a:t>
            </a:r>
            <a:endParaRPr lang="en-US" sz="1550" dirty="0"/>
          </a:p>
        </p:txBody>
      </p:sp>
      <p:sp>
        <p:nvSpPr>
          <p:cNvPr id="42" name="Shape 37"/>
          <p:cNvSpPr/>
          <p:nvPr/>
        </p:nvSpPr>
        <p:spPr>
          <a:xfrm>
            <a:off x="8193024" y="3794760"/>
            <a:ext cx="3611880" cy="1737360"/>
          </a:xfrm>
          <a:prstGeom prst="roundRect">
            <a:avLst>
              <a:gd name="adj" fmla="val 4737"/>
            </a:avLst>
          </a:prstGeom>
          <a:solidFill>
            <a:srgbClr val="141E33"/>
          </a:solidFill>
          <a:ln/>
          <a:effectLst>
            <a:outerShdw sx="100000" sy="100000" kx="0" ky="0" algn="bl" rotWithShape="0" blurRad="114300" dist="38100" dir="5400000">
              <a:srgbClr val="000000">
                <a:alpha val="45000"/>
              </a:srgbClr>
            </a:outerShdw>
          </a:effectLst>
        </p:spPr>
      </p:sp>
      <p:sp>
        <p:nvSpPr>
          <p:cNvPr id="43" name="Shape 38"/>
          <p:cNvSpPr/>
          <p:nvPr/>
        </p:nvSpPr>
        <p:spPr>
          <a:xfrm>
            <a:off x="8421624" y="4023360"/>
            <a:ext cx="548640" cy="548640"/>
          </a:xfrm>
          <a:prstGeom prst="ellipse">
            <a:avLst/>
          </a:prstGeom>
          <a:solidFill>
            <a:srgbClr val="1B2842"/>
          </a:solidFill>
          <a:ln/>
        </p:spPr>
      </p:sp>
      <p:pic>
        <p:nvPicPr>
          <p:cNvPr id="44" name="Image 2" descr="C:\Users\User\AppData\Local\Temp\claude\C--Users-User-OneDrive-Music-Hackathon\67e3d9e6-0718-4380-8c09-13d83fcd8fa7\scratchpad\pptbuild\v2\assets\icons\scissors-cyan.png">    </p:cNvPr>
          <p:cNvPicPr>
            <a:picLocks noChangeAspect="1"/>
          </p:cNvPicPr>
          <p:nvPr/>
        </p:nvPicPr>
        <p:blipFill>
          <a:blip r:embed="rId3"/>
          <a:stretch>
            <a:fillRect/>
          </a:stretch>
        </p:blipFill>
        <p:spPr>
          <a:xfrm>
            <a:off x="8553298" y="4155034"/>
            <a:ext cx="285293" cy="285293"/>
          </a:xfrm>
          <a:prstGeom prst="rect">
            <a:avLst/>
          </a:prstGeom>
        </p:spPr>
      </p:pic>
      <p:sp>
        <p:nvSpPr>
          <p:cNvPr id="45" name="Text 39"/>
          <p:cNvSpPr/>
          <p:nvPr/>
        </p:nvSpPr>
        <p:spPr>
          <a:xfrm>
            <a:off x="8421624" y="4617720"/>
            <a:ext cx="3154680" cy="868680"/>
          </a:xfrm>
          <a:prstGeom prst="rect">
            <a:avLst/>
          </a:prstGeom>
          <a:noFill/>
          <a:ln/>
        </p:spPr>
        <p:txBody>
          <a:bodyPr wrap="square" lIns="0" tIns="0" rIns="0" bIns="0" rtlCol="0" anchor="t"/>
          <a:lstStyle/>
          <a:p>
            <a:pPr indent="0" marL="0">
              <a:lnSpc>
                <a:spcPct val="105000"/>
              </a:lnSpc>
              <a:spcAft>
                <a:spcPts val="400"/>
              </a:spcAft>
              <a:buNone/>
            </a:pPr>
            <a:r>
              <a:rPr lang="en-US" sz="1550" b="1" dirty="0">
                <a:solidFill>
                  <a:srgbClr val="22D3EE"/>
                </a:solidFill>
                <a:latin typeface="Calibri" pitchFamily="34" charset="0"/>
                <a:ea typeface="Calibri" pitchFamily="34" charset="-122"/>
                <a:cs typeface="Calibri" pitchFamily="34" charset="-120"/>
              </a:rPr>
              <a:t>Chunking
</a:t>
            </a:r>
            <a:pPr indent="0" marL="0">
              <a:lnSpc>
                <a:spcPct val="105000"/>
              </a:lnSpc>
              <a:buNone/>
            </a:pPr>
            <a:r>
              <a:rPr lang="en-US" sz="1300" dirty="0">
                <a:solidFill>
                  <a:srgbClr val="F1F5F9"/>
                </a:solidFill>
                <a:latin typeface="Calibri" pitchFamily="34" charset="0"/>
                <a:ea typeface="Calibri" pitchFamily="34" charset="-122"/>
                <a:cs typeface="Calibri" pitchFamily="34" charset="-120"/>
              </a:rPr>
              <a:t>split docs into pieces pre-embedding → focused retrieval</a:t>
            </a:r>
            <a:endParaRPr lang="en-US" sz="1550" dirty="0"/>
          </a:p>
        </p:txBody>
      </p:sp>
      <p:sp>
        <p:nvSpPr>
          <p:cNvPr id="46" name="Text 40"/>
          <p:cNvSpPr/>
          <p:nvPr/>
        </p:nvSpPr>
        <p:spPr>
          <a:xfrm>
            <a:off x="548640" y="5852160"/>
            <a:ext cx="11091672" cy="320040"/>
          </a:xfrm>
          <a:prstGeom prst="rect">
            <a:avLst/>
          </a:prstGeom>
          <a:noFill/>
          <a:ln/>
        </p:spPr>
        <p:txBody>
          <a:bodyPr wrap="square" lIns="0" tIns="0" rIns="0" bIns="0" rtlCol="0" anchor="ctr"/>
          <a:lstStyle/>
          <a:p>
            <a:pPr algn="ctr" indent="0" marL="0">
              <a:buNone/>
            </a:pPr>
            <a:r>
              <a:rPr lang="en-US" sz="1300" dirty="0">
                <a:solidFill>
                  <a:srgbClr val="A3E635"/>
                </a:solidFill>
                <a:latin typeface="Consolas" pitchFamily="34" charset="0"/>
                <a:ea typeface="Consolas" pitchFamily="34" charset="-122"/>
                <a:cs typeface="Consolas" pitchFamily="34" charset="-120"/>
              </a:rPr>
              <a:t>grounded answers · fewer made-up facts · sources judges can check</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AI Capabilities on Tap</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54</a:t>
            </a:r>
            <a:endParaRPr lang="en-US" sz="1000" dirty="0"/>
          </a:p>
        </p:txBody>
      </p:sp>
      <p:sp>
        <p:nvSpPr>
          <p:cNvPr id="5" name="Shape 2"/>
          <p:cNvSpPr/>
          <p:nvPr/>
        </p:nvSpPr>
        <p:spPr>
          <a:xfrm>
            <a:off x="548640"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4650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scan-cyan.png">    </p:cNvPr>
          <p:cNvPicPr>
            <a:picLocks noChangeAspect="1"/>
          </p:cNvPicPr>
          <p:nvPr/>
        </p:nvPicPr>
        <p:blipFill>
          <a:blip r:embed="rId1"/>
          <a:stretch>
            <a:fillRect/>
          </a:stretch>
        </p:blipFill>
        <p:spPr>
          <a:xfrm>
            <a:off x="931225" y="1891345"/>
            <a:ext cx="313822" cy="313822"/>
          </a:xfrm>
          <a:prstGeom prst="rect">
            <a:avLst/>
          </a:prstGeom>
        </p:spPr>
      </p:pic>
      <p:sp>
        <p:nvSpPr>
          <p:cNvPr id="8" name="Text 4"/>
          <p:cNvSpPr/>
          <p:nvPr/>
        </p:nvSpPr>
        <p:spPr>
          <a:xfrm>
            <a:off x="786384"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OCR</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text from images &amp; PDFs — receipts, documents</a:t>
            </a:r>
            <a:endParaRPr lang="en-US" sz="1600" dirty="0"/>
          </a:p>
        </p:txBody>
      </p:sp>
      <p:sp>
        <p:nvSpPr>
          <p:cNvPr id="9" name="Shape 5"/>
          <p:cNvSpPr/>
          <p:nvPr/>
        </p:nvSpPr>
        <p:spPr>
          <a:xfrm>
            <a:off x="4337304"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74650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mic-cyan.png">    </p:cNvPr>
          <p:cNvPicPr>
            <a:picLocks noChangeAspect="1"/>
          </p:cNvPicPr>
          <p:nvPr/>
        </p:nvPicPr>
        <p:blipFill>
          <a:blip r:embed="rId2"/>
          <a:stretch>
            <a:fillRect/>
          </a:stretch>
        </p:blipFill>
        <p:spPr>
          <a:xfrm>
            <a:off x="4719889" y="1891345"/>
            <a:ext cx="313822" cy="313822"/>
          </a:xfrm>
          <a:prstGeom prst="rect">
            <a:avLst/>
          </a:prstGeom>
        </p:spPr>
      </p:pic>
      <p:sp>
        <p:nvSpPr>
          <p:cNvPr id="12" name="Text 7"/>
          <p:cNvSpPr/>
          <p:nvPr/>
        </p:nvSpPr>
        <p:spPr>
          <a:xfrm>
            <a:off x="4575048"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Speech STT / TTS</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voice in · voice out</a:t>
            </a:r>
            <a:endParaRPr lang="en-US" sz="1600" dirty="0"/>
          </a:p>
        </p:txBody>
      </p:sp>
      <p:sp>
        <p:nvSpPr>
          <p:cNvPr id="13" name="Shape 8"/>
          <p:cNvSpPr/>
          <p:nvPr/>
        </p:nvSpPr>
        <p:spPr>
          <a:xfrm>
            <a:off x="8125968"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74650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eye-cyan.png">    </p:cNvPr>
          <p:cNvPicPr>
            <a:picLocks noChangeAspect="1"/>
          </p:cNvPicPr>
          <p:nvPr/>
        </p:nvPicPr>
        <p:blipFill>
          <a:blip r:embed="rId3"/>
          <a:stretch>
            <a:fillRect/>
          </a:stretch>
        </p:blipFill>
        <p:spPr>
          <a:xfrm>
            <a:off x="8508553" y="1891345"/>
            <a:ext cx="313822" cy="313822"/>
          </a:xfrm>
          <a:prstGeom prst="rect">
            <a:avLst/>
          </a:prstGeom>
        </p:spPr>
      </p:pic>
      <p:sp>
        <p:nvSpPr>
          <p:cNvPr id="16" name="Text 10"/>
          <p:cNvSpPr/>
          <p:nvPr/>
        </p:nvSpPr>
        <p:spPr>
          <a:xfrm>
            <a:off x="8363712"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Vision</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objects · faces · scenes</a:t>
            </a:r>
            <a:endParaRPr lang="en-US" sz="1600" dirty="0"/>
          </a:p>
        </p:txBody>
      </p:sp>
      <p:sp>
        <p:nvSpPr>
          <p:cNvPr id="17" name="Shape 11"/>
          <p:cNvSpPr/>
          <p:nvPr/>
        </p:nvSpPr>
        <p:spPr>
          <a:xfrm>
            <a:off x="548640"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786384" y="4123944"/>
            <a:ext cx="603504" cy="603504"/>
          </a:xfrm>
          <a:prstGeom prst="ellipse">
            <a:avLst/>
          </a:prstGeom>
          <a:solidFill>
            <a:srgbClr val="1B2842"/>
          </a:solidFill>
          <a:ln/>
        </p:spPr>
      </p:sp>
      <p:pic>
        <p:nvPicPr>
          <p:cNvPr id="19" name="Image 3" descr="C:\Users\User\AppData\Local\Temp\claude\C--Users-User-OneDrive-Music-Hackathon\67e3d9e6-0718-4380-8c09-13d83fcd8fa7\scratchpad\pptbuild\v2\assets\icons\filetext-cyan.png">    </p:cNvPr>
          <p:cNvPicPr>
            <a:picLocks noChangeAspect="1"/>
          </p:cNvPicPr>
          <p:nvPr/>
        </p:nvPicPr>
        <p:blipFill>
          <a:blip r:embed="rId4"/>
          <a:stretch>
            <a:fillRect/>
          </a:stretch>
        </p:blipFill>
        <p:spPr>
          <a:xfrm>
            <a:off x="931225" y="4268785"/>
            <a:ext cx="313822" cy="313822"/>
          </a:xfrm>
          <a:prstGeom prst="rect">
            <a:avLst/>
          </a:prstGeom>
        </p:spPr>
      </p:pic>
      <p:sp>
        <p:nvSpPr>
          <p:cNvPr id="20" name="Text 13"/>
          <p:cNvSpPr/>
          <p:nvPr/>
        </p:nvSpPr>
        <p:spPr>
          <a:xfrm>
            <a:off x="786384"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Summarize + recommend</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reliable, demo-friendly everyday wins</a:t>
            </a:r>
            <a:endParaRPr lang="en-US" sz="1600" dirty="0"/>
          </a:p>
        </p:txBody>
      </p:sp>
      <p:sp>
        <p:nvSpPr>
          <p:cNvPr id="21" name="Shape 14"/>
          <p:cNvSpPr/>
          <p:nvPr/>
        </p:nvSpPr>
        <p:spPr>
          <a:xfrm>
            <a:off x="4337304"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4575048" y="4123944"/>
            <a:ext cx="603504" cy="603504"/>
          </a:xfrm>
          <a:prstGeom prst="ellipse">
            <a:avLst/>
          </a:prstGeom>
          <a:solidFill>
            <a:srgbClr val="1B2842"/>
          </a:solidFill>
          <a:ln/>
        </p:spPr>
      </p:sp>
      <p:pic>
        <p:nvPicPr>
          <p:cNvPr id="23" name="Image 4" descr="C:\Users\User\AppData\Local\Temp\claude\C--Users-User-OneDrive-Music-Hackathon\67e3d9e6-0718-4380-8c09-13d83fcd8fa7\scratchpad\pptbuild\v2\assets\icons\message-cyan.png">    </p:cNvPr>
          <p:cNvPicPr>
            <a:picLocks noChangeAspect="1"/>
          </p:cNvPicPr>
          <p:nvPr/>
        </p:nvPicPr>
        <p:blipFill>
          <a:blip r:embed="rId5"/>
          <a:stretch>
            <a:fillRect/>
          </a:stretch>
        </p:blipFill>
        <p:spPr>
          <a:xfrm>
            <a:off x="4719889" y="4268785"/>
            <a:ext cx="313822" cy="313822"/>
          </a:xfrm>
          <a:prstGeom prst="rect">
            <a:avLst/>
          </a:prstGeom>
        </p:spPr>
      </p:pic>
      <p:sp>
        <p:nvSpPr>
          <p:cNvPr id="24" name="Text 16"/>
          <p:cNvSpPr/>
          <p:nvPr/>
        </p:nvSpPr>
        <p:spPr>
          <a:xfrm>
            <a:off x="4575048"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Chatbot</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conversational UI over an LLM (+ RAG)</a:t>
            </a:r>
            <a:endParaRPr lang="en-US" sz="1600" dirty="0"/>
          </a:p>
        </p:txBody>
      </p:sp>
      <p:sp>
        <p:nvSpPr>
          <p:cNvPr id="25" name="Shape 17"/>
          <p:cNvSpPr/>
          <p:nvPr/>
        </p:nvSpPr>
        <p:spPr>
          <a:xfrm>
            <a:off x="8125968"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8363712" y="4123944"/>
            <a:ext cx="603504" cy="603504"/>
          </a:xfrm>
          <a:prstGeom prst="ellipse">
            <a:avLst/>
          </a:prstGeom>
          <a:solidFill>
            <a:srgbClr val="1B2842"/>
          </a:solidFill>
          <a:ln/>
        </p:spPr>
      </p:sp>
      <p:pic>
        <p:nvPicPr>
          <p:cNvPr id="27" name="Image 5" descr="C:\Users\User\AppData\Local\Temp\claude\C--Users-User-OneDrive-Music-Hackathon\67e3d9e6-0718-4380-8c09-13d83fcd8fa7\scratchpad\pptbuild\v2\assets\icons\cpu-cyan.png">    </p:cNvPr>
          <p:cNvPicPr>
            <a:picLocks noChangeAspect="1"/>
          </p:cNvPicPr>
          <p:nvPr/>
        </p:nvPicPr>
        <p:blipFill>
          <a:blip r:embed="rId6"/>
          <a:stretch>
            <a:fillRect/>
          </a:stretch>
        </p:blipFill>
        <p:spPr>
          <a:xfrm>
            <a:off x="8508553" y="4268785"/>
            <a:ext cx="313822" cy="313822"/>
          </a:xfrm>
          <a:prstGeom prst="rect">
            <a:avLst/>
          </a:prstGeom>
        </p:spPr>
      </p:pic>
      <p:sp>
        <p:nvSpPr>
          <p:cNvPr id="28" name="Text 19"/>
          <p:cNvSpPr/>
          <p:nvPr/>
        </p:nvSpPr>
        <p:spPr>
          <a:xfrm>
            <a:off x="8363712"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Agent · multimodal</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acts + uses tools — only if the core needs it</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Reference AI Architectures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55</a:t>
            </a:r>
            <a:endParaRPr lang="en-US" sz="1000" dirty="0"/>
          </a:p>
        </p:txBody>
      </p:sp>
      <p:sp>
        <p:nvSpPr>
          <p:cNvPr id="5" name="Shape 2"/>
          <p:cNvSpPr/>
          <p:nvPr/>
        </p:nvSpPr>
        <p:spPr>
          <a:xfrm>
            <a:off x="548640" y="1554480"/>
            <a:ext cx="11091672" cy="896112"/>
          </a:xfrm>
          <a:prstGeom prst="roundRect">
            <a:avLst>
              <a:gd name="adj" fmla="val 9184"/>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822960" y="1719072"/>
            <a:ext cx="566928" cy="566928"/>
          </a:xfrm>
          <a:prstGeom prst="ellipse">
            <a:avLst/>
          </a:prstGeom>
          <a:solidFill>
            <a:srgbClr val="1B2842"/>
          </a:solidFill>
          <a:ln/>
        </p:spPr>
      </p:sp>
      <p:pic>
        <p:nvPicPr>
          <p:cNvPr id="7" name="Image 0" descr="C:\Users\User\AppData\Local\Temp\claude\C--Users-User-OneDrive-Music-Hackathon\67e3d9e6-0718-4380-8c09-13d83fcd8fa7\scratchpad\pptbuild\v2\assets\icons\message-cyan.png">    </p:cNvPr>
          <p:cNvPicPr>
            <a:picLocks noChangeAspect="1"/>
          </p:cNvPicPr>
          <p:nvPr/>
        </p:nvPicPr>
        <p:blipFill>
          <a:blip r:embed="rId1"/>
          <a:stretch>
            <a:fillRect/>
          </a:stretch>
        </p:blipFill>
        <p:spPr>
          <a:xfrm>
            <a:off x="959023" y="1855135"/>
            <a:ext cx="294803" cy="294803"/>
          </a:xfrm>
          <a:prstGeom prst="rect">
            <a:avLst/>
          </a:prstGeom>
        </p:spPr>
      </p:pic>
      <p:sp>
        <p:nvSpPr>
          <p:cNvPr id="8" name="Text 4"/>
          <p:cNvSpPr/>
          <p:nvPr/>
        </p:nvSpPr>
        <p:spPr>
          <a:xfrm>
            <a:off x="1600200" y="1554480"/>
            <a:ext cx="9875520" cy="896112"/>
          </a:xfrm>
          <a:prstGeom prst="rect">
            <a:avLst/>
          </a:prstGeom>
          <a:noFill/>
          <a:ln/>
        </p:spPr>
        <p:txBody>
          <a:bodyPr wrap="square" lIns="0" tIns="0" rIns="0" bIns="0" rtlCol="0" anchor="ctr"/>
          <a:lstStyle/>
          <a:p>
            <a:pPr indent="0" marL="0">
              <a:lnSpc>
                <a:spcPct val="105000"/>
              </a:lnSpc>
              <a:spcAft>
                <a:spcPts val="300"/>
              </a:spcAft>
              <a:buNone/>
            </a:pPr>
            <a:r>
              <a:rPr lang="en-US" sz="1550" b="1" dirty="0">
                <a:solidFill>
                  <a:srgbClr val="F1F5F9"/>
                </a:solidFill>
                <a:latin typeface="Calibri" pitchFamily="34" charset="0"/>
                <a:ea typeface="Calibri" pitchFamily="34" charset="-122"/>
                <a:cs typeface="Calibri" pitchFamily="34" charset="-120"/>
              </a:rPr>
              <a:t>Docs chatbot
</a:t>
            </a:r>
            <a:pPr indent="0" marL="0">
              <a:lnSpc>
                <a:spcPct val="105000"/>
              </a:lnSpc>
              <a:buNone/>
            </a:pPr>
            <a:r>
              <a:rPr lang="en-US" sz="1300" dirty="0">
                <a:solidFill>
                  <a:srgbClr val="22D3EE"/>
                </a:solidFill>
                <a:latin typeface="Consolas" pitchFamily="34" charset="0"/>
                <a:ea typeface="Consolas" pitchFamily="34" charset="-122"/>
                <a:cs typeface="Consolas" pitchFamily="34" charset="-120"/>
              </a:rPr>
              <a:t>chat UI → backend → embed → vector DB → LLM → grounded answer + sources</a:t>
            </a:r>
            <a:endParaRPr lang="en-US" sz="1550" dirty="0"/>
          </a:p>
        </p:txBody>
      </p:sp>
      <p:sp>
        <p:nvSpPr>
          <p:cNvPr id="9" name="Shape 5"/>
          <p:cNvSpPr/>
          <p:nvPr/>
        </p:nvSpPr>
        <p:spPr>
          <a:xfrm>
            <a:off x="548640" y="2633472"/>
            <a:ext cx="11091672" cy="896112"/>
          </a:xfrm>
          <a:prstGeom prst="roundRect">
            <a:avLst>
              <a:gd name="adj" fmla="val 9184"/>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822960" y="2798064"/>
            <a:ext cx="566928" cy="566928"/>
          </a:xfrm>
          <a:prstGeom prst="ellipse">
            <a:avLst/>
          </a:prstGeom>
          <a:solidFill>
            <a:srgbClr val="1B2842"/>
          </a:solidFill>
          <a:ln/>
        </p:spPr>
      </p:sp>
      <p:pic>
        <p:nvPicPr>
          <p:cNvPr id="11" name="Image 1" descr="C:\Users\User\AppData\Local\Temp\claude\C--Users-User-OneDrive-Music-Hackathon\67e3d9e6-0718-4380-8c09-13d83fcd8fa7\scratchpad\pptbuild\v2\assets\icons\scan-cyan.png">    </p:cNvPr>
          <p:cNvPicPr>
            <a:picLocks noChangeAspect="1"/>
          </p:cNvPicPr>
          <p:nvPr/>
        </p:nvPicPr>
        <p:blipFill>
          <a:blip r:embed="rId2"/>
          <a:stretch>
            <a:fillRect/>
          </a:stretch>
        </p:blipFill>
        <p:spPr>
          <a:xfrm>
            <a:off x="959023" y="2934127"/>
            <a:ext cx="294803" cy="294803"/>
          </a:xfrm>
          <a:prstGeom prst="rect">
            <a:avLst/>
          </a:prstGeom>
        </p:spPr>
      </p:pic>
      <p:sp>
        <p:nvSpPr>
          <p:cNvPr id="12" name="Text 7"/>
          <p:cNvSpPr/>
          <p:nvPr/>
        </p:nvSpPr>
        <p:spPr>
          <a:xfrm>
            <a:off x="1600200" y="2633472"/>
            <a:ext cx="9875520" cy="896112"/>
          </a:xfrm>
          <a:prstGeom prst="rect">
            <a:avLst/>
          </a:prstGeom>
          <a:noFill/>
          <a:ln/>
        </p:spPr>
        <p:txBody>
          <a:bodyPr wrap="square" lIns="0" tIns="0" rIns="0" bIns="0" rtlCol="0" anchor="ctr"/>
          <a:lstStyle/>
          <a:p>
            <a:pPr indent="0" marL="0">
              <a:lnSpc>
                <a:spcPct val="105000"/>
              </a:lnSpc>
              <a:spcAft>
                <a:spcPts val="300"/>
              </a:spcAft>
              <a:buNone/>
            </a:pPr>
            <a:r>
              <a:rPr lang="en-US" sz="1550" b="1" dirty="0">
                <a:solidFill>
                  <a:srgbClr val="F1F5F9"/>
                </a:solidFill>
                <a:latin typeface="Calibri" pitchFamily="34" charset="0"/>
                <a:ea typeface="Calibri" pitchFamily="34" charset="-122"/>
                <a:cs typeface="Calibri" pitchFamily="34" charset="-120"/>
              </a:rPr>
              <a:t>Receipt reader
</a:t>
            </a:r>
            <a:pPr indent="0" marL="0">
              <a:lnSpc>
                <a:spcPct val="105000"/>
              </a:lnSpc>
              <a:buNone/>
            </a:pPr>
            <a:r>
              <a:rPr lang="en-US" sz="1300" dirty="0">
                <a:solidFill>
                  <a:srgbClr val="22D3EE"/>
                </a:solidFill>
                <a:latin typeface="Consolas" pitchFamily="34" charset="0"/>
                <a:ea typeface="Consolas" pitchFamily="34" charset="-122"/>
                <a:cs typeface="Consolas" pitchFamily="34" charset="-120"/>
              </a:rPr>
              <a:t>upload → OCR / vision → text → LLM structures (JSON) → store + display</a:t>
            </a:r>
            <a:endParaRPr lang="en-US" sz="1550" dirty="0"/>
          </a:p>
        </p:txBody>
      </p:sp>
      <p:sp>
        <p:nvSpPr>
          <p:cNvPr id="13" name="Shape 8"/>
          <p:cNvSpPr/>
          <p:nvPr/>
        </p:nvSpPr>
        <p:spPr>
          <a:xfrm>
            <a:off x="548640" y="3712464"/>
            <a:ext cx="11091672" cy="896112"/>
          </a:xfrm>
          <a:prstGeom prst="roundRect">
            <a:avLst>
              <a:gd name="adj" fmla="val 9184"/>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22960" y="3877056"/>
            <a:ext cx="566928" cy="566928"/>
          </a:xfrm>
          <a:prstGeom prst="ellipse">
            <a:avLst/>
          </a:prstGeom>
          <a:solidFill>
            <a:srgbClr val="1B2842"/>
          </a:solidFill>
          <a:ln/>
        </p:spPr>
      </p:sp>
      <p:pic>
        <p:nvPicPr>
          <p:cNvPr id="15" name="Image 2" descr="C:\Users\User\AppData\Local\Temp\claude\C--Users-User-OneDrive-Music-Hackathon\67e3d9e6-0718-4380-8c09-13d83fcd8fa7\scratchpad\pptbuild\v2\assets\icons\mic-cyan.png">    </p:cNvPr>
          <p:cNvPicPr>
            <a:picLocks noChangeAspect="1"/>
          </p:cNvPicPr>
          <p:nvPr/>
        </p:nvPicPr>
        <p:blipFill>
          <a:blip r:embed="rId3"/>
          <a:stretch>
            <a:fillRect/>
          </a:stretch>
        </p:blipFill>
        <p:spPr>
          <a:xfrm>
            <a:off x="959023" y="4013119"/>
            <a:ext cx="294803" cy="294803"/>
          </a:xfrm>
          <a:prstGeom prst="rect">
            <a:avLst/>
          </a:prstGeom>
        </p:spPr>
      </p:pic>
      <p:sp>
        <p:nvSpPr>
          <p:cNvPr id="16" name="Text 10"/>
          <p:cNvSpPr/>
          <p:nvPr/>
        </p:nvSpPr>
        <p:spPr>
          <a:xfrm>
            <a:off x="1600200" y="3712464"/>
            <a:ext cx="9875520" cy="896112"/>
          </a:xfrm>
          <a:prstGeom prst="rect">
            <a:avLst/>
          </a:prstGeom>
          <a:noFill/>
          <a:ln/>
        </p:spPr>
        <p:txBody>
          <a:bodyPr wrap="square" lIns="0" tIns="0" rIns="0" bIns="0" rtlCol="0" anchor="ctr"/>
          <a:lstStyle/>
          <a:p>
            <a:pPr indent="0" marL="0">
              <a:lnSpc>
                <a:spcPct val="105000"/>
              </a:lnSpc>
              <a:spcAft>
                <a:spcPts val="300"/>
              </a:spcAft>
              <a:buNone/>
            </a:pPr>
            <a:r>
              <a:rPr lang="en-US" sz="1550" b="1" dirty="0">
                <a:solidFill>
                  <a:srgbClr val="F1F5F9"/>
                </a:solidFill>
                <a:latin typeface="Calibri" pitchFamily="34" charset="0"/>
                <a:ea typeface="Calibri" pitchFamily="34" charset="-122"/>
                <a:cs typeface="Calibri" pitchFamily="34" charset="-120"/>
              </a:rPr>
              <a:t>Voice feature
</a:t>
            </a:r>
            <a:pPr indent="0" marL="0">
              <a:lnSpc>
                <a:spcPct val="105000"/>
              </a:lnSpc>
              <a:buNone/>
            </a:pPr>
            <a:r>
              <a:rPr lang="en-US" sz="1300" dirty="0">
                <a:solidFill>
                  <a:srgbClr val="22D3EE"/>
                </a:solidFill>
                <a:latin typeface="Consolas" pitchFamily="34" charset="0"/>
                <a:ea typeface="Consolas" pitchFamily="34" charset="-122"/>
                <a:cs typeface="Consolas" pitchFamily="34" charset="-120"/>
              </a:rPr>
              <a:t>mic → speech-to-text → LLM → text-to-speech reply</a:t>
            </a:r>
            <a:endParaRPr lang="en-US" sz="1550" dirty="0"/>
          </a:p>
        </p:txBody>
      </p:sp>
      <p:sp>
        <p:nvSpPr>
          <p:cNvPr id="17" name="Shape 11"/>
          <p:cNvSpPr/>
          <p:nvPr/>
        </p:nvSpPr>
        <p:spPr>
          <a:xfrm>
            <a:off x="548640" y="4791456"/>
            <a:ext cx="11091672" cy="896112"/>
          </a:xfrm>
          <a:prstGeom prst="roundRect">
            <a:avLst>
              <a:gd name="adj" fmla="val 9184"/>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822960" y="4956048"/>
            <a:ext cx="566928" cy="566928"/>
          </a:xfrm>
          <a:prstGeom prst="ellipse">
            <a:avLst/>
          </a:prstGeom>
          <a:solidFill>
            <a:srgbClr val="1B2842"/>
          </a:solidFill>
          <a:ln/>
        </p:spPr>
      </p:sp>
      <p:pic>
        <p:nvPicPr>
          <p:cNvPr id="19" name="Image 3" descr="C:\Users\User\AppData\Local\Temp\claude\C--Users-User-OneDrive-Music-Hackathon\67e3d9e6-0718-4380-8c09-13d83fcd8fa7\scratchpad\pptbuild\v2\assets\icons\filetext-cyan.png">    </p:cNvPr>
          <p:cNvPicPr>
            <a:picLocks noChangeAspect="1"/>
          </p:cNvPicPr>
          <p:nvPr/>
        </p:nvPicPr>
        <p:blipFill>
          <a:blip r:embed="rId4"/>
          <a:stretch>
            <a:fillRect/>
          </a:stretch>
        </p:blipFill>
        <p:spPr>
          <a:xfrm>
            <a:off x="959023" y="5092111"/>
            <a:ext cx="294803" cy="294803"/>
          </a:xfrm>
          <a:prstGeom prst="rect">
            <a:avLst/>
          </a:prstGeom>
        </p:spPr>
      </p:pic>
      <p:sp>
        <p:nvSpPr>
          <p:cNvPr id="20" name="Text 13"/>
          <p:cNvSpPr/>
          <p:nvPr/>
        </p:nvSpPr>
        <p:spPr>
          <a:xfrm>
            <a:off x="1600200" y="4791456"/>
            <a:ext cx="9875520" cy="896112"/>
          </a:xfrm>
          <a:prstGeom prst="rect">
            <a:avLst/>
          </a:prstGeom>
          <a:noFill/>
          <a:ln/>
        </p:spPr>
        <p:txBody>
          <a:bodyPr wrap="square" lIns="0" tIns="0" rIns="0" bIns="0" rtlCol="0" anchor="ctr"/>
          <a:lstStyle/>
          <a:p>
            <a:pPr indent="0" marL="0">
              <a:lnSpc>
                <a:spcPct val="105000"/>
              </a:lnSpc>
              <a:spcAft>
                <a:spcPts val="300"/>
              </a:spcAft>
              <a:buNone/>
            </a:pPr>
            <a:r>
              <a:rPr lang="en-US" sz="1550" b="1" dirty="0">
                <a:solidFill>
                  <a:srgbClr val="F1F5F9"/>
                </a:solidFill>
                <a:latin typeface="Calibri" pitchFamily="34" charset="0"/>
                <a:ea typeface="Calibri" pitchFamily="34" charset="-122"/>
                <a:cs typeface="Calibri" pitchFamily="34" charset="-120"/>
              </a:rPr>
              <a:t>Summarizer
</a:t>
            </a:r>
            <a:pPr indent="0" marL="0">
              <a:lnSpc>
                <a:spcPct val="105000"/>
              </a:lnSpc>
              <a:buNone/>
            </a:pPr>
            <a:r>
              <a:rPr lang="en-US" sz="1300" dirty="0">
                <a:solidFill>
                  <a:srgbClr val="22D3EE"/>
                </a:solidFill>
                <a:latin typeface="Consolas" pitchFamily="34" charset="0"/>
                <a:ea typeface="Consolas" pitchFamily="34" charset="-122"/>
                <a:cs typeface="Consolas" pitchFamily="34" charset="-120"/>
              </a:rPr>
              <a:t>long text → LLM (“3 bullets, only bullets”) → display</a:t>
            </a:r>
            <a:endParaRPr lang="en-US" sz="1550" dirty="0"/>
          </a:p>
        </p:txBody>
      </p:sp>
      <p:sp>
        <p:nvSpPr>
          <p:cNvPr id="21" name="Text 14"/>
          <p:cNvSpPr/>
          <p:nvPr/>
        </p:nvSpPr>
        <p:spPr>
          <a:xfrm>
            <a:off x="548640" y="5943600"/>
            <a:ext cx="11091672" cy="274320"/>
          </a:xfrm>
          <a:prstGeom prst="rect">
            <a:avLst/>
          </a:prstGeom>
          <a:noFill/>
          <a:ln/>
        </p:spPr>
        <p:txBody>
          <a:bodyPr wrap="square" lIns="0" tIns="0" rIns="0" bIns="0" rtlCol="0" anchor="ctr"/>
          <a:lstStyle/>
          <a:p>
            <a:pPr algn="ctr" indent="0" marL="0">
              <a:buNone/>
            </a:pPr>
            <a:r>
              <a:rPr lang="en-US" sz="1300" i="1" dirty="0">
                <a:solidFill>
                  <a:srgbClr val="7C8CA5"/>
                </a:solidFill>
                <a:latin typeface="Calibri" pitchFamily="34" charset="0"/>
                <a:ea typeface="Calibri" pitchFamily="34" charset="-122"/>
                <a:cs typeface="Calibri" pitchFamily="34" charset="-120"/>
              </a:rPr>
              <a:t>pick the closest — adapt the brackets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12 — TESTING</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Test the Critical Path</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56</a:t>
            </a:r>
            <a:endParaRPr lang="en-US" sz="1000" dirty="0"/>
          </a:p>
        </p:txBody>
      </p:sp>
      <p:sp>
        <p:nvSpPr>
          <p:cNvPr id="6" name="Shape 3"/>
          <p:cNvSpPr/>
          <p:nvPr/>
        </p:nvSpPr>
        <p:spPr>
          <a:xfrm>
            <a:off x="548640" y="1463040"/>
            <a:ext cx="11091672" cy="1005840"/>
          </a:xfrm>
          <a:prstGeom prst="roundRect">
            <a:avLst>
              <a:gd name="adj" fmla="val 8182"/>
            </a:avLst>
          </a:prstGeom>
          <a:solidFill>
            <a:srgbClr val="1B2842"/>
          </a:solidFill>
          <a:ln/>
          <a:effectLst>
            <a:outerShdw sx="100000" sy="100000" kx="0" ky="0" algn="bl" rotWithShape="0" blurRad="114300" dist="38100" dir="5400000">
              <a:srgbClr val="000000">
                <a:alpha val="45000"/>
              </a:srgbClr>
            </a:outerShdw>
          </a:effectLst>
        </p:spPr>
      </p:sp>
      <p:sp>
        <p:nvSpPr>
          <p:cNvPr id="7" name="Text 4"/>
          <p:cNvSpPr/>
          <p:nvPr/>
        </p:nvSpPr>
        <p:spPr>
          <a:xfrm>
            <a:off x="914400" y="1463040"/>
            <a:ext cx="10332720" cy="1005840"/>
          </a:xfrm>
          <a:prstGeom prst="rect">
            <a:avLst/>
          </a:prstGeom>
          <a:noFill/>
          <a:ln/>
        </p:spPr>
        <p:txBody>
          <a:bodyPr wrap="square" lIns="0" tIns="0" rIns="0" bIns="0"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critical path </a:t>
            </a:r>
            <a:pPr indent="0" marL="0">
              <a:buNone/>
            </a:pPr>
            <a:r>
              <a:rPr lang="en-US" sz="1700" dirty="0">
                <a:solidFill>
                  <a:srgbClr val="F1F5F9"/>
                </a:solidFill>
                <a:latin typeface="Calibri" pitchFamily="34" charset="0"/>
                <a:ea typeface="Calibri" pitchFamily="34" charset="-122"/>
                <a:cs typeface="Calibri" pitchFamily="34" charset="-120"/>
              </a:rPr>
              <a:t>= the exact demo journey. It must be flawless — the rest can wait.</a:t>
            </a:r>
            <a:endParaRPr lang="en-US" sz="1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914400"/>
        </p:xfrm>
        <a:graphic>
          <a:graphicData uri="http://schemas.openxmlformats.org/drawingml/2006/table">
            <a:tbl>
              <a:tblPr/>
              <a:tblGrid>
                <a:gridCol w="1645920"/>
                <a:gridCol w="6062472"/>
                <a:gridCol w="3383280"/>
              </a:tblGrid>
              <a:tr h="658368">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Priority</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Test types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Why</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658368">
                <a:tc>
                  <a:txBody>
                    <a:bodyPr/>
                    <a:lstStyle/>
                    <a:p>
                      <a:pPr algn="l" indent="0" marL="0">
                        <a:buNone/>
                      </a:pPr>
                      <a:r>
                        <a:rPr lang="en-US" sz="1450" b="1" dirty="0">
                          <a:solidFill>
                            <a:srgbClr val="A3E635"/>
                          </a:solidFill>
                          <a:latin typeface="Calibri" pitchFamily="34" charset="0"/>
                          <a:ea typeface="Calibri" pitchFamily="34" charset="-122"/>
                          <a:cs typeface="Calibri" pitchFamily="34" charset="-120"/>
                        </a:rPr>
                        <a:t>HIGH</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Manual click-through · functional (each Must) · integration</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Where demos break</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658368">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MEDIUM</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API (Postman) · usability (ask a stranger)</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Cheap confidence</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658368">
                <a:tc>
                  <a:txBody>
                    <a:bodyPr/>
                    <a:lstStyle/>
                    <a:p>
                      <a:pPr algn="l" indent="0" marL="0">
                        <a:buNone/>
                      </a:pPr>
                      <a:r>
                        <a:rPr lang="en-US" sz="1450" b="1" dirty="0">
                          <a:solidFill>
                            <a:srgbClr val="7C8CA5"/>
                          </a:solidFill>
                          <a:latin typeface="Calibri" pitchFamily="34" charset="0"/>
                          <a:ea typeface="Calibri" pitchFamily="34" charset="-122"/>
                          <a:cs typeface="Calibri" pitchFamily="34" charset="-120"/>
                        </a:rPr>
                        <a:t>LOW</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Performance · automated unit tests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Only tricky core logic</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sp>
        <p:nvSpPr>
          <p:cNvPr id="9" name="Text 5"/>
          <p:cNvSpPr/>
          <p:nvPr/>
        </p:nvSpPr>
        <p:spPr>
          <a:xfrm>
            <a:off x="548640" y="5669280"/>
            <a:ext cx="11091672" cy="365760"/>
          </a:xfrm>
          <a:prstGeom prst="rect">
            <a:avLst/>
          </a:prstGeom>
          <a:noFill/>
          <a:ln/>
        </p:spPr>
        <p:txBody>
          <a:bodyPr wrap="square" lIns="0" tIns="0" rIns="0" bIns="0" rtlCol="0" anchor="ctr"/>
          <a:lstStyle/>
          <a:p>
            <a:pPr algn="ctr" indent="0" marL="0">
              <a:buNone/>
            </a:pPr>
            <a:r>
              <a:rPr lang="en-US" sz="1450" b="1" dirty="0">
                <a:solidFill>
                  <a:srgbClr val="22D3EE"/>
                </a:solidFill>
                <a:latin typeface="Consolas" pitchFamily="34" charset="0"/>
                <a:ea typeface="Consolas" pitchFamily="34" charset="-122"/>
                <a:cs typeface="Consolas" pitchFamily="34" charset="-120"/>
              </a:rPr>
              <a:t>&gt; </a:t>
            </a:r>
            <a:pPr algn="ctr" indent="0" marL="0">
              <a:buNone/>
            </a:pPr>
            <a:r>
              <a:rPr lang="en-US" sz="1450" dirty="0">
                <a:solidFill>
                  <a:srgbClr val="A3E635"/>
                </a:solidFill>
                <a:latin typeface="Consolas" pitchFamily="34" charset="0"/>
                <a:ea typeface="Consolas" pitchFamily="34" charset="-122"/>
                <a:cs typeface="Consolas" pitchFamily="34" charset="-120"/>
              </a:rPr>
              <a:t>Demo-path crash = fatal. Unused-corner bug = harmless.</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Debugging Loop</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57</a:t>
            </a:r>
            <a:endParaRPr lang="en-US" sz="1000" dirty="0"/>
          </a:p>
        </p:txBody>
      </p:sp>
      <p:sp>
        <p:nvSpPr>
          <p:cNvPr id="5" name="Shape 2"/>
          <p:cNvSpPr/>
          <p:nvPr/>
        </p:nvSpPr>
        <p:spPr>
          <a:xfrm>
            <a:off x="1984248" y="2395728"/>
            <a:ext cx="2615184" cy="2615184"/>
          </a:xfrm>
          <a:prstGeom prst="ellipse">
            <a:avLst/>
          </a:prstGeom>
          <a:solidFill>
            <a:srgbClr val="0F1830"/>
          </a:solidFill>
          <a:ln w="19050">
            <a:solidFill>
              <a:srgbClr val="22D3EE"/>
            </a:solidFill>
            <a:prstDash val="dash"/>
          </a:ln>
        </p:spPr>
      </p:sp>
      <p:sp>
        <p:nvSpPr>
          <p:cNvPr id="6" name="Text 3"/>
          <p:cNvSpPr/>
          <p:nvPr/>
        </p:nvSpPr>
        <p:spPr>
          <a:xfrm>
            <a:off x="2377440" y="3200400"/>
            <a:ext cx="1828800" cy="1005840"/>
          </a:xfrm>
          <a:prstGeom prst="rect">
            <a:avLst/>
          </a:prstGeom>
          <a:noFill/>
          <a:ln/>
        </p:spPr>
        <p:txBody>
          <a:bodyPr wrap="square" lIns="0" tIns="0" rIns="0" bIns="0" rtlCol="0" anchor="ctr"/>
          <a:lstStyle/>
          <a:p>
            <a:pPr algn="ctr" indent="0" marL="0">
              <a:lnSpc>
                <a:spcPct val="95000"/>
              </a:lnSpc>
              <a:buNone/>
            </a:pPr>
            <a:r>
              <a:rPr lang="en-US" sz="1700" dirty="0">
                <a:solidFill>
                  <a:srgbClr val="22D3EE"/>
                </a:solidFill>
                <a:latin typeface="Arial Black" pitchFamily="34" charset="0"/>
                <a:ea typeface="Arial Black" pitchFamily="34" charset="-122"/>
                <a:cs typeface="Arial Black" pitchFamily="34" charset="-120"/>
              </a:rPr>
              <a:t>DEBUG</a:t>
            </a:r>
            <a:endParaRPr lang="en-US" sz="1700" dirty="0"/>
          </a:p>
          <a:p>
            <a:pPr algn="ctr" indent="0" marL="0">
              <a:lnSpc>
                <a:spcPct val="95000"/>
              </a:lnSpc>
              <a:buNone/>
            </a:pPr>
            <a:r>
              <a:rPr lang="en-US" sz="1700" dirty="0">
                <a:solidFill>
                  <a:srgbClr val="22D3EE"/>
                </a:solidFill>
                <a:latin typeface="Arial Black" pitchFamily="34" charset="0"/>
                <a:ea typeface="Arial Black" pitchFamily="34" charset="-122"/>
                <a:cs typeface="Arial Black" pitchFamily="34" charset="-120"/>
              </a:rPr>
              <a:t>LOOP</a:t>
            </a:r>
            <a:endParaRPr lang="en-US" sz="1700" dirty="0"/>
          </a:p>
        </p:txBody>
      </p:sp>
      <p:sp>
        <p:nvSpPr>
          <p:cNvPr id="7" name="Shape 4"/>
          <p:cNvSpPr/>
          <p:nvPr/>
        </p:nvSpPr>
        <p:spPr>
          <a:xfrm>
            <a:off x="2446020" y="1728216"/>
            <a:ext cx="1691640" cy="566928"/>
          </a:xfrm>
          <a:prstGeom prst="roundRect">
            <a:avLst>
              <a:gd name="adj" fmla="val 14516"/>
            </a:avLst>
          </a:prstGeom>
          <a:solidFill>
            <a:srgbClr val="141E33"/>
          </a:solidFill>
          <a:ln/>
        </p:spPr>
      </p:sp>
      <p:sp>
        <p:nvSpPr>
          <p:cNvPr id="8" name="Shape 5"/>
          <p:cNvSpPr/>
          <p:nvPr/>
        </p:nvSpPr>
        <p:spPr>
          <a:xfrm>
            <a:off x="2327148" y="1609344"/>
            <a:ext cx="310896" cy="310896"/>
          </a:xfrm>
          <a:prstGeom prst="ellipse">
            <a:avLst/>
          </a:prstGeom>
          <a:solidFill>
            <a:srgbClr val="22D3EE"/>
          </a:solidFill>
          <a:ln/>
        </p:spPr>
      </p:sp>
      <p:sp>
        <p:nvSpPr>
          <p:cNvPr id="9" name="Text 6"/>
          <p:cNvSpPr/>
          <p:nvPr/>
        </p:nvSpPr>
        <p:spPr>
          <a:xfrm>
            <a:off x="2327148" y="1591056"/>
            <a:ext cx="310896" cy="310896"/>
          </a:xfrm>
          <a:prstGeom prst="rect">
            <a:avLst/>
          </a:prstGeom>
          <a:noFill/>
          <a:ln/>
        </p:spPr>
        <p:txBody>
          <a:bodyPr wrap="square" lIns="0" tIns="0" rIns="0" bIns="0" rtlCol="0" anchor="ctr"/>
          <a:lstStyle/>
          <a:p>
            <a:pPr algn="ctr" indent="0" marL="0">
              <a:buNone/>
            </a:pPr>
            <a:r>
              <a:rPr lang="en-US" sz="1200" dirty="0">
                <a:solidFill>
                  <a:srgbClr val="0B1220"/>
                </a:solidFill>
                <a:latin typeface="Arial Black" pitchFamily="34" charset="0"/>
                <a:ea typeface="Arial Black" pitchFamily="34" charset="-122"/>
                <a:cs typeface="Arial Black" pitchFamily="34" charset="-120"/>
              </a:rPr>
              <a:t>1</a:t>
            </a:r>
            <a:endParaRPr lang="en-US" sz="1200" dirty="0"/>
          </a:p>
        </p:txBody>
      </p:sp>
      <p:sp>
        <p:nvSpPr>
          <p:cNvPr id="10" name="Text 7"/>
          <p:cNvSpPr/>
          <p:nvPr/>
        </p:nvSpPr>
        <p:spPr>
          <a:xfrm>
            <a:off x="2482596" y="1728216"/>
            <a:ext cx="1618488" cy="566928"/>
          </a:xfrm>
          <a:prstGeom prst="rect">
            <a:avLst/>
          </a:prstGeom>
          <a:noFill/>
          <a:ln/>
        </p:spPr>
        <p:txBody>
          <a:bodyPr wrap="square" lIns="0" tIns="0" rIns="0" bIns="0" rtlCol="0" anchor="ctr"/>
          <a:lstStyle/>
          <a:p>
            <a:pPr algn="ctr" indent="0" marL="0">
              <a:buNone/>
            </a:pPr>
            <a:r>
              <a:rPr lang="en-US" sz="1250" b="1" dirty="0">
                <a:solidFill>
                  <a:srgbClr val="F1F5F9"/>
                </a:solidFill>
                <a:latin typeface="Calibri" pitchFamily="34" charset="0"/>
                <a:ea typeface="Calibri" pitchFamily="34" charset="-122"/>
                <a:cs typeface="Calibri" pitchFamily="34" charset="-120"/>
              </a:rPr>
              <a:t>Read the error</a:t>
            </a:r>
            <a:endParaRPr lang="en-US" sz="1250" dirty="0"/>
          </a:p>
        </p:txBody>
      </p:sp>
      <p:sp>
        <p:nvSpPr>
          <p:cNvPr id="11" name="Shape 8"/>
          <p:cNvSpPr/>
          <p:nvPr/>
        </p:nvSpPr>
        <p:spPr>
          <a:xfrm>
            <a:off x="3911023" y="2574036"/>
            <a:ext cx="1691640" cy="566928"/>
          </a:xfrm>
          <a:prstGeom prst="roundRect">
            <a:avLst>
              <a:gd name="adj" fmla="val 14516"/>
            </a:avLst>
          </a:prstGeom>
          <a:solidFill>
            <a:srgbClr val="141E33"/>
          </a:solidFill>
          <a:ln/>
        </p:spPr>
      </p:sp>
      <p:sp>
        <p:nvSpPr>
          <p:cNvPr id="12" name="Shape 9"/>
          <p:cNvSpPr/>
          <p:nvPr/>
        </p:nvSpPr>
        <p:spPr>
          <a:xfrm>
            <a:off x="3792151" y="2455164"/>
            <a:ext cx="310896" cy="310896"/>
          </a:xfrm>
          <a:prstGeom prst="ellipse">
            <a:avLst/>
          </a:prstGeom>
          <a:solidFill>
            <a:srgbClr val="22D3EE"/>
          </a:solidFill>
          <a:ln/>
        </p:spPr>
      </p:sp>
      <p:sp>
        <p:nvSpPr>
          <p:cNvPr id="13" name="Text 10"/>
          <p:cNvSpPr/>
          <p:nvPr/>
        </p:nvSpPr>
        <p:spPr>
          <a:xfrm>
            <a:off x="3792151" y="2436876"/>
            <a:ext cx="310896" cy="310896"/>
          </a:xfrm>
          <a:prstGeom prst="rect">
            <a:avLst/>
          </a:prstGeom>
          <a:noFill/>
          <a:ln/>
        </p:spPr>
        <p:txBody>
          <a:bodyPr wrap="square" lIns="0" tIns="0" rIns="0" bIns="0" rtlCol="0" anchor="ctr"/>
          <a:lstStyle/>
          <a:p>
            <a:pPr algn="ctr" indent="0" marL="0">
              <a:buNone/>
            </a:pPr>
            <a:r>
              <a:rPr lang="en-US" sz="1200" dirty="0">
                <a:solidFill>
                  <a:srgbClr val="0B1220"/>
                </a:solidFill>
                <a:latin typeface="Arial Black" pitchFamily="34" charset="0"/>
                <a:ea typeface="Arial Black" pitchFamily="34" charset="-122"/>
                <a:cs typeface="Arial Black" pitchFamily="34" charset="-120"/>
              </a:rPr>
              <a:t>2</a:t>
            </a:r>
            <a:endParaRPr lang="en-US" sz="1200" dirty="0"/>
          </a:p>
        </p:txBody>
      </p:sp>
      <p:sp>
        <p:nvSpPr>
          <p:cNvPr id="14" name="Text 11"/>
          <p:cNvSpPr/>
          <p:nvPr/>
        </p:nvSpPr>
        <p:spPr>
          <a:xfrm>
            <a:off x="3947599" y="2574036"/>
            <a:ext cx="1618488" cy="566928"/>
          </a:xfrm>
          <a:prstGeom prst="rect">
            <a:avLst/>
          </a:prstGeom>
          <a:noFill/>
          <a:ln/>
        </p:spPr>
        <p:txBody>
          <a:bodyPr wrap="square" lIns="0" tIns="0" rIns="0" bIns="0" rtlCol="0" anchor="ctr"/>
          <a:lstStyle/>
          <a:p>
            <a:pPr algn="ctr" indent="0" marL="0">
              <a:buNone/>
            </a:pPr>
            <a:r>
              <a:rPr lang="en-US" sz="1250" b="1" dirty="0">
                <a:solidFill>
                  <a:srgbClr val="F1F5F9"/>
                </a:solidFill>
                <a:latin typeface="Calibri" pitchFamily="34" charset="0"/>
                <a:ea typeface="Calibri" pitchFamily="34" charset="-122"/>
                <a:cs typeface="Calibri" pitchFamily="34" charset="-120"/>
              </a:rPr>
              <a:t>Smallest repro</a:t>
            </a:r>
            <a:endParaRPr lang="en-US" sz="1250" dirty="0"/>
          </a:p>
        </p:txBody>
      </p:sp>
      <p:sp>
        <p:nvSpPr>
          <p:cNvPr id="15" name="Shape 12"/>
          <p:cNvSpPr/>
          <p:nvPr/>
        </p:nvSpPr>
        <p:spPr>
          <a:xfrm>
            <a:off x="3911023" y="4265676"/>
            <a:ext cx="1691640" cy="566928"/>
          </a:xfrm>
          <a:prstGeom prst="roundRect">
            <a:avLst>
              <a:gd name="adj" fmla="val 14516"/>
            </a:avLst>
          </a:prstGeom>
          <a:solidFill>
            <a:srgbClr val="141E33"/>
          </a:solidFill>
          <a:ln/>
        </p:spPr>
      </p:sp>
      <p:sp>
        <p:nvSpPr>
          <p:cNvPr id="16" name="Shape 13"/>
          <p:cNvSpPr/>
          <p:nvPr/>
        </p:nvSpPr>
        <p:spPr>
          <a:xfrm>
            <a:off x="3792151" y="4146804"/>
            <a:ext cx="310896" cy="310896"/>
          </a:xfrm>
          <a:prstGeom prst="ellipse">
            <a:avLst/>
          </a:prstGeom>
          <a:solidFill>
            <a:srgbClr val="22D3EE"/>
          </a:solidFill>
          <a:ln/>
        </p:spPr>
      </p:sp>
      <p:sp>
        <p:nvSpPr>
          <p:cNvPr id="17" name="Text 14"/>
          <p:cNvSpPr/>
          <p:nvPr/>
        </p:nvSpPr>
        <p:spPr>
          <a:xfrm>
            <a:off x="3792151" y="4128516"/>
            <a:ext cx="310896" cy="310896"/>
          </a:xfrm>
          <a:prstGeom prst="rect">
            <a:avLst/>
          </a:prstGeom>
          <a:noFill/>
          <a:ln/>
        </p:spPr>
        <p:txBody>
          <a:bodyPr wrap="square" lIns="0" tIns="0" rIns="0" bIns="0" rtlCol="0" anchor="ctr"/>
          <a:lstStyle/>
          <a:p>
            <a:pPr algn="ctr" indent="0" marL="0">
              <a:buNone/>
            </a:pPr>
            <a:r>
              <a:rPr lang="en-US" sz="1200" dirty="0">
                <a:solidFill>
                  <a:srgbClr val="0B1220"/>
                </a:solidFill>
                <a:latin typeface="Arial Black" pitchFamily="34" charset="0"/>
                <a:ea typeface="Arial Black" pitchFamily="34" charset="-122"/>
                <a:cs typeface="Arial Black" pitchFamily="34" charset="-120"/>
              </a:rPr>
              <a:t>3</a:t>
            </a:r>
            <a:endParaRPr lang="en-US" sz="1200" dirty="0"/>
          </a:p>
        </p:txBody>
      </p:sp>
      <p:sp>
        <p:nvSpPr>
          <p:cNvPr id="18" name="Text 15"/>
          <p:cNvSpPr/>
          <p:nvPr/>
        </p:nvSpPr>
        <p:spPr>
          <a:xfrm>
            <a:off x="3947599" y="4265676"/>
            <a:ext cx="1618488" cy="566928"/>
          </a:xfrm>
          <a:prstGeom prst="rect">
            <a:avLst/>
          </a:prstGeom>
          <a:noFill/>
          <a:ln/>
        </p:spPr>
        <p:txBody>
          <a:bodyPr wrap="square" lIns="0" tIns="0" rIns="0" bIns="0" rtlCol="0" anchor="ctr"/>
          <a:lstStyle/>
          <a:p>
            <a:pPr algn="ctr" indent="0" marL="0">
              <a:buNone/>
            </a:pPr>
            <a:r>
              <a:rPr lang="en-US" sz="1250" b="1" dirty="0">
                <a:solidFill>
                  <a:srgbClr val="F1F5F9"/>
                </a:solidFill>
                <a:latin typeface="Calibri" pitchFamily="34" charset="0"/>
                <a:ea typeface="Calibri" pitchFamily="34" charset="-122"/>
                <a:cs typeface="Calibri" pitchFamily="34" charset="-120"/>
              </a:rPr>
              <a:t>Isolate the layer</a:t>
            </a:r>
            <a:endParaRPr lang="en-US" sz="1250" dirty="0"/>
          </a:p>
        </p:txBody>
      </p:sp>
      <p:sp>
        <p:nvSpPr>
          <p:cNvPr id="19" name="Shape 16"/>
          <p:cNvSpPr/>
          <p:nvPr/>
        </p:nvSpPr>
        <p:spPr>
          <a:xfrm>
            <a:off x="2446020" y="5111496"/>
            <a:ext cx="1691640" cy="566928"/>
          </a:xfrm>
          <a:prstGeom prst="roundRect">
            <a:avLst>
              <a:gd name="adj" fmla="val 14516"/>
            </a:avLst>
          </a:prstGeom>
          <a:solidFill>
            <a:srgbClr val="141E33"/>
          </a:solidFill>
          <a:ln/>
        </p:spPr>
      </p:sp>
      <p:sp>
        <p:nvSpPr>
          <p:cNvPr id="20" name="Shape 17"/>
          <p:cNvSpPr/>
          <p:nvPr/>
        </p:nvSpPr>
        <p:spPr>
          <a:xfrm>
            <a:off x="2327148" y="4992624"/>
            <a:ext cx="310896" cy="310896"/>
          </a:xfrm>
          <a:prstGeom prst="ellipse">
            <a:avLst/>
          </a:prstGeom>
          <a:solidFill>
            <a:srgbClr val="22D3EE"/>
          </a:solidFill>
          <a:ln/>
        </p:spPr>
      </p:sp>
      <p:sp>
        <p:nvSpPr>
          <p:cNvPr id="21" name="Text 18"/>
          <p:cNvSpPr/>
          <p:nvPr/>
        </p:nvSpPr>
        <p:spPr>
          <a:xfrm>
            <a:off x="2327148" y="4974336"/>
            <a:ext cx="310896" cy="310896"/>
          </a:xfrm>
          <a:prstGeom prst="rect">
            <a:avLst/>
          </a:prstGeom>
          <a:noFill/>
          <a:ln/>
        </p:spPr>
        <p:txBody>
          <a:bodyPr wrap="square" lIns="0" tIns="0" rIns="0" bIns="0" rtlCol="0" anchor="ctr"/>
          <a:lstStyle/>
          <a:p>
            <a:pPr algn="ctr" indent="0" marL="0">
              <a:buNone/>
            </a:pPr>
            <a:r>
              <a:rPr lang="en-US" sz="1200" dirty="0">
                <a:solidFill>
                  <a:srgbClr val="0B1220"/>
                </a:solidFill>
                <a:latin typeface="Arial Black" pitchFamily="34" charset="0"/>
                <a:ea typeface="Arial Black" pitchFamily="34" charset="-122"/>
                <a:cs typeface="Arial Black" pitchFamily="34" charset="-120"/>
              </a:rPr>
              <a:t>4</a:t>
            </a:r>
            <a:endParaRPr lang="en-US" sz="1200" dirty="0"/>
          </a:p>
        </p:txBody>
      </p:sp>
      <p:sp>
        <p:nvSpPr>
          <p:cNvPr id="22" name="Text 19"/>
          <p:cNvSpPr/>
          <p:nvPr/>
        </p:nvSpPr>
        <p:spPr>
          <a:xfrm>
            <a:off x="2482596" y="5111496"/>
            <a:ext cx="1618488" cy="566928"/>
          </a:xfrm>
          <a:prstGeom prst="rect">
            <a:avLst/>
          </a:prstGeom>
          <a:noFill/>
          <a:ln/>
        </p:spPr>
        <p:txBody>
          <a:bodyPr wrap="square" lIns="0" tIns="0" rIns="0" bIns="0" rtlCol="0" anchor="ctr"/>
          <a:lstStyle/>
          <a:p>
            <a:pPr algn="ctr" indent="0" marL="0">
              <a:buNone/>
            </a:pPr>
            <a:r>
              <a:rPr lang="en-US" sz="1250" b="1" dirty="0">
                <a:solidFill>
                  <a:srgbClr val="F1F5F9"/>
                </a:solidFill>
                <a:latin typeface="Calibri" pitchFamily="34" charset="0"/>
                <a:ea typeface="Calibri" pitchFamily="34" charset="-122"/>
                <a:cs typeface="Calibri" pitchFamily="34" charset="-120"/>
              </a:rPr>
              <a:t>Inspect data</a:t>
            </a:r>
            <a:endParaRPr lang="en-US" sz="1250" dirty="0"/>
          </a:p>
        </p:txBody>
      </p:sp>
      <p:sp>
        <p:nvSpPr>
          <p:cNvPr id="23" name="Shape 20"/>
          <p:cNvSpPr/>
          <p:nvPr/>
        </p:nvSpPr>
        <p:spPr>
          <a:xfrm>
            <a:off x="981017" y="4265676"/>
            <a:ext cx="1691640" cy="566928"/>
          </a:xfrm>
          <a:prstGeom prst="roundRect">
            <a:avLst>
              <a:gd name="adj" fmla="val 14516"/>
            </a:avLst>
          </a:prstGeom>
          <a:solidFill>
            <a:srgbClr val="141E33"/>
          </a:solidFill>
          <a:ln/>
        </p:spPr>
      </p:sp>
      <p:sp>
        <p:nvSpPr>
          <p:cNvPr id="24" name="Shape 21"/>
          <p:cNvSpPr/>
          <p:nvPr/>
        </p:nvSpPr>
        <p:spPr>
          <a:xfrm>
            <a:off x="862145" y="4146804"/>
            <a:ext cx="310896" cy="310896"/>
          </a:xfrm>
          <a:prstGeom prst="ellipse">
            <a:avLst/>
          </a:prstGeom>
          <a:solidFill>
            <a:srgbClr val="22D3EE"/>
          </a:solidFill>
          <a:ln/>
        </p:spPr>
      </p:sp>
      <p:sp>
        <p:nvSpPr>
          <p:cNvPr id="25" name="Text 22"/>
          <p:cNvSpPr/>
          <p:nvPr/>
        </p:nvSpPr>
        <p:spPr>
          <a:xfrm>
            <a:off x="862145" y="4128516"/>
            <a:ext cx="310896" cy="310896"/>
          </a:xfrm>
          <a:prstGeom prst="rect">
            <a:avLst/>
          </a:prstGeom>
          <a:noFill/>
          <a:ln/>
        </p:spPr>
        <p:txBody>
          <a:bodyPr wrap="square" lIns="0" tIns="0" rIns="0" bIns="0" rtlCol="0" anchor="ctr"/>
          <a:lstStyle/>
          <a:p>
            <a:pPr algn="ctr" indent="0" marL="0">
              <a:buNone/>
            </a:pPr>
            <a:r>
              <a:rPr lang="en-US" sz="1200" dirty="0">
                <a:solidFill>
                  <a:srgbClr val="0B1220"/>
                </a:solidFill>
                <a:latin typeface="Arial Black" pitchFamily="34" charset="0"/>
                <a:ea typeface="Arial Black" pitchFamily="34" charset="-122"/>
                <a:cs typeface="Arial Black" pitchFamily="34" charset="-120"/>
              </a:rPr>
              <a:t>5</a:t>
            </a:r>
            <a:endParaRPr lang="en-US" sz="1200" dirty="0"/>
          </a:p>
        </p:txBody>
      </p:sp>
      <p:sp>
        <p:nvSpPr>
          <p:cNvPr id="26" name="Text 23"/>
          <p:cNvSpPr/>
          <p:nvPr/>
        </p:nvSpPr>
        <p:spPr>
          <a:xfrm>
            <a:off x="1017593" y="4265676"/>
            <a:ext cx="1618488" cy="566928"/>
          </a:xfrm>
          <a:prstGeom prst="rect">
            <a:avLst/>
          </a:prstGeom>
          <a:noFill/>
          <a:ln/>
        </p:spPr>
        <p:txBody>
          <a:bodyPr wrap="square" lIns="0" tIns="0" rIns="0" bIns="0" rtlCol="0" anchor="ctr"/>
          <a:lstStyle/>
          <a:p>
            <a:pPr algn="ctr" indent="0" marL="0">
              <a:buNone/>
            </a:pPr>
            <a:r>
              <a:rPr lang="en-US" sz="1250" b="1" dirty="0">
                <a:solidFill>
                  <a:srgbClr val="F1F5F9"/>
                </a:solidFill>
                <a:latin typeface="Calibri" pitchFamily="34" charset="0"/>
                <a:ea typeface="Calibri" pitchFamily="34" charset="-122"/>
                <a:cs typeface="Calibri" pitchFamily="34" charset="-120"/>
              </a:rPr>
              <a:t>Fix ONE thing</a:t>
            </a:r>
            <a:endParaRPr lang="en-US" sz="1250" dirty="0"/>
          </a:p>
        </p:txBody>
      </p:sp>
      <p:sp>
        <p:nvSpPr>
          <p:cNvPr id="27" name="Shape 24"/>
          <p:cNvSpPr/>
          <p:nvPr/>
        </p:nvSpPr>
        <p:spPr>
          <a:xfrm>
            <a:off x="981017" y="2574036"/>
            <a:ext cx="1691640" cy="566928"/>
          </a:xfrm>
          <a:prstGeom prst="roundRect">
            <a:avLst>
              <a:gd name="adj" fmla="val 14516"/>
            </a:avLst>
          </a:prstGeom>
          <a:solidFill>
            <a:srgbClr val="141E33"/>
          </a:solidFill>
          <a:ln/>
        </p:spPr>
      </p:sp>
      <p:sp>
        <p:nvSpPr>
          <p:cNvPr id="28" name="Shape 25"/>
          <p:cNvSpPr/>
          <p:nvPr/>
        </p:nvSpPr>
        <p:spPr>
          <a:xfrm>
            <a:off x="862145" y="2455164"/>
            <a:ext cx="310896" cy="310896"/>
          </a:xfrm>
          <a:prstGeom prst="ellipse">
            <a:avLst/>
          </a:prstGeom>
          <a:solidFill>
            <a:srgbClr val="22D3EE"/>
          </a:solidFill>
          <a:ln/>
        </p:spPr>
      </p:sp>
      <p:sp>
        <p:nvSpPr>
          <p:cNvPr id="29" name="Text 26"/>
          <p:cNvSpPr/>
          <p:nvPr/>
        </p:nvSpPr>
        <p:spPr>
          <a:xfrm>
            <a:off x="862145" y="2436876"/>
            <a:ext cx="310896" cy="310896"/>
          </a:xfrm>
          <a:prstGeom prst="rect">
            <a:avLst/>
          </a:prstGeom>
          <a:noFill/>
          <a:ln/>
        </p:spPr>
        <p:txBody>
          <a:bodyPr wrap="square" lIns="0" tIns="0" rIns="0" bIns="0" rtlCol="0" anchor="ctr"/>
          <a:lstStyle/>
          <a:p>
            <a:pPr algn="ctr" indent="0" marL="0">
              <a:buNone/>
            </a:pPr>
            <a:r>
              <a:rPr lang="en-US" sz="1200" dirty="0">
                <a:solidFill>
                  <a:srgbClr val="0B1220"/>
                </a:solidFill>
                <a:latin typeface="Arial Black" pitchFamily="34" charset="0"/>
                <a:ea typeface="Arial Black" pitchFamily="34" charset="-122"/>
                <a:cs typeface="Arial Black" pitchFamily="34" charset="-120"/>
              </a:rPr>
              <a:t>6</a:t>
            </a:r>
            <a:endParaRPr lang="en-US" sz="1200" dirty="0"/>
          </a:p>
        </p:txBody>
      </p:sp>
      <p:sp>
        <p:nvSpPr>
          <p:cNvPr id="30" name="Text 27"/>
          <p:cNvSpPr/>
          <p:nvPr/>
        </p:nvSpPr>
        <p:spPr>
          <a:xfrm>
            <a:off x="1017593" y="2574036"/>
            <a:ext cx="1618488" cy="566928"/>
          </a:xfrm>
          <a:prstGeom prst="rect">
            <a:avLst/>
          </a:prstGeom>
          <a:noFill/>
          <a:ln/>
        </p:spPr>
        <p:txBody>
          <a:bodyPr wrap="square" lIns="0" tIns="0" rIns="0" bIns="0" rtlCol="0" anchor="ctr"/>
          <a:lstStyle/>
          <a:p>
            <a:pPr algn="ctr" indent="0" marL="0">
              <a:buNone/>
            </a:pPr>
            <a:r>
              <a:rPr lang="en-US" sz="1250" b="1" dirty="0">
                <a:solidFill>
                  <a:srgbClr val="F1F5F9"/>
                </a:solidFill>
                <a:latin typeface="Calibri" pitchFamily="34" charset="0"/>
                <a:ea typeface="Calibri" pitchFamily="34" charset="-122"/>
                <a:cs typeface="Calibri" pitchFamily="34" charset="-120"/>
              </a:rPr>
              <a:t>Commit the fix</a:t>
            </a:r>
            <a:endParaRPr lang="en-US" sz="1250" dirty="0"/>
          </a:p>
        </p:txBody>
      </p:sp>
      <p:sp>
        <p:nvSpPr>
          <p:cNvPr id="31" name="Text 28"/>
          <p:cNvSpPr/>
          <p:nvPr/>
        </p:nvSpPr>
        <p:spPr>
          <a:xfrm>
            <a:off x="6766560" y="1417320"/>
            <a:ext cx="484632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WHEN A BUG FIGHTS BACK — 12.6</a:t>
            </a:r>
            <a:endParaRPr lang="en-US" sz="1400" dirty="0"/>
          </a:p>
        </p:txBody>
      </p:sp>
      <p:sp>
        <p:nvSpPr>
          <p:cNvPr id="32" name="Shape 29"/>
          <p:cNvSpPr/>
          <p:nvPr/>
        </p:nvSpPr>
        <p:spPr>
          <a:xfrm>
            <a:off x="6766560" y="2080260"/>
            <a:ext cx="548640" cy="548640"/>
          </a:xfrm>
          <a:prstGeom prst="ellipse">
            <a:avLst/>
          </a:prstGeom>
          <a:solidFill>
            <a:srgbClr val="1B2842"/>
          </a:solidFill>
          <a:ln/>
        </p:spPr>
      </p:sp>
      <p:pic>
        <p:nvPicPr>
          <p:cNvPr id="33" name="Image 0" descr="C:\Users\User\AppData\Local\Temp\claude\C--Users-User-OneDrive-Music-Hackathon\67e3d9e6-0718-4380-8c09-13d83fcd8fa7\scratchpad\pptbuild\v2\assets\icons\target-cyan.png">    </p:cNvPr>
          <p:cNvPicPr>
            <a:picLocks noChangeAspect="1"/>
          </p:cNvPicPr>
          <p:nvPr/>
        </p:nvPicPr>
        <p:blipFill>
          <a:blip r:embed="rId1"/>
          <a:stretch>
            <a:fillRect/>
          </a:stretch>
        </p:blipFill>
        <p:spPr>
          <a:xfrm>
            <a:off x="6898234" y="2211934"/>
            <a:ext cx="285293" cy="285293"/>
          </a:xfrm>
          <a:prstGeom prst="rect">
            <a:avLst/>
          </a:prstGeom>
        </p:spPr>
      </p:pic>
      <p:sp>
        <p:nvSpPr>
          <p:cNvPr id="34" name="Text 30"/>
          <p:cNvSpPr/>
          <p:nvPr/>
        </p:nvSpPr>
        <p:spPr>
          <a:xfrm>
            <a:off x="7543800" y="1874520"/>
            <a:ext cx="4069080" cy="96012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Triage by impact</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demo-path bugs first — log the rest</a:t>
            </a:r>
            <a:endParaRPr lang="en-US" sz="1500" dirty="0"/>
          </a:p>
        </p:txBody>
      </p:sp>
      <p:sp>
        <p:nvSpPr>
          <p:cNvPr id="35" name="Shape 31"/>
          <p:cNvSpPr/>
          <p:nvPr/>
        </p:nvSpPr>
        <p:spPr>
          <a:xfrm>
            <a:off x="6766560" y="3040380"/>
            <a:ext cx="548640" cy="548640"/>
          </a:xfrm>
          <a:prstGeom prst="ellipse">
            <a:avLst/>
          </a:prstGeom>
          <a:solidFill>
            <a:srgbClr val="1B2842"/>
          </a:solidFill>
          <a:ln/>
        </p:spPr>
      </p:sp>
      <p:pic>
        <p:nvPicPr>
          <p:cNvPr id="36" name="Image 1" descr="C:\Users\User\AppData\Local\Temp\claude\C--Users-User-OneDrive-Music-Hackathon\67e3d9e6-0718-4380-8c09-13d83fcd8fa7\scratchpad\pptbuild\v2\assets\icons\timer-cyan.png">    </p:cNvPr>
          <p:cNvPicPr>
            <a:picLocks noChangeAspect="1"/>
          </p:cNvPicPr>
          <p:nvPr/>
        </p:nvPicPr>
        <p:blipFill>
          <a:blip r:embed="rId2"/>
          <a:stretch>
            <a:fillRect/>
          </a:stretch>
        </p:blipFill>
        <p:spPr>
          <a:xfrm>
            <a:off x="6898234" y="3172054"/>
            <a:ext cx="285293" cy="285293"/>
          </a:xfrm>
          <a:prstGeom prst="rect">
            <a:avLst/>
          </a:prstGeom>
        </p:spPr>
      </p:pic>
      <p:sp>
        <p:nvSpPr>
          <p:cNvPr id="37" name="Text 32"/>
          <p:cNvSpPr/>
          <p:nvPr/>
        </p:nvSpPr>
        <p:spPr>
          <a:xfrm>
            <a:off x="7543800" y="2834640"/>
            <a:ext cx="4069080" cy="96012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Timebox 20–30 min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then work around: disable · mock · hard-code</a:t>
            </a:r>
            <a:endParaRPr lang="en-US" sz="1500" dirty="0"/>
          </a:p>
        </p:txBody>
      </p:sp>
      <p:sp>
        <p:nvSpPr>
          <p:cNvPr id="38" name="Shape 33"/>
          <p:cNvSpPr/>
          <p:nvPr/>
        </p:nvSpPr>
        <p:spPr>
          <a:xfrm>
            <a:off x="6766560" y="4000500"/>
            <a:ext cx="548640" cy="548640"/>
          </a:xfrm>
          <a:prstGeom prst="ellipse">
            <a:avLst/>
          </a:prstGeom>
          <a:solidFill>
            <a:srgbClr val="1B2842"/>
          </a:solidFill>
          <a:ln/>
        </p:spPr>
      </p:sp>
      <p:pic>
        <p:nvPicPr>
          <p:cNvPr id="39" name="Image 2" descr="C:\Users\User\AppData\Local\Temp\claude\C--Users-User-OneDrive-Music-Hackathon\67e3d9e6-0718-4380-8c09-13d83fcd8fa7\scratchpad\pptbuild\v2\assets\icons\check-lime.png">    </p:cNvPr>
          <p:cNvPicPr>
            <a:picLocks noChangeAspect="1"/>
          </p:cNvPicPr>
          <p:nvPr/>
        </p:nvPicPr>
        <p:blipFill>
          <a:blip r:embed="rId3"/>
          <a:stretch>
            <a:fillRect/>
          </a:stretch>
        </p:blipFill>
        <p:spPr>
          <a:xfrm>
            <a:off x="6898234" y="4132174"/>
            <a:ext cx="285293" cy="285293"/>
          </a:xfrm>
          <a:prstGeom prst="rect">
            <a:avLst/>
          </a:prstGeom>
        </p:spPr>
      </p:pic>
      <p:sp>
        <p:nvSpPr>
          <p:cNvPr id="40" name="Text 34"/>
          <p:cNvSpPr/>
          <p:nvPr/>
        </p:nvSpPr>
        <p:spPr>
          <a:xfrm>
            <a:off x="7543800" y="3794760"/>
            <a:ext cx="4069080" cy="96012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Keep main green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fix on a branch — never debug the live build</a:t>
            </a:r>
            <a:endParaRPr lang="en-US" sz="1500" dirty="0"/>
          </a:p>
        </p:txBody>
      </p:sp>
      <p:sp>
        <p:nvSpPr>
          <p:cNvPr id="41" name="Shape 35"/>
          <p:cNvSpPr/>
          <p:nvPr/>
        </p:nvSpPr>
        <p:spPr>
          <a:xfrm>
            <a:off x="6766560" y="4960620"/>
            <a:ext cx="548640" cy="548640"/>
          </a:xfrm>
          <a:prstGeom prst="ellipse">
            <a:avLst/>
          </a:prstGeom>
          <a:solidFill>
            <a:srgbClr val="1B2842"/>
          </a:solidFill>
          <a:ln/>
        </p:spPr>
      </p:sp>
      <p:pic>
        <p:nvPicPr>
          <p:cNvPr id="42" name="Image 3" descr="C:\Users\User\AppData\Local\Temp\claude\C--Users-User-OneDrive-Music-Hackathon\67e3d9e6-0718-4380-8c09-13d83fcd8fa7\scratchpad\pptbuild\v2\assets\icons\users-cyan.png">    </p:cNvPr>
          <p:cNvPicPr>
            <a:picLocks noChangeAspect="1"/>
          </p:cNvPicPr>
          <p:nvPr/>
        </p:nvPicPr>
        <p:blipFill>
          <a:blip r:embed="rId4"/>
          <a:stretch>
            <a:fillRect/>
          </a:stretch>
        </p:blipFill>
        <p:spPr>
          <a:xfrm>
            <a:off x="6898234" y="5092294"/>
            <a:ext cx="285293" cy="285293"/>
          </a:xfrm>
          <a:prstGeom prst="rect">
            <a:avLst/>
          </a:prstGeom>
        </p:spPr>
      </p:pic>
      <p:sp>
        <p:nvSpPr>
          <p:cNvPr id="43" name="Text 36"/>
          <p:cNvSpPr/>
          <p:nvPr/>
        </p:nvSpPr>
        <p:spPr>
          <a:xfrm>
            <a:off x="7543800" y="4754880"/>
            <a:ext cx="4069080" cy="96012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Pair on nasty bugs</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fresh eyes + rest beat 3 AM heroics</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See Inside · Fail Gracefully</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58</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SEE INSIDE — 12.4</a:t>
            </a:r>
            <a:endParaRPr lang="en-US" sz="1400" dirty="0"/>
          </a:p>
        </p:txBody>
      </p:sp>
      <p:sp>
        <p:nvSpPr>
          <p:cNvPr id="6" name="Text 3"/>
          <p:cNvSpPr/>
          <p:nvPr/>
        </p:nvSpPr>
        <p:spPr>
          <a:xfrm>
            <a:off x="548640" y="1920240"/>
            <a:ext cx="5394960" cy="3108960"/>
          </a:xfrm>
          <a:prstGeom prst="rect">
            <a:avLst/>
          </a:prstGeom>
          <a:noFill/>
          <a:ln/>
        </p:spPr>
        <p:txBody>
          <a:bodyPr wrap="square" lIns="0" tIns="0" rIns="0" bIns="0" rtlCol="0" anchor="t"/>
          <a:lstStyle/>
          <a:p>
            <a:pPr algn="l" marL="177800" indent="-177800">
              <a:lnSpc>
                <a:spcPct val="110000"/>
              </a:lnSpc>
              <a:spcAft>
                <a:spcPts val="2200"/>
              </a:spcAft>
              <a:buSzPct val="100000"/>
              <a:buChar char="•"/>
            </a:pPr>
            <a:r>
              <a:rPr lang="en-US" sz="1550" b="1" dirty="0">
                <a:solidFill>
                  <a:srgbClr val="22D3EE"/>
                </a:solidFill>
                <a:latin typeface="Calibri" pitchFamily="34" charset="0"/>
                <a:ea typeface="Calibri" pitchFamily="34" charset="-122"/>
                <a:cs typeface="Calibri" pitchFamily="34" charset="-120"/>
              </a:rPr>
              <a:t>Logging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record values &amp; steps at integration points</a:t>
            </a:r>
            <a:endParaRPr lang="en-US" sz="1550" dirty="0"/>
          </a:p>
          <a:p>
            <a:pPr algn="l" marL="177800" indent="-177800">
              <a:lnSpc>
                <a:spcPct val="110000"/>
              </a:lnSpc>
              <a:spcAft>
                <a:spcPts val="2200"/>
              </a:spcAft>
              <a:buSzPct val="100000"/>
              <a:buChar char="•"/>
            </a:pPr>
            <a:r>
              <a:rPr lang="en-US" sz="1550" b="1" dirty="0">
                <a:solidFill>
                  <a:srgbClr val="22D3EE"/>
                </a:solidFill>
                <a:latin typeface="Calibri" pitchFamily="34" charset="0"/>
                <a:ea typeface="Calibri" pitchFamily="34" charset="-122"/>
                <a:cs typeface="Calibri" pitchFamily="34" charset="-120"/>
              </a:rPr>
              <a:t>Error handling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friendly message / fallback — not a crash</a:t>
            </a:r>
            <a:endParaRPr lang="en-US" sz="1550" dirty="0"/>
          </a:p>
          <a:p>
            <a:pPr algn="l" marL="177800" indent="-177800">
              <a:lnSpc>
                <a:spcPct val="110000"/>
              </a:lnSpc>
              <a:spcAft>
                <a:spcPts val="2200"/>
              </a:spcAft>
              <a:buSzPct val="100000"/>
              <a:buChar char="•"/>
            </a:pPr>
            <a:r>
              <a:rPr lang="en-US" sz="1550" b="1" dirty="0">
                <a:solidFill>
                  <a:srgbClr val="22D3EE"/>
                </a:solidFill>
                <a:latin typeface="Calibri" pitchFamily="34" charset="0"/>
                <a:ea typeface="Calibri" pitchFamily="34" charset="-122"/>
                <a:cs typeface="Calibri" pitchFamily="34" charset="-120"/>
              </a:rPr>
              <a:t>try / catch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wrap risky calls — one failure ≠ dead demo</a:t>
            </a:r>
            <a:endParaRPr lang="en-US" sz="1550" dirty="0"/>
          </a:p>
          <a:p>
            <a:pPr algn="l" marL="177800" indent="-177800">
              <a:lnSpc>
                <a:spcPct val="110000"/>
              </a:lnSpc>
              <a:spcAft>
                <a:spcPts val="2200"/>
              </a:spcAft>
              <a:buSzPct val="100000"/>
              <a:buChar char="•"/>
            </a:pPr>
            <a:r>
              <a:rPr lang="en-US" sz="1550" b="1" dirty="0">
                <a:solidFill>
                  <a:srgbClr val="22D3EE"/>
                </a:solidFill>
                <a:latin typeface="Calibri" pitchFamily="34" charset="0"/>
                <a:ea typeface="Calibri" pitchFamily="34" charset="-122"/>
                <a:cs typeface="Calibri" pitchFamily="34" charset="-120"/>
              </a:rPr>
              <a:t>Monitoring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health check + logs on the deployed app</a:t>
            </a:r>
            <a:endParaRPr lang="en-US" sz="1550" dirty="0"/>
          </a:p>
        </p:txBody>
      </p:sp>
      <p:sp>
        <p:nvSpPr>
          <p:cNvPr id="7" name="Text 4"/>
          <p:cNvSpPr/>
          <p:nvPr/>
        </p:nvSpPr>
        <p:spPr>
          <a:xfrm>
            <a:off x="6263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FAIL GRACEFULLY — 12.5</a:t>
            </a:r>
            <a:endParaRPr lang="en-US" sz="1400" dirty="0"/>
          </a:p>
        </p:txBody>
      </p:sp>
      <p:sp>
        <p:nvSpPr>
          <p:cNvPr id="8" name="Text 5"/>
          <p:cNvSpPr/>
          <p:nvPr/>
        </p:nvSpPr>
        <p:spPr>
          <a:xfrm>
            <a:off x="6263640" y="1920240"/>
            <a:ext cx="5394960" cy="3108960"/>
          </a:xfrm>
          <a:prstGeom prst="rect">
            <a:avLst/>
          </a:prstGeom>
          <a:noFill/>
          <a:ln/>
        </p:spPr>
        <p:txBody>
          <a:bodyPr wrap="square" lIns="0" tIns="0" rIns="0" bIns="0" rtlCol="0" anchor="t"/>
          <a:lstStyle/>
          <a:p>
            <a:pPr algn="l" marL="177800" indent="-177800">
              <a:lnSpc>
                <a:spcPct val="110000"/>
              </a:lnSpc>
              <a:spcAft>
                <a:spcPts val="2200"/>
              </a:spcAft>
              <a:buSzPct val="100000"/>
              <a:buChar char="•"/>
            </a:pPr>
            <a:r>
              <a:rPr lang="en-US" sz="1550" b="1" dirty="0">
                <a:solidFill>
                  <a:srgbClr val="F59E0B"/>
                </a:solidFill>
                <a:latin typeface="Calibri" pitchFamily="34" charset="0"/>
                <a:ea typeface="Calibri" pitchFamily="34" charset="-122"/>
                <a:cs typeface="Calibri" pitchFamily="34" charset="-120"/>
              </a:rPr>
              <a:t>Edge cases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empty · zero · negative · huge · offline — judges try these</a:t>
            </a:r>
            <a:endParaRPr lang="en-US" sz="1550" dirty="0"/>
          </a:p>
          <a:p>
            <a:pPr algn="l" marL="177800" indent="-177800">
              <a:lnSpc>
                <a:spcPct val="110000"/>
              </a:lnSpc>
              <a:spcAft>
                <a:spcPts val="2200"/>
              </a:spcAft>
              <a:buSzPct val="100000"/>
              <a:buChar char="•"/>
            </a:pPr>
            <a:r>
              <a:rPr lang="en-US" sz="1550" b="1" dirty="0">
                <a:solidFill>
                  <a:srgbClr val="22D3EE"/>
                </a:solidFill>
                <a:latin typeface="Calibri" pitchFamily="34" charset="0"/>
                <a:ea typeface="Calibri" pitchFamily="34" charset="-122"/>
                <a:cs typeface="Calibri" pitchFamily="34" charset="-120"/>
              </a:rPr>
              <a:t>Input validation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check before use — stability AND security</a:t>
            </a:r>
            <a:endParaRPr lang="en-US" sz="1550" dirty="0"/>
          </a:p>
          <a:p>
            <a:pPr algn="l" marL="177800" indent="-177800">
              <a:lnSpc>
                <a:spcPct val="110000"/>
              </a:lnSpc>
              <a:spcAft>
                <a:spcPts val="2200"/>
              </a:spcAft>
              <a:buSzPct val="100000"/>
              <a:buChar char="•"/>
            </a:pPr>
            <a:r>
              <a:rPr lang="en-US" sz="1550" b="1" dirty="0">
                <a:solidFill>
                  <a:srgbClr val="22D3EE"/>
                </a:solidFill>
                <a:latin typeface="Calibri" pitchFamily="34" charset="0"/>
                <a:ea typeface="Calibri" pitchFamily="34" charset="-122"/>
                <a:cs typeface="Calibri" pitchFamily="34" charset="-120"/>
              </a:rPr>
              <a:t>Resilience  </a:t>
            </a:r>
            <a:pPr algn="l" indent="0" marL="0">
              <a:lnSpc>
                <a:spcPct val="110000"/>
              </a:lnSpc>
              <a:spcAft>
                <a:spcPts val="2200"/>
              </a:spcAft>
              <a:buNone/>
            </a:pPr>
            <a:r>
              <a:rPr lang="en-US" sz="1550" dirty="0">
                <a:solidFill>
                  <a:srgbClr val="F1F5F9"/>
                </a:solidFill>
                <a:latin typeface="Calibri" pitchFamily="34" charset="0"/>
                <a:ea typeface="Calibri" pitchFamily="34" charset="-122"/>
                <a:cs typeface="Calibri" pitchFamily="34" charset="-120"/>
              </a:rPr>
              <a:t>API down → mock data · bad input → clear error</a:t>
            </a:r>
            <a:endParaRPr lang="en-US" sz="1550" dirty="0"/>
          </a:p>
          <a:p>
            <a:pPr algn="l" marL="177800" indent="-177800">
              <a:lnSpc>
                <a:spcPct val="110000"/>
              </a:lnSpc>
              <a:spcAft>
                <a:spcPts val="200"/>
              </a:spcAft>
              <a:buSzPct val="100000"/>
              <a:buChar char="•"/>
            </a:pPr>
            <a:r>
              <a:rPr lang="en-US" sz="1550" b="1" dirty="0">
                <a:solidFill>
                  <a:srgbClr val="A3E635"/>
                </a:solidFill>
                <a:latin typeface="Calibri" pitchFamily="34" charset="0"/>
                <a:ea typeface="Calibri" pitchFamily="34" charset="-122"/>
                <a:cs typeface="Calibri" pitchFamily="34" charset="-120"/>
              </a:rPr>
              <a:t>Build it into the demo path specifically</a:t>
            </a:r>
            <a:endParaRPr lang="en-US" sz="1550" dirty="0"/>
          </a:p>
        </p:txBody>
      </p:sp>
      <p:sp>
        <p:nvSpPr>
          <p:cNvPr id="9" name="Shape 6"/>
          <p:cNvSpPr/>
          <p:nvPr/>
        </p:nvSpPr>
        <p:spPr>
          <a:xfrm>
            <a:off x="548640" y="5257800"/>
            <a:ext cx="11091672" cy="777240"/>
          </a:xfrm>
          <a:prstGeom prst="roundRect">
            <a:avLst>
              <a:gd name="adj" fmla="val 10588"/>
            </a:avLst>
          </a:prstGeom>
          <a:solidFill>
            <a:srgbClr val="141E33"/>
          </a:solidFill>
          <a:ln/>
          <a:effectLst>
            <a:outerShdw sx="100000" sy="100000" kx="0" ky="0" algn="bl" rotWithShape="0" blurRad="114300" dist="38100" dir="5400000">
              <a:srgbClr val="000000">
                <a:alpha val="45000"/>
              </a:srgbClr>
            </a:outerShdw>
          </a:effectLst>
        </p:spPr>
      </p:sp>
      <p:sp>
        <p:nvSpPr>
          <p:cNvPr id="10" name="Text 7"/>
          <p:cNvSpPr/>
          <p:nvPr/>
        </p:nvSpPr>
        <p:spPr>
          <a:xfrm>
            <a:off x="868680" y="5257800"/>
            <a:ext cx="10424160" cy="777240"/>
          </a:xfrm>
          <a:prstGeom prst="rect">
            <a:avLst/>
          </a:prstGeom>
          <a:noFill/>
          <a:ln/>
        </p:spPr>
        <p:txBody>
          <a:bodyPr wrap="square" lIns="0" tIns="0" rIns="0" bIns="0" rtlCol="0" anchor="ctr"/>
          <a:lstStyle/>
          <a:p>
            <a:pPr indent="0" marL="0">
              <a:buNone/>
            </a:pPr>
            <a:r>
              <a:rPr lang="en-US" sz="1400" b="1" dirty="0">
                <a:solidFill>
                  <a:srgbClr val="22D3EE"/>
                </a:solidFill>
                <a:latin typeface="Consolas" pitchFamily="34" charset="0"/>
                <a:ea typeface="Consolas" pitchFamily="34" charset="-122"/>
                <a:cs typeface="Consolas" pitchFamily="34" charset="-120"/>
              </a:rPr>
              <a:t>&gt; </a:t>
            </a:r>
            <a:pPr indent="0" marL="0">
              <a:buNone/>
            </a:pPr>
            <a:r>
              <a:rPr lang="en-US" sz="1400" dirty="0">
                <a:solidFill>
                  <a:srgbClr val="A3E635"/>
                </a:solidFill>
                <a:latin typeface="Consolas" pitchFamily="34" charset="0"/>
                <a:ea typeface="Consolas" pitchFamily="34" charset="-122"/>
                <a:cs typeface="Consolas" pitchFamily="34" charset="-120"/>
              </a:rPr>
              <a:t>wrap it · validate it · mock it — the demo path must survive anything</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13 — SECURITY &amp; PRIVACY</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Security Basics Judges Notice</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59</a:t>
            </a:r>
            <a:endParaRPr lang="en-US" sz="1000" dirty="0"/>
          </a:p>
        </p:txBody>
      </p:sp>
      <p:sp>
        <p:nvSpPr>
          <p:cNvPr id="6" name="Text 3"/>
          <p:cNvSpPr/>
          <p:nvPr/>
        </p:nvSpPr>
        <p:spPr>
          <a:xfrm>
            <a:off x="548640" y="1508760"/>
            <a:ext cx="5394960" cy="1828800"/>
          </a:xfrm>
          <a:prstGeom prst="rect">
            <a:avLst/>
          </a:prstGeom>
          <a:noFill/>
          <a:ln/>
        </p:spPr>
        <p:txBody>
          <a:bodyPr wrap="square" lIns="0" tIns="0" rIns="0" bIns="0" rtlCol="0" anchor="t"/>
          <a:lstStyle/>
          <a:p>
            <a:pPr algn="l" marL="177800" indent="-177800">
              <a:lnSpc>
                <a:spcPct val="110000"/>
              </a:lnSpc>
              <a:spcAft>
                <a:spcPts val="1000"/>
              </a:spcAft>
              <a:buSzPct val="100000"/>
              <a:buChar char="•"/>
            </a:pPr>
            <a:r>
              <a:rPr lang="en-US" sz="1550" b="1" dirty="0">
                <a:solidFill>
                  <a:srgbClr val="F1F5F9"/>
                </a:solidFill>
                <a:latin typeface="Calibri" pitchFamily="34" charset="0"/>
                <a:ea typeface="Calibri" pitchFamily="34" charset="-122"/>
                <a:cs typeface="Calibri" pitchFamily="34" charset="-120"/>
              </a:rPr>
              <a:t>Judges notice basic security — FinTech · Health · Cyber</a:t>
            </a:r>
            <a:endParaRPr lang="en-US" sz="1550" dirty="0"/>
          </a:p>
          <a:p>
            <a:pPr algn="l" marL="177800" indent="-177800">
              <a:lnSpc>
                <a:spcPct val="110000"/>
              </a:lnSpc>
              <a:spcAft>
                <a:spcPts val="1000"/>
              </a:spcAft>
              <a:buSzPct val="100000"/>
              <a:buChar char="•"/>
            </a:pPr>
            <a:r>
              <a:rPr lang="en-US" sz="1550" b="1" dirty="0">
                <a:solidFill>
                  <a:srgbClr val="22D3EE"/>
                </a:solidFill>
                <a:latin typeface="Calibri" pitchFamily="34" charset="0"/>
                <a:ea typeface="Calibri" pitchFamily="34" charset="-122"/>
                <a:cs typeface="Calibri" pitchFamily="34" charset="-120"/>
              </a:rPr>
              <a:t>Goal: not bank-grade — zero rookie mistakes</a:t>
            </a:r>
            <a:endParaRPr lang="en-US" sz="1550" dirty="0"/>
          </a:p>
          <a:p>
            <a:pPr algn="l" lvl="1" marL="355600" indent="-177800">
              <a:lnSpc>
                <a:spcPct val="110000"/>
              </a:lnSpc>
              <a:spcAft>
                <a:spcPts val="1000"/>
              </a:spcAft>
              <a:buSzPct val="100000"/>
              <a:buChar char="•"/>
            </a:pPr>
            <a:r>
              <a:rPr lang="en-US" sz="1300" dirty="0">
                <a:solidFill>
                  <a:srgbClr val="7C8CA5"/>
                </a:solidFill>
                <a:latin typeface="Calibri" pitchFamily="34" charset="0"/>
                <a:ea typeface="Calibri" pitchFamily="34" charset="-122"/>
                <a:cs typeface="Calibri" pitchFamily="34" charset="-120"/>
              </a:rPr>
              <a:t>leaked keys · hackable logins · exposed data</a:t>
            </a:r>
            <a:endParaRPr lang="en-US" sz="1550" dirty="0"/>
          </a:p>
        </p:txBody>
      </p:sp>
      <p:sp>
        <p:nvSpPr>
          <p:cNvPr id="7" name="Shape 4"/>
          <p:cNvSpPr/>
          <p:nvPr/>
        </p:nvSpPr>
        <p:spPr>
          <a:xfrm>
            <a:off x="6263640" y="1714500"/>
            <a:ext cx="548640" cy="548640"/>
          </a:xfrm>
          <a:prstGeom prst="ellipse">
            <a:avLst/>
          </a:prstGeom>
          <a:solidFill>
            <a:srgbClr val="1B2842"/>
          </a:solidFill>
          <a:ln/>
        </p:spPr>
      </p:sp>
      <p:pic>
        <p:nvPicPr>
          <p:cNvPr id="8" name="Image 0" descr="C:\Users\User\AppData\Local\Temp\claude\C--Users-User-OneDrive-Music-Hackathon\67e3d9e6-0718-4380-8c09-13d83fcd8fa7\scratchpad\pptbuild\v2\assets\icons\usercheck-cyan.png">    </p:cNvPr>
          <p:cNvPicPr>
            <a:picLocks noChangeAspect="1"/>
          </p:cNvPicPr>
          <p:nvPr/>
        </p:nvPicPr>
        <p:blipFill>
          <a:blip r:embed="rId1"/>
          <a:stretch>
            <a:fillRect/>
          </a:stretch>
        </p:blipFill>
        <p:spPr>
          <a:xfrm>
            <a:off x="6395314" y="1846174"/>
            <a:ext cx="285293" cy="285293"/>
          </a:xfrm>
          <a:prstGeom prst="rect">
            <a:avLst/>
          </a:prstGeom>
        </p:spPr>
      </p:pic>
      <p:sp>
        <p:nvSpPr>
          <p:cNvPr id="9" name="Text 5"/>
          <p:cNvSpPr/>
          <p:nvPr/>
        </p:nvSpPr>
        <p:spPr>
          <a:xfrm>
            <a:off x="7040880" y="1508760"/>
            <a:ext cx="4617720" cy="96012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Authentication (authN)</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WHO are you? — login. Use a provider.</a:t>
            </a:r>
            <a:endParaRPr lang="en-US" sz="1500" dirty="0"/>
          </a:p>
        </p:txBody>
      </p:sp>
      <p:sp>
        <p:nvSpPr>
          <p:cNvPr id="10" name="Shape 6"/>
          <p:cNvSpPr/>
          <p:nvPr/>
        </p:nvSpPr>
        <p:spPr>
          <a:xfrm>
            <a:off x="6263640" y="2674620"/>
            <a:ext cx="548640" cy="548640"/>
          </a:xfrm>
          <a:prstGeom prst="ellipse">
            <a:avLst/>
          </a:prstGeom>
          <a:solidFill>
            <a:srgbClr val="1B2842"/>
          </a:solidFill>
          <a:ln/>
        </p:spPr>
      </p:sp>
      <p:pic>
        <p:nvPicPr>
          <p:cNvPr id="11" name="Image 1" descr="C:\Users\User\AppData\Local\Temp\claude\C--Users-User-OneDrive-Music-Hackathon\67e3d9e6-0718-4380-8c09-13d83fcd8fa7\scratchpad\pptbuild\v2\assets\icons\shield-cyan.png">    </p:cNvPr>
          <p:cNvPicPr>
            <a:picLocks noChangeAspect="1"/>
          </p:cNvPicPr>
          <p:nvPr/>
        </p:nvPicPr>
        <p:blipFill>
          <a:blip r:embed="rId2"/>
          <a:stretch>
            <a:fillRect/>
          </a:stretch>
        </p:blipFill>
        <p:spPr>
          <a:xfrm>
            <a:off x="6395314" y="2806294"/>
            <a:ext cx="285293" cy="285293"/>
          </a:xfrm>
          <a:prstGeom prst="rect">
            <a:avLst/>
          </a:prstGeom>
        </p:spPr>
      </p:pic>
      <p:sp>
        <p:nvSpPr>
          <p:cNvPr id="12" name="Text 7"/>
          <p:cNvSpPr/>
          <p:nvPr/>
        </p:nvSpPr>
        <p:spPr>
          <a:xfrm>
            <a:off x="7040880" y="2468880"/>
            <a:ext cx="4617720" cy="960120"/>
          </a:xfrm>
          <a:prstGeom prst="rect">
            <a:avLst/>
          </a:prstGeom>
          <a:noFill/>
          <a:ln/>
        </p:spPr>
        <p:txBody>
          <a:bodyPr wrap="square" lIns="0" tIns="0" rIns="0" bIns="0" rtlCol="0" anchor="ctr"/>
          <a:lstStyle/>
          <a:p>
            <a:pPr indent="0" marL="0">
              <a:lnSpc>
                <a:spcPct val="102000"/>
              </a:lnSpc>
              <a:spcAft>
                <a:spcPts val="200"/>
              </a:spcAft>
              <a:buNone/>
            </a:pPr>
            <a:r>
              <a:rPr lang="en-US" sz="1500" b="1" dirty="0">
                <a:solidFill>
                  <a:srgbClr val="F1F5F9"/>
                </a:solidFill>
                <a:latin typeface="Calibri" pitchFamily="34" charset="0"/>
                <a:ea typeface="Calibri" pitchFamily="34" charset="-122"/>
                <a:cs typeface="Calibri" pitchFamily="34" charset="-120"/>
              </a:rPr>
              <a:t>Authorization (authZ)</a:t>
            </a:r>
            <a:endParaRPr lang="en-US" sz="1500" dirty="0"/>
          </a:p>
          <a:p>
            <a:pPr indent="0" marL="0">
              <a:lnSpc>
                <a:spcPct val="102000"/>
              </a:lnSpc>
              <a:buNone/>
            </a:pPr>
            <a:r>
              <a:rPr lang="en-US" sz="1300" dirty="0">
                <a:solidFill>
                  <a:srgbClr val="7C8CA5"/>
                </a:solidFill>
                <a:latin typeface="Calibri" pitchFamily="34" charset="0"/>
                <a:ea typeface="Calibri" pitchFamily="34" charset="-122"/>
                <a:cs typeface="Calibri" pitchFamily="34" charset="-120"/>
              </a:rPr>
              <a:t>WHAT may you do? — permissions.</a:t>
            </a:r>
            <a:endParaRPr lang="en-US" sz="1500" dirty="0"/>
          </a:p>
        </p:txBody>
      </p:sp>
      <p:sp>
        <p:nvSpPr>
          <p:cNvPr id="13" name="Shape 8"/>
          <p:cNvSpPr/>
          <p:nvPr/>
        </p:nvSpPr>
        <p:spPr>
          <a:xfrm>
            <a:off x="548640" y="3977640"/>
            <a:ext cx="11091672" cy="1737360"/>
          </a:xfrm>
          <a:prstGeom prst="roundRect">
            <a:avLst>
              <a:gd name="adj" fmla="val 4737"/>
            </a:avLst>
          </a:prstGeom>
          <a:solidFill>
            <a:srgbClr val="1B2842"/>
          </a:solidFill>
          <a:ln/>
          <a:effectLst>
            <a:outerShdw sx="100000" sy="100000" kx="0" ky="0" algn="bl" rotWithShape="0" blurRad="114300" dist="38100" dir="5400000">
              <a:srgbClr val="000000">
                <a:alpha val="45000"/>
              </a:srgbClr>
            </a:outerShdw>
          </a:effectLst>
        </p:spPr>
      </p:sp>
      <p:sp>
        <p:nvSpPr>
          <p:cNvPr id="14" name="Shape 9"/>
          <p:cNvSpPr/>
          <p:nvPr/>
        </p:nvSpPr>
        <p:spPr>
          <a:xfrm>
            <a:off x="914400" y="4526280"/>
            <a:ext cx="621792" cy="621792"/>
          </a:xfrm>
          <a:prstGeom prst="ellipse">
            <a:avLst/>
          </a:prstGeom>
          <a:solidFill>
            <a:srgbClr val="141E33"/>
          </a:solidFill>
          <a:ln/>
        </p:spPr>
      </p:sp>
      <p:pic>
        <p:nvPicPr>
          <p:cNvPr id="15" name="Image 2" descr="C:\Users\User\AppData\Local\Temp\claude\C--Users-User-OneDrive-Music-Hackathon\67e3d9e6-0718-4380-8c09-13d83fcd8fa7\scratchpad\pptbuild\v2\assets\icons\alert-amber.png">    </p:cNvPr>
          <p:cNvPicPr>
            <a:picLocks noChangeAspect="1"/>
          </p:cNvPicPr>
          <p:nvPr/>
        </p:nvPicPr>
        <p:blipFill>
          <a:blip r:embed="rId3"/>
          <a:stretch>
            <a:fillRect/>
          </a:stretch>
        </p:blipFill>
        <p:spPr>
          <a:xfrm>
            <a:off x="1063630" y="4675510"/>
            <a:ext cx="323332" cy="323332"/>
          </a:xfrm>
          <a:prstGeom prst="rect">
            <a:avLst/>
          </a:prstGeom>
        </p:spPr>
      </p:pic>
      <p:sp>
        <p:nvSpPr>
          <p:cNvPr id="16" name="Text 10"/>
          <p:cNvSpPr/>
          <p:nvPr/>
        </p:nvSpPr>
        <p:spPr>
          <a:xfrm>
            <a:off x="1828800" y="3977640"/>
            <a:ext cx="9509760" cy="1737360"/>
          </a:xfrm>
          <a:prstGeom prst="rect">
            <a:avLst/>
          </a:prstGeom>
          <a:noFill/>
          <a:ln/>
        </p:spPr>
        <p:txBody>
          <a:bodyPr wrap="square" lIns="0" tIns="0" rIns="0" bIns="0" rtlCol="0" anchor="ctr"/>
          <a:lstStyle/>
          <a:p>
            <a:pPr indent="0" marL="0">
              <a:lnSpc>
                <a:spcPct val="115000"/>
              </a:lnSpc>
              <a:buNone/>
            </a:pPr>
            <a:r>
              <a:rPr lang="en-US" sz="1900" b="1" dirty="0">
                <a:solidFill>
                  <a:srgbClr val="F59E0B"/>
                </a:solidFill>
                <a:latin typeface="Calibri" pitchFamily="34" charset="0"/>
                <a:ea typeface="Calibri" pitchFamily="34" charset="-122"/>
                <a:cs typeface="Calibri" pitchFamily="34" charset="-120"/>
              </a:rPr>
              <a:t>Hiding a button isn't security.
</a:t>
            </a:r>
            <a:pPr indent="0" marL="0">
              <a:lnSpc>
                <a:spcPct val="115000"/>
              </a:lnSpc>
              <a:buNone/>
            </a:pPr>
            <a:r>
              <a:rPr lang="en-US" sz="1650" dirty="0">
                <a:solidFill>
                  <a:srgbClr val="F1F5F9"/>
                </a:solidFill>
                <a:latin typeface="Calibri" pitchFamily="34" charset="0"/>
                <a:ea typeface="Calibri" pitchFamily="34" charset="-122"/>
                <a:cs typeface="Calibri" pitchFamily="34" charset="-120"/>
              </a:rPr>
              <a:t>Check authZ on the server — the endpoint must enforce it.</a:t>
            </a:r>
            <a:endParaRPr lang="en-US" sz="1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Tokens, Passwords &amp; Encryption</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60</a:t>
            </a:r>
            <a:endParaRPr lang="en-US" sz="1000" dirty="0"/>
          </a:p>
        </p:txBody>
      </p:sp>
      <p:sp>
        <p:nvSpPr>
          <p:cNvPr id="5" name="Shape 2"/>
          <p:cNvSpPr/>
          <p:nvPr/>
        </p:nvSpPr>
        <p:spPr>
          <a:xfrm>
            <a:off x="548640" y="1508760"/>
            <a:ext cx="3514344" cy="3931920"/>
          </a:xfrm>
          <a:prstGeom prst="roundRect">
            <a:avLst>
              <a:gd name="adj" fmla="val 2342"/>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4650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key-cyan.png">    </p:cNvPr>
          <p:cNvPicPr>
            <a:picLocks noChangeAspect="1"/>
          </p:cNvPicPr>
          <p:nvPr/>
        </p:nvPicPr>
        <p:blipFill>
          <a:blip r:embed="rId1"/>
          <a:stretch>
            <a:fillRect/>
          </a:stretch>
        </p:blipFill>
        <p:spPr>
          <a:xfrm>
            <a:off x="931225" y="1891345"/>
            <a:ext cx="313822" cy="313822"/>
          </a:xfrm>
          <a:prstGeom prst="rect">
            <a:avLst/>
          </a:prstGeom>
        </p:spPr>
      </p:pic>
      <p:sp>
        <p:nvSpPr>
          <p:cNvPr id="8" name="Text 4"/>
          <p:cNvSpPr/>
          <p:nvPr/>
        </p:nvSpPr>
        <p:spPr>
          <a:xfrm>
            <a:off x="786384" y="2459736"/>
            <a:ext cx="3038856" cy="28437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Tokens — 13.3</a:t>
            </a:r>
            <a:endParaRPr lang="en-US" sz="1600" dirty="0"/>
          </a:p>
          <a:p>
            <a:pPr indent="0" marL="0">
              <a:lnSpc>
                <a:spcPct val="106000"/>
              </a:lnSpc>
              <a:buNone/>
            </a:pPr>
            <a:r>
              <a:rPr lang="en-US" sz="1400" dirty="0">
                <a:solidFill>
                  <a:srgbClr val="7C8CA5"/>
                </a:solidFill>
                <a:latin typeface="Calibri" pitchFamily="34" charset="0"/>
                <a:ea typeface="Calibri" pitchFamily="34" charset="-122"/>
                <a:cs typeface="Calibri" pitchFamily="34" charset="-120"/>
              </a:rPr>
              <a:t>JWT: signed, tamper-proof — but readable. No secrets in payload. httpOnly cookies · expiries · never log. OAuth via SDK.</a:t>
            </a:r>
            <a:endParaRPr lang="en-US" sz="1600" dirty="0"/>
          </a:p>
        </p:txBody>
      </p:sp>
      <p:sp>
        <p:nvSpPr>
          <p:cNvPr id="9" name="Shape 5"/>
          <p:cNvSpPr/>
          <p:nvPr/>
        </p:nvSpPr>
        <p:spPr>
          <a:xfrm>
            <a:off x="4337304" y="1508760"/>
            <a:ext cx="3514344" cy="3931920"/>
          </a:xfrm>
          <a:prstGeom prst="roundRect">
            <a:avLst>
              <a:gd name="adj" fmla="val 2342"/>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74650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lock-cyan.png">    </p:cNvPr>
          <p:cNvPicPr>
            <a:picLocks noChangeAspect="1"/>
          </p:cNvPicPr>
          <p:nvPr/>
        </p:nvPicPr>
        <p:blipFill>
          <a:blip r:embed="rId2"/>
          <a:stretch>
            <a:fillRect/>
          </a:stretch>
        </p:blipFill>
        <p:spPr>
          <a:xfrm>
            <a:off x="4719889" y="1891345"/>
            <a:ext cx="313822" cy="313822"/>
          </a:xfrm>
          <a:prstGeom prst="rect">
            <a:avLst/>
          </a:prstGeom>
        </p:spPr>
      </p:pic>
      <p:sp>
        <p:nvSpPr>
          <p:cNvPr id="12" name="Text 7"/>
          <p:cNvSpPr/>
          <p:nvPr/>
        </p:nvSpPr>
        <p:spPr>
          <a:xfrm>
            <a:off x="4575048" y="2459736"/>
            <a:ext cx="3038856" cy="28437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Passwords — 13.4</a:t>
            </a:r>
            <a:endParaRPr lang="en-US" sz="1600" dirty="0"/>
          </a:p>
          <a:p>
            <a:pPr indent="0" marL="0">
              <a:lnSpc>
                <a:spcPct val="106000"/>
              </a:lnSpc>
              <a:buNone/>
            </a:pPr>
            <a:r>
              <a:rPr lang="en-US" sz="1400" dirty="0">
                <a:solidFill>
                  <a:srgbClr val="7C8CA5"/>
                </a:solidFill>
                <a:latin typeface="Calibri" pitchFamily="34" charset="0"/>
                <a:ea typeface="Calibri" pitchFamily="34" charset="-122"/>
                <a:cs typeface="Calibri" pitchFamily="34" charset="-120"/>
              </a:rPr>
              <a:t>NEVER plaintext. Providers do it right — use one. Must handle? Hash with bcrypt / argon2 — an irreversible fingerprint.</a:t>
            </a:r>
            <a:endParaRPr lang="en-US" sz="1600" dirty="0"/>
          </a:p>
        </p:txBody>
      </p:sp>
      <p:sp>
        <p:nvSpPr>
          <p:cNvPr id="13" name="Shape 8"/>
          <p:cNvSpPr/>
          <p:nvPr/>
        </p:nvSpPr>
        <p:spPr>
          <a:xfrm>
            <a:off x="8125968" y="1508760"/>
            <a:ext cx="3514344" cy="3931920"/>
          </a:xfrm>
          <a:prstGeom prst="roundRect">
            <a:avLst>
              <a:gd name="adj" fmla="val 2342"/>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74650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shieldcheck-cyan.png">    </p:cNvPr>
          <p:cNvPicPr>
            <a:picLocks noChangeAspect="1"/>
          </p:cNvPicPr>
          <p:nvPr/>
        </p:nvPicPr>
        <p:blipFill>
          <a:blip r:embed="rId3"/>
          <a:stretch>
            <a:fillRect/>
          </a:stretch>
        </p:blipFill>
        <p:spPr>
          <a:xfrm>
            <a:off x="8508553" y="1891345"/>
            <a:ext cx="313822" cy="313822"/>
          </a:xfrm>
          <a:prstGeom prst="rect">
            <a:avLst/>
          </a:prstGeom>
        </p:spPr>
      </p:pic>
      <p:sp>
        <p:nvSpPr>
          <p:cNvPr id="16" name="Text 10"/>
          <p:cNvSpPr/>
          <p:nvPr/>
        </p:nvSpPr>
        <p:spPr>
          <a:xfrm>
            <a:off x="8363712" y="2459736"/>
            <a:ext cx="3038856" cy="28437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Encryption — 13.5</a:t>
            </a:r>
            <a:endParaRPr lang="en-US" sz="1600" dirty="0"/>
          </a:p>
          <a:p>
            <a:pPr indent="0" marL="0">
              <a:lnSpc>
                <a:spcPct val="106000"/>
              </a:lnSpc>
              <a:buNone/>
            </a:pPr>
            <a:r>
              <a:rPr lang="en-US" sz="1400" dirty="0">
                <a:solidFill>
                  <a:srgbClr val="7C8CA5"/>
                </a:solidFill>
                <a:latin typeface="Calibri" pitchFamily="34" charset="0"/>
                <a:ea typeface="Calibri" pitchFamily="34" charset="-122"/>
                <a:cs typeface="Calibri" pitchFamily="34" charset="-120"/>
              </a:rPr>
              <a:t>In transit: HTTPS, always — free. At rest: managed DBs encrypt for you. You use it — you don't build it.</a:t>
            </a:r>
            <a:endParaRPr lang="en-US" sz="1600" dirty="0"/>
          </a:p>
        </p:txBody>
      </p:sp>
      <p:sp>
        <p:nvSpPr>
          <p:cNvPr id="17" name="Text 11"/>
          <p:cNvSpPr/>
          <p:nvPr/>
        </p:nvSpPr>
        <p:spPr>
          <a:xfrm>
            <a:off x="548640" y="5715000"/>
            <a:ext cx="11091672" cy="365760"/>
          </a:xfrm>
          <a:prstGeom prst="rect">
            <a:avLst/>
          </a:prstGeom>
          <a:noFill/>
          <a:ln/>
        </p:spPr>
        <p:txBody>
          <a:bodyPr wrap="square" lIns="0" tIns="0" rIns="0" bIns="0" rtlCol="0" anchor="ctr"/>
          <a:lstStyle/>
          <a:p>
            <a:pPr algn="ctr" indent="0" marL="0">
              <a:buNone/>
            </a:pPr>
            <a:r>
              <a:rPr lang="en-US" sz="1450" i="1" dirty="0">
                <a:solidFill>
                  <a:srgbClr val="7C8CA5"/>
                </a:solidFill>
                <a:latin typeface="Calibri" pitchFamily="34" charset="0"/>
                <a:ea typeface="Calibri" pitchFamily="34" charset="-122"/>
                <a:cs typeface="Calibri" pitchFamily="34" charset="-120"/>
              </a:rPr>
              <a:t>Providers exist so you never hand-roll this in 36 hours.</a:t>
            </a:r>
            <a:endParaRPr lang="en-US" sz="14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Attack → Defense</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61</a:t>
            </a:r>
            <a:endParaRPr lang="en-US" sz="1000" dirty="0"/>
          </a:p>
        </p:txBody>
      </p:sp>
      <p:sp>
        <p:nvSpPr>
          <p:cNvPr id="5" name="Shape 2"/>
          <p:cNvSpPr/>
          <p:nvPr/>
        </p:nvSpPr>
        <p:spPr>
          <a:xfrm>
            <a:off x="548640" y="1417320"/>
            <a:ext cx="5166360" cy="932688"/>
          </a:xfrm>
          <a:prstGeom prst="roundRect">
            <a:avLst>
              <a:gd name="adj" fmla="val 8824"/>
            </a:avLst>
          </a:prstGeom>
          <a:solidFill>
            <a:srgbClr val="141E33"/>
          </a:solidFill>
          <a:ln/>
        </p:spPr>
      </p:sp>
      <p:sp>
        <p:nvSpPr>
          <p:cNvPr id="6" name="Text 3"/>
          <p:cNvSpPr/>
          <p:nvPr/>
        </p:nvSpPr>
        <p:spPr>
          <a:xfrm>
            <a:off x="822960" y="1417320"/>
            <a:ext cx="4754880" cy="932688"/>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59E0B"/>
                </a:solidFill>
                <a:latin typeface="Calibri" pitchFamily="34" charset="0"/>
                <a:ea typeface="Calibri" pitchFamily="34" charset="-122"/>
                <a:cs typeface="Calibri" pitchFamily="34" charset="-120"/>
              </a:rPr>
              <a:t>SQL injection
</a:t>
            </a:r>
            <a:pPr indent="0" marL="0">
              <a:lnSpc>
                <a:spcPct val="100000"/>
              </a:lnSpc>
              <a:buNone/>
            </a:pPr>
            <a:r>
              <a:rPr lang="en-US" sz="1250" dirty="0">
                <a:solidFill>
                  <a:srgbClr val="F1F5F9"/>
                </a:solidFill>
                <a:latin typeface="Calibri" pitchFamily="34" charset="0"/>
                <a:ea typeface="Calibri" pitchFamily="34" charset="-122"/>
                <a:cs typeface="Calibri" pitchFamily="34" charset="-120"/>
              </a:rPr>
              <a:t>malicious DB commands via input fields</a:t>
            </a:r>
            <a:endParaRPr lang="en-US" sz="1450" dirty="0"/>
          </a:p>
        </p:txBody>
      </p:sp>
      <p:sp>
        <p:nvSpPr>
          <p:cNvPr id="7" name="Shape 4"/>
          <p:cNvSpPr/>
          <p:nvPr/>
        </p:nvSpPr>
        <p:spPr>
          <a:xfrm>
            <a:off x="5806440" y="1883664"/>
            <a:ext cx="384048" cy="0"/>
          </a:xfrm>
          <a:prstGeom prst="line">
            <a:avLst/>
          </a:prstGeom>
          <a:noFill/>
          <a:ln w="31750">
            <a:solidFill>
              <a:srgbClr val="22D3EE"/>
            </a:solidFill>
            <a:prstDash val="solid"/>
            <a:tailEnd type="triangle"/>
          </a:ln>
        </p:spPr>
      </p:sp>
      <p:sp>
        <p:nvSpPr>
          <p:cNvPr id="8" name="Shape 5"/>
          <p:cNvSpPr/>
          <p:nvPr/>
        </p:nvSpPr>
        <p:spPr>
          <a:xfrm>
            <a:off x="6291072" y="1417320"/>
            <a:ext cx="5349240" cy="932688"/>
          </a:xfrm>
          <a:prstGeom prst="roundRect">
            <a:avLst>
              <a:gd name="adj" fmla="val 8824"/>
            </a:avLst>
          </a:prstGeom>
          <a:solidFill>
            <a:srgbClr val="141E33"/>
          </a:solidFill>
          <a:ln/>
        </p:spPr>
      </p:sp>
      <p:sp>
        <p:nvSpPr>
          <p:cNvPr id="9" name="Text 6"/>
          <p:cNvSpPr/>
          <p:nvPr/>
        </p:nvSpPr>
        <p:spPr>
          <a:xfrm>
            <a:off x="6565392" y="1417320"/>
            <a:ext cx="4937760" cy="932688"/>
          </a:xfrm>
          <a:prstGeom prst="rect">
            <a:avLst/>
          </a:prstGeom>
          <a:noFill/>
          <a:ln/>
        </p:spPr>
        <p:txBody>
          <a:bodyPr wrap="square" lIns="0" tIns="0" rIns="0" bIns="0" rtlCol="0" anchor="ctr"/>
          <a:lstStyle/>
          <a:p>
            <a:pPr indent="0" marL="0">
              <a:lnSpc>
                <a:spcPct val="100000"/>
              </a:lnSpc>
              <a:spcAft>
                <a:spcPts val="200"/>
              </a:spcAft>
              <a:buNone/>
            </a:pPr>
            <a:r>
              <a:rPr lang="en-US" sz="1300" b="1" dirty="0">
                <a:solidFill>
                  <a:srgbClr val="A3E635"/>
                </a:solidFill>
                <a:latin typeface="Calibri" pitchFamily="34" charset="0"/>
                <a:ea typeface="Calibri" pitchFamily="34" charset="-122"/>
                <a:cs typeface="Calibri" pitchFamily="34" charset="-120"/>
              </a:rPr>
              <a:t>Defense
</a:t>
            </a:r>
            <a:pPr indent="0" marL="0">
              <a:lnSpc>
                <a:spcPct val="100000"/>
              </a:lnSpc>
              <a:buNone/>
            </a:pPr>
            <a:r>
              <a:rPr lang="en-US" sz="1250" dirty="0">
                <a:solidFill>
                  <a:srgbClr val="F1F5F9"/>
                </a:solidFill>
                <a:latin typeface="Calibri" pitchFamily="34" charset="0"/>
                <a:ea typeface="Calibri" pitchFamily="34" charset="-122"/>
                <a:cs typeface="Calibri" pitchFamily="34" charset="-120"/>
              </a:rPr>
              <a:t>Parameterized queries / ORM — never paste input into SQL</a:t>
            </a:r>
            <a:endParaRPr lang="en-US" sz="1300" dirty="0"/>
          </a:p>
        </p:txBody>
      </p:sp>
      <p:sp>
        <p:nvSpPr>
          <p:cNvPr id="10" name="Shape 7"/>
          <p:cNvSpPr/>
          <p:nvPr/>
        </p:nvSpPr>
        <p:spPr>
          <a:xfrm>
            <a:off x="548640" y="2487168"/>
            <a:ext cx="5166360" cy="932688"/>
          </a:xfrm>
          <a:prstGeom prst="roundRect">
            <a:avLst>
              <a:gd name="adj" fmla="val 8824"/>
            </a:avLst>
          </a:prstGeom>
          <a:solidFill>
            <a:srgbClr val="141E33"/>
          </a:solidFill>
          <a:ln/>
        </p:spPr>
      </p:sp>
      <p:sp>
        <p:nvSpPr>
          <p:cNvPr id="11" name="Text 8"/>
          <p:cNvSpPr/>
          <p:nvPr/>
        </p:nvSpPr>
        <p:spPr>
          <a:xfrm>
            <a:off x="822960" y="2487168"/>
            <a:ext cx="4754880" cy="932688"/>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59E0B"/>
                </a:solidFill>
                <a:latin typeface="Calibri" pitchFamily="34" charset="0"/>
                <a:ea typeface="Calibri" pitchFamily="34" charset="-122"/>
                <a:cs typeface="Calibri" pitchFamily="34" charset="-120"/>
              </a:rPr>
              <a:t>XSS — cross-site scripting
</a:t>
            </a:r>
            <a:pPr indent="0" marL="0">
              <a:lnSpc>
                <a:spcPct val="100000"/>
              </a:lnSpc>
              <a:buNone/>
            </a:pPr>
            <a:r>
              <a:rPr lang="en-US" sz="1250" dirty="0">
                <a:solidFill>
                  <a:srgbClr val="F1F5F9"/>
                </a:solidFill>
                <a:latin typeface="Calibri" pitchFamily="34" charset="0"/>
                <a:ea typeface="Calibri" pitchFamily="34" charset="-122"/>
                <a:cs typeface="Calibri" pitchFamily="34" charset="-120"/>
              </a:rPr>
              <a:t>injected scripts run in other browsers</a:t>
            </a:r>
            <a:endParaRPr lang="en-US" sz="1450" dirty="0"/>
          </a:p>
        </p:txBody>
      </p:sp>
      <p:sp>
        <p:nvSpPr>
          <p:cNvPr id="12" name="Shape 9"/>
          <p:cNvSpPr/>
          <p:nvPr/>
        </p:nvSpPr>
        <p:spPr>
          <a:xfrm>
            <a:off x="5806440" y="2953512"/>
            <a:ext cx="384048" cy="0"/>
          </a:xfrm>
          <a:prstGeom prst="line">
            <a:avLst/>
          </a:prstGeom>
          <a:noFill/>
          <a:ln w="31750">
            <a:solidFill>
              <a:srgbClr val="22D3EE"/>
            </a:solidFill>
            <a:prstDash val="solid"/>
            <a:tailEnd type="triangle"/>
          </a:ln>
        </p:spPr>
      </p:sp>
      <p:sp>
        <p:nvSpPr>
          <p:cNvPr id="13" name="Shape 10"/>
          <p:cNvSpPr/>
          <p:nvPr/>
        </p:nvSpPr>
        <p:spPr>
          <a:xfrm>
            <a:off x="6291072" y="2487168"/>
            <a:ext cx="5349240" cy="932688"/>
          </a:xfrm>
          <a:prstGeom prst="roundRect">
            <a:avLst>
              <a:gd name="adj" fmla="val 8824"/>
            </a:avLst>
          </a:prstGeom>
          <a:solidFill>
            <a:srgbClr val="141E33"/>
          </a:solidFill>
          <a:ln/>
        </p:spPr>
      </p:sp>
      <p:sp>
        <p:nvSpPr>
          <p:cNvPr id="14" name="Text 11"/>
          <p:cNvSpPr/>
          <p:nvPr/>
        </p:nvSpPr>
        <p:spPr>
          <a:xfrm>
            <a:off x="6565392" y="2487168"/>
            <a:ext cx="4937760" cy="932688"/>
          </a:xfrm>
          <a:prstGeom prst="rect">
            <a:avLst/>
          </a:prstGeom>
          <a:noFill/>
          <a:ln/>
        </p:spPr>
        <p:txBody>
          <a:bodyPr wrap="square" lIns="0" tIns="0" rIns="0" bIns="0" rtlCol="0" anchor="ctr"/>
          <a:lstStyle/>
          <a:p>
            <a:pPr indent="0" marL="0">
              <a:lnSpc>
                <a:spcPct val="100000"/>
              </a:lnSpc>
              <a:spcAft>
                <a:spcPts val="200"/>
              </a:spcAft>
              <a:buNone/>
            </a:pPr>
            <a:r>
              <a:rPr lang="en-US" sz="1300" b="1" dirty="0">
                <a:solidFill>
                  <a:srgbClr val="A3E635"/>
                </a:solidFill>
                <a:latin typeface="Calibri" pitchFamily="34" charset="0"/>
                <a:ea typeface="Calibri" pitchFamily="34" charset="-122"/>
                <a:cs typeface="Calibri" pitchFamily="34" charset="-120"/>
              </a:rPr>
              <a:t>Defense
</a:t>
            </a:r>
            <a:pPr indent="0" marL="0">
              <a:lnSpc>
                <a:spcPct val="100000"/>
              </a:lnSpc>
              <a:buNone/>
            </a:pPr>
            <a:r>
              <a:rPr lang="en-US" sz="1250" dirty="0">
                <a:solidFill>
                  <a:srgbClr val="F1F5F9"/>
                </a:solidFill>
                <a:latin typeface="Calibri" pitchFamily="34" charset="0"/>
                <a:ea typeface="Calibri" pitchFamily="34" charset="-122"/>
                <a:cs typeface="Calibri" pitchFamily="34" charset="-120"/>
              </a:rPr>
              <a:t>Never insert raw input as HTML — React escapes by default</a:t>
            </a:r>
            <a:endParaRPr lang="en-US" sz="1300" dirty="0"/>
          </a:p>
        </p:txBody>
      </p:sp>
      <p:sp>
        <p:nvSpPr>
          <p:cNvPr id="15" name="Shape 12"/>
          <p:cNvSpPr/>
          <p:nvPr/>
        </p:nvSpPr>
        <p:spPr>
          <a:xfrm>
            <a:off x="548640" y="3557016"/>
            <a:ext cx="5166360" cy="932688"/>
          </a:xfrm>
          <a:prstGeom prst="roundRect">
            <a:avLst>
              <a:gd name="adj" fmla="val 8824"/>
            </a:avLst>
          </a:prstGeom>
          <a:solidFill>
            <a:srgbClr val="141E33"/>
          </a:solidFill>
          <a:ln/>
        </p:spPr>
      </p:sp>
      <p:sp>
        <p:nvSpPr>
          <p:cNvPr id="16" name="Text 13"/>
          <p:cNvSpPr/>
          <p:nvPr/>
        </p:nvSpPr>
        <p:spPr>
          <a:xfrm>
            <a:off x="822960" y="3557016"/>
            <a:ext cx="4754880" cy="932688"/>
          </a:xfrm>
          <a:prstGeom prst="rect">
            <a:avLst/>
          </a:prstGeom>
          <a:noFill/>
          <a:ln/>
        </p:spPr>
        <p:txBody>
          <a:bodyPr wrap="square" lIns="0" tIns="0" rIns="0" bIns="0" rtlCol="0" anchor="ctr"/>
          <a:lstStyle/>
          <a:p>
            <a:pPr indent="0" marL="0">
              <a:lnSpc>
                <a:spcPct val="100000"/>
              </a:lnSpc>
              <a:spcAft>
                <a:spcPts val="200"/>
              </a:spcAft>
              <a:buNone/>
            </a:pPr>
            <a:r>
              <a:rPr lang="en-US" sz="1450" b="1" dirty="0">
                <a:solidFill>
                  <a:srgbClr val="F59E0B"/>
                </a:solidFill>
                <a:latin typeface="Calibri" pitchFamily="34" charset="0"/>
                <a:ea typeface="Calibri" pitchFamily="34" charset="-122"/>
                <a:cs typeface="Calibri" pitchFamily="34" charset="-120"/>
              </a:rPr>
              <a:t>CSRF — request forgery
</a:t>
            </a:r>
            <a:pPr indent="0" marL="0">
              <a:lnSpc>
                <a:spcPct val="100000"/>
              </a:lnSpc>
              <a:buNone/>
            </a:pPr>
            <a:r>
              <a:rPr lang="en-US" sz="1250" dirty="0">
                <a:solidFill>
                  <a:srgbClr val="F1F5F9"/>
                </a:solidFill>
                <a:latin typeface="Calibri" pitchFamily="34" charset="0"/>
                <a:ea typeface="Calibri" pitchFamily="34" charset="-122"/>
                <a:cs typeface="Calibri" pitchFamily="34" charset="-120"/>
              </a:rPr>
              <a:t>tricks a logged-in browser into requests</a:t>
            </a:r>
            <a:endParaRPr lang="en-US" sz="1450" dirty="0"/>
          </a:p>
        </p:txBody>
      </p:sp>
      <p:sp>
        <p:nvSpPr>
          <p:cNvPr id="17" name="Shape 14"/>
          <p:cNvSpPr/>
          <p:nvPr/>
        </p:nvSpPr>
        <p:spPr>
          <a:xfrm>
            <a:off x="5806440" y="4023360"/>
            <a:ext cx="384048" cy="0"/>
          </a:xfrm>
          <a:prstGeom prst="line">
            <a:avLst/>
          </a:prstGeom>
          <a:noFill/>
          <a:ln w="31750">
            <a:solidFill>
              <a:srgbClr val="22D3EE"/>
            </a:solidFill>
            <a:prstDash val="solid"/>
            <a:tailEnd type="triangle"/>
          </a:ln>
        </p:spPr>
      </p:sp>
      <p:sp>
        <p:nvSpPr>
          <p:cNvPr id="18" name="Shape 15"/>
          <p:cNvSpPr/>
          <p:nvPr/>
        </p:nvSpPr>
        <p:spPr>
          <a:xfrm>
            <a:off x="6291072" y="3557016"/>
            <a:ext cx="5349240" cy="932688"/>
          </a:xfrm>
          <a:prstGeom prst="roundRect">
            <a:avLst>
              <a:gd name="adj" fmla="val 8824"/>
            </a:avLst>
          </a:prstGeom>
          <a:solidFill>
            <a:srgbClr val="141E33"/>
          </a:solidFill>
          <a:ln/>
        </p:spPr>
      </p:sp>
      <p:sp>
        <p:nvSpPr>
          <p:cNvPr id="19" name="Text 16"/>
          <p:cNvSpPr/>
          <p:nvPr/>
        </p:nvSpPr>
        <p:spPr>
          <a:xfrm>
            <a:off x="6565392" y="3557016"/>
            <a:ext cx="4937760" cy="932688"/>
          </a:xfrm>
          <a:prstGeom prst="rect">
            <a:avLst/>
          </a:prstGeom>
          <a:noFill/>
          <a:ln/>
        </p:spPr>
        <p:txBody>
          <a:bodyPr wrap="square" lIns="0" tIns="0" rIns="0" bIns="0" rtlCol="0" anchor="ctr"/>
          <a:lstStyle/>
          <a:p>
            <a:pPr indent="0" marL="0">
              <a:lnSpc>
                <a:spcPct val="100000"/>
              </a:lnSpc>
              <a:spcAft>
                <a:spcPts val="200"/>
              </a:spcAft>
              <a:buNone/>
            </a:pPr>
            <a:r>
              <a:rPr lang="en-US" sz="1300" b="1" dirty="0">
                <a:solidFill>
                  <a:srgbClr val="A3E635"/>
                </a:solidFill>
                <a:latin typeface="Calibri" pitchFamily="34" charset="0"/>
                <a:ea typeface="Calibri" pitchFamily="34" charset="-122"/>
                <a:cs typeface="Calibri" pitchFamily="34" charset="-120"/>
              </a:rPr>
              <a:t>Defense
</a:t>
            </a:r>
            <a:pPr indent="0" marL="0">
              <a:lnSpc>
                <a:spcPct val="100000"/>
              </a:lnSpc>
              <a:buNone/>
            </a:pPr>
            <a:r>
              <a:rPr lang="en-US" sz="1250" dirty="0">
                <a:solidFill>
                  <a:srgbClr val="F1F5F9"/>
                </a:solidFill>
                <a:latin typeface="Calibri" pitchFamily="34" charset="0"/>
                <a:ea typeface="Calibri" pitchFamily="34" charset="-122"/>
                <a:cs typeface="Calibri" pitchFamily="34" charset="-120"/>
              </a:rPr>
              <a:t>Anti-CSRF tokens + sameSite cookies — auth libraries handle it</a:t>
            </a:r>
            <a:endParaRPr lang="en-US" sz="1300" dirty="0"/>
          </a:p>
        </p:txBody>
      </p:sp>
      <p:sp>
        <p:nvSpPr>
          <p:cNvPr id="20" name="Shape 17"/>
          <p:cNvSpPr/>
          <p:nvPr/>
        </p:nvSpPr>
        <p:spPr>
          <a:xfrm>
            <a:off x="548640" y="4709160"/>
            <a:ext cx="11091672" cy="1325880"/>
          </a:xfrm>
          <a:prstGeom prst="roundRect">
            <a:avLst>
              <a:gd name="adj" fmla="val 6207"/>
            </a:avLst>
          </a:prstGeom>
          <a:solidFill>
            <a:srgbClr val="1B2842"/>
          </a:solidFill>
          <a:ln/>
          <a:effectLst>
            <a:outerShdw sx="100000" sy="100000" kx="0" ky="0" algn="bl" rotWithShape="0" blurRad="114300" dist="38100" dir="5400000">
              <a:srgbClr val="000000">
                <a:alpha val="45000"/>
              </a:srgbClr>
            </a:outerShdw>
          </a:effectLst>
        </p:spPr>
      </p:sp>
      <p:sp>
        <p:nvSpPr>
          <p:cNvPr id="21" name="Shape 18"/>
          <p:cNvSpPr/>
          <p:nvPr/>
        </p:nvSpPr>
        <p:spPr>
          <a:xfrm>
            <a:off x="868680" y="5074920"/>
            <a:ext cx="585216" cy="585216"/>
          </a:xfrm>
          <a:prstGeom prst="ellipse">
            <a:avLst/>
          </a:prstGeom>
          <a:solidFill>
            <a:srgbClr val="141E33"/>
          </a:solidFill>
          <a:ln/>
        </p:spPr>
      </p:sp>
      <p:pic>
        <p:nvPicPr>
          <p:cNvPr id="22" name="Image 0" descr="C:\Users\User\AppData\Local\Temp\claude\C--Users-User-OneDrive-Music-Hackathon\67e3d9e6-0718-4380-8c09-13d83fcd8fa7\scratchpad\pptbuild\v2\assets\icons\key-amber.png">    </p:cNvPr>
          <p:cNvPicPr>
            <a:picLocks noChangeAspect="1"/>
          </p:cNvPicPr>
          <p:nvPr/>
        </p:nvPicPr>
        <p:blipFill>
          <a:blip r:embed="rId1"/>
          <a:stretch>
            <a:fillRect/>
          </a:stretch>
        </p:blipFill>
        <p:spPr>
          <a:xfrm>
            <a:off x="1009132" y="5215372"/>
            <a:ext cx="304312" cy="304312"/>
          </a:xfrm>
          <a:prstGeom prst="rect">
            <a:avLst/>
          </a:prstGeom>
        </p:spPr>
      </p:pic>
      <p:sp>
        <p:nvSpPr>
          <p:cNvPr id="23" name="Text 19"/>
          <p:cNvSpPr/>
          <p:nvPr/>
        </p:nvSpPr>
        <p:spPr>
          <a:xfrm>
            <a:off x="1691640" y="4709160"/>
            <a:ext cx="9784080" cy="1325880"/>
          </a:xfrm>
          <a:prstGeom prst="rect">
            <a:avLst/>
          </a:prstGeom>
          <a:noFill/>
          <a:ln/>
        </p:spPr>
        <p:txBody>
          <a:bodyPr wrap="square" lIns="0" tIns="0" rIns="0" bIns="0" rtlCol="0" anchor="ctr"/>
          <a:lstStyle/>
          <a:p>
            <a:pPr indent="0" marL="0">
              <a:lnSpc>
                <a:spcPct val="108000"/>
              </a:lnSpc>
              <a:buNone/>
            </a:pPr>
            <a:r>
              <a:rPr lang="en-US" sz="1350" b="1" dirty="0">
                <a:solidFill>
                  <a:srgbClr val="F59E0B"/>
                </a:solidFill>
                <a:latin typeface="Consolas" pitchFamily="34" charset="0"/>
                <a:ea typeface="Consolas" pitchFamily="34" charset="-122"/>
                <a:cs typeface="Consolas" pitchFamily="34" charset="-120"/>
              </a:rPr>
              <a:t>SECRETS — 13.7:  </a:t>
            </a:r>
            <a:pPr indent="0" marL="0">
              <a:lnSpc>
                <a:spcPct val="108000"/>
              </a:lnSpc>
              <a:spcAft>
                <a:spcPts val="400"/>
              </a:spcAft>
              <a:buNone/>
            </a:pPr>
            <a:r>
              <a:rPr lang="en-US" sz="1450" dirty="0">
                <a:solidFill>
                  <a:srgbClr val="F1F5F9"/>
                </a:solidFill>
                <a:latin typeface="Calibri" pitchFamily="34" charset="0"/>
                <a:ea typeface="Calibri" pitchFamily="34" charset="-122"/>
                <a:cs typeface="Calibri" pitchFamily="34" charset="-120"/>
              </a:rPr>
              <a:t>never commit keys (.env in .gitignore) · env vars only, never hard-coded · leaked? rotate now.</a:t>
            </a:r>
            <a:endParaRPr lang="en-US" sz="1350" dirty="0"/>
          </a:p>
          <a:p>
            <a:pPr indent="0" marL="0">
              <a:lnSpc>
                <a:spcPct val="108000"/>
              </a:lnSpc>
              <a:buNone/>
            </a:pPr>
            <a:r>
              <a:rPr lang="en-US" sz="1250" dirty="0">
                <a:solidFill>
                  <a:srgbClr val="7C8CA5"/>
                </a:solidFill>
                <a:latin typeface="Calibri" pitchFamily="34" charset="0"/>
                <a:ea typeface="Calibri" pitchFamily="34" charset="-122"/>
                <a:cs typeface="Calibri" pitchFamily="34" charset="-120"/>
              </a:rPr>
              <a:t>13.8: least privilege · no public DBs (row-level security) · minimum personal data · fake data in demos</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14 — DEPLOYMENT</a:t>
            </a:r>
            <a:endParaRPr lang="en-US" sz="1300" dirty="0"/>
          </a:p>
        </p:txBody>
      </p:sp>
      <p:sp>
        <p:nvSpPr>
          <p:cNvPr id="3" name="Text 1"/>
          <p:cNvSpPr/>
          <p:nvPr/>
        </p:nvSpPr>
        <p:spPr>
          <a:xfrm>
            <a:off x="548640" y="1828800"/>
            <a:ext cx="11091672" cy="320040"/>
          </a:xfrm>
          <a:prstGeom prst="rect">
            <a:avLst/>
          </a:prstGeom>
          <a:noFill/>
          <a:ln/>
        </p:spPr>
        <p:txBody>
          <a:bodyPr wrap="square" lIns="0" tIns="0" rIns="0" bIns="0" rtlCol="0" anchor="ctr"/>
          <a:lstStyle/>
          <a:p>
            <a:pPr algn="ctr" indent="0" marL="0">
              <a:buNone/>
            </a:pPr>
            <a:r>
              <a:rPr lang="en-US" sz="1400" spc="400" kern="0" dirty="0">
                <a:solidFill>
                  <a:srgbClr val="7C8CA5"/>
                </a:solidFill>
                <a:latin typeface="Consolas" pitchFamily="34" charset="0"/>
                <a:ea typeface="Consolas" pitchFamily="34" charset="-122"/>
                <a:cs typeface="Consolas" pitchFamily="34" charset="-120"/>
              </a:rPr>
              <a:t>“WORKS ON MY MACHINE” CONVINCES NOBODY</a:t>
            </a:r>
            <a:endParaRPr lang="en-US" sz="1400" dirty="0"/>
          </a:p>
        </p:txBody>
      </p:sp>
      <p:sp>
        <p:nvSpPr>
          <p:cNvPr id="4" name="Text 2"/>
          <p:cNvSpPr/>
          <p:nvPr/>
        </p:nvSpPr>
        <p:spPr>
          <a:xfrm>
            <a:off x="548640" y="2194560"/>
            <a:ext cx="11091672" cy="2011680"/>
          </a:xfrm>
          <a:prstGeom prst="rect">
            <a:avLst/>
          </a:prstGeom>
          <a:noFill/>
          <a:ln/>
        </p:spPr>
        <p:txBody>
          <a:bodyPr wrap="square" lIns="0" tIns="0" rIns="0" bIns="0" rtlCol="0" anchor="ctr"/>
          <a:lstStyle/>
          <a:p>
            <a:pPr algn="ctr" indent="0" marL="0">
              <a:buNone/>
            </a:pPr>
            <a:r>
              <a:rPr lang="en-US" sz="6600" dirty="0">
                <a:solidFill>
                  <a:srgbClr val="22D3EE"/>
                </a:solidFill>
                <a:latin typeface="Arial Black" pitchFamily="34" charset="0"/>
                <a:ea typeface="Arial Black" pitchFamily="34" charset="-122"/>
                <a:cs typeface="Arial Black" pitchFamily="34" charset="-120"/>
              </a:rPr>
              <a:t>DEPLOY IN HOUR ONE.</a:t>
            </a:r>
            <a:endParaRPr lang="en-US" sz="6600" dirty="0"/>
          </a:p>
        </p:txBody>
      </p:sp>
      <p:sp>
        <p:nvSpPr>
          <p:cNvPr id="5" name="Text 3"/>
          <p:cNvSpPr/>
          <p:nvPr/>
        </p:nvSpPr>
        <p:spPr>
          <a:xfrm>
            <a:off x="1463040" y="4389120"/>
            <a:ext cx="9262872" cy="822960"/>
          </a:xfrm>
          <a:prstGeom prst="rect">
            <a:avLst/>
          </a:prstGeom>
          <a:noFill/>
          <a:ln/>
        </p:spPr>
        <p:txBody>
          <a:bodyPr wrap="square" lIns="0" tIns="0" rIns="0" bIns="0" rtlCol="0" anchor="t"/>
          <a:lstStyle/>
          <a:p>
            <a:pPr algn="ctr" indent="0" marL="0">
              <a:buNone/>
            </a:pPr>
            <a:r>
              <a:rPr lang="en-US" sz="1800" dirty="0">
                <a:solidFill>
                  <a:srgbClr val="F1F5F9"/>
                </a:solidFill>
                <a:latin typeface="Calibri" pitchFamily="34" charset="0"/>
                <a:ea typeface="Calibri" pitchFamily="34" charset="-122"/>
                <a:cs typeface="Calibri" pitchFamily="34" charset="-120"/>
              </a:rPr>
              <a:t>Hello-world on a public URL first — prove the pipeline, then redeploy continuously.</a:t>
            </a:r>
            <a:endParaRPr lang="en-US" sz="1800" dirty="0"/>
          </a:p>
          <a:p>
            <a:pPr algn="ctr" indent="0" marL="0">
              <a:buNone/>
            </a:pPr>
            <a:r>
              <a:rPr lang="en-US" sz="1800" dirty="0">
                <a:solidFill>
                  <a:srgbClr val="F1F5F9"/>
                </a:solidFill>
                <a:latin typeface="Calibri" pitchFamily="34" charset="0"/>
                <a:ea typeface="Calibri" pitchFamily="34" charset="-122"/>
                <a:cs typeface="Calibri" pitchFamily="34" charset="-120"/>
              </a:rPr>
              <a:t>static hosting · server hosting · serverless (scales to zero) · containers · CI/CD on push</a:t>
            </a:r>
            <a:endParaRPr lang="en-US" sz="1800" dirty="0"/>
          </a:p>
        </p:txBody>
      </p:sp>
      <p:sp>
        <p:nvSpPr>
          <p:cNvPr id="6" name="Text 4"/>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Platform Cheat-Sheet (Mid-2026)</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63</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20240"/>
                <a:gridCol w="4782312"/>
                <a:gridCol w="4389120"/>
              </a:tblGrid>
              <a:tr h="512064">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Platform</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Best for</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50" b="1" dirty="0">
                          <a:solidFill>
                            <a:srgbClr val="22D3EE"/>
                          </a:solidFill>
                          <a:latin typeface="Calibri" pitchFamily="34" charset="0"/>
                          <a:ea typeface="Calibri" pitchFamily="34" charset="-122"/>
                          <a:cs typeface="Calibri" pitchFamily="34" charset="-120"/>
                        </a:rPr>
                        <a:t>Note</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50" b="1" dirty="0">
                          <a:solidFill>
                            <a:srgbClr val="F1F5F9"/>
                          </a:solidFill>
                          <a:latin typeface="Consolas" pitchFamily="34" charset="0"/>
                          <a:ea typeface="Consolas" pitchFamily="34" charset="-122"/>
                          <a:cs typeface="Consolas" pitchFamily="34" charset="-120"/>
                        </a:rPr>
                        <a:t>Vercel</a:t>
                      </a:r>
                      <a:endParaRPr lang="en-US" sz="145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Front-ends &amp; Next.js full-stack</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A3E635"/>
                          </a:solidFill>
                          <a:latin typeface="Calibri" pitchFamily="34" charset="0"/>
                          <a:ea typeface="Calibri" pitchFamily="34" charset="-122"/>
                          <a:cs typeface="Calibri" pitchFamily="34" charset="-120"/>
                        </a:rPr>
                        <a:t>Git-push → live · Next.js default</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50" b="1" dirty="0">
                          <a:solidFill>
                            <a:srgbClr val="F1F5F9"/>
                          </a:solidFill>
                          <a:latin typeface="Consolas" pitchFamily="34" charset="0"/>
                          <a:ea typeface="Consolas" pitchFamily="34" charset="-122"/>
                          <a:cs typeface="Consolas" pitchFamily="34" charset="-120"/>
                        </a:rPr>
                        <a:t>Netlify</a:t>
                      </a:r>
                      <a:endParaRPr lang="en-US" sz="145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Static sites + serverless functions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Great for front-ends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50" b="1" dirty="0">
                          <a:solidFill>
                            <a:srgbClr val="F1F5F9"/>
                          </a:solidFill>
                          <a:latin typeface="Consolas" pitchFamily="34" charset="0"/>
                          <a:ea typeface="Consolas" pitchFamily="34" charset="-122"/>
                          <a:cs typeface="Consolas" pitchFamily="34" charset="-120"/>
                        </a:rPr>
                        <a:t>Supabase</a:t>
                      </a:r>
                      <a:endParaRPr lang="en-US" sz="145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Postgres BaaS backend</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Pair with a Vercel front-end</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50" b="1" dirty="0">
                          <a:solidFill>
                            <a:srgbClr val="F1F5F9"/>
                          </a:solidFill>
                          <a:latin typeface="Consolas" pitchFamily="34" charset="0"/>
                          <a:ea typeface="Consolas" pitchFamily="34" charset="-122"/>
                          <a:cs typeface="Consolas" pitchFamily="34" charset="-120"/>
                        </a:rPr>
                        <a:t>Firebase</a:t>
                      </a:r>
                      <a:endParaRPr lang="en-US" sz="145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BaaS apps — hosting + auth + DB</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One-stop for beginners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50" b="1" dirty="0">
                          <a:solidFill>
                            <a:srgbClr val="F1F5F9"/>
                          </a:solidFill>
                          <a:latin typeface="Consolas" pitchFamily="34" charset="0"/>
                          <a:ea typeface="Consolas" pitchFamily="34" charset="-122"/>
                          <a:cs typeface="Consolas" pitchFamily="34" charset="-120"/>
                        </a:rPr>
                        <a:t>Render</a:t>
                      </a:r>
                      <a:endParaRPr lang="en-US" sz="145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Node / Python backends, containers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Simple always-on · free tier</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50" b="1" dirty="0">
                          <a:solidFill>
                            <a:srgbClr val="F1F5F9"/>
                          </a:solidFill>
                          <a:latin typeface="Consolas" pitchFamily="34" charset="0"/>
                          <a:ea typeface="Consolas" pitchFamily="34" charset="-122"/>
                          <a:cs typeface="Consolas" pitchFamily="34" charset="-120"/>
                        </a:rPr>
                        <a:t>Railway</a:t>
                      </a:r>
                      <a:endParaRPr lang="en-US" sz="1450" dirty="0">
                        <a:latin typeface="Consolas" charset="0"/>
                        <a:ea typeface="Consolas" charset="0"/>
                        <a:cs typeface="Consolas"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Backends &amp; databases</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50" dirty="0">
                          <a:solidFill>
                            <a:srgbClr val="F1F5F9"/>
                          </a:solidFill>
                          <a:latin typeface="Calibri" pitchFamily="34" charset="0"/>
                          <a:ea typeface="Calibri" pitchFamily="34" charset="-122"/>
                          <a:cs typeface="Calibri" pitchFamily="34" charset="-120"/>
                        </a:rPr>
                        <a:t>Very easy setup</a:t>
                      </a:r>
                      <a:endParaRPr lang="en-US" sz="145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6" name="Shape 2"/>
          <p:cNvSpPr/>
          <p:nvPr/>
        </p:nvSpPr>
        <p:spPr>
          <a:xfrm>
            <a:off x="548640" y="5349240"/>
            <a:ext cx="11091672" cy="731520"/>
          </a:xfrm>
          <a:prstGeom prst="roundRect">
            <a:avLst>
              <a:gd name="adj" fmla="val 11250"/>
            </a:avLst>
          </a:prstGeom>
          <a:solidFill>
            <a:srgbClr val="1B2842"/>
          </a:solidFill>
          <a:ln/>
          <a:effectLst>
            <a:outerShdw sx="100000" sy="100000" kx="0" ky="0" algn="bl" rotWithShape="0" blurRad="114300" dist="38100" dir="5400000">
              <a:srgbClr val="000000">
                <a:alpha val="45000"/>
              </a:srgbClr>
            </a:outerShdw>
          </a:effectLst>
        </p:spPr>
      </p:sp>
      <p:sp>
        <p:nvSpPr>
          <p:cNvPr id="7" name="Text 3"/>
          <p:cNvSpPr/>
          <p:nvPr/>
        </p:nvSpPr>
        <p:spPr>
          <a:xfrm>
            <a:off x="914400" y="5349240"/>
            <a:ext cx="10332720" cy="731520"/>
          </a:xfrm>
          <a:prstGeom prst="rect">
            <a:avLst/>
          </a:prstGeom>
          <a:noFill/>
          <a:ln/>
        </p:spPr>
        <p:txBody>
          <a:bodyPr wrap="square" lIns="0" tIns="0" rIns="0" bIns="0" rtlCol="0" anchor="ctr"/>
          <a:lstStyle/>
          <a:p>
            <a:pPr indent="0" marL="0">
              <a:buNone/>
            </a:pPr>
            <a:r>
              <a:rPr lang="en-US" sz="1400" b="1" dirty="0">
                <a:solidFill>
                  <a:srgbClr val="A3E635"/>
                </a:solidFill>
                <a:latin typeface="Consolas" pitchFamily="34" charset="0"/>
                <a:ea typeface="Consolas" pitchFamily="34" charset="-122"/>
                <a:cs typeface="Consolas" pitchFamily="34" charset="-120"/>
              </a:rPr>
              <a:t>default  </a:t>
            </a:r>
            <a:pPr indent="0" marL="0">
              <a:buNone/>
            </a:pPr>
            <a:r>
              <a:rPr lang="en-US" sz="1400" dirty="0">
                <a:solidFill>
                  <a:srgbClr val="F1F5F9"/>
                </a:solidFill>
                <a:latin typeface="Calibri" pitchFamily="34" charset="0"/>
                <a:ea typeface="Calibri" pitchFamily="34" charset="-122"/>
                <a:cs typeface="Calibri" pitchFamily="34" charset="-120"/>
              </a:rPr>
              <a:t>Vercel/Netlify (front) + Supabase/Firebase (back + DB) + Render/Railway (servers) — avoid raw AWS unless fluent</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Deploy Strategy by Project Type</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64</a:t>
            </a:r>
            <a:endParaRPr lang="en-US" sz="1000" dirty="0"/>
          </a:p>
        </p:txBody>
      </p:sp>
      <p:sp>
        <p:nvSpPr>
          <p:cNvPr id="5" name="Shape 2"/>
          <p:cNvSpPr/>
          <p:nvPr/>
        </p:nvSpPr>
        <p:spPr>
          <a:xfrm>
            <a:off x="548640"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786384" y="1746504"/>
            <a:ext cx="603504" cy="603504"/>
          </a:xfrm>
          <a:prstGeom prst="ellipse">
            <a:avLst/>
          </a:prstGeom>
          <a:solidFill>
            <a:srgbClr val="1B2842"/>
          </a:solidFill>
          <a:ln/>
        </p:spPr>
      </p:sp>
      <p:pic>
        <p:nvPicPr>
          <p:cNvPr id="7" name="Image 0" descr="C:\Users\User\AppData\Local\Temp\claude\C--Users-User-OneDrive-Music-Hackathon\67e3d9e6-0718-4380-8c09-13d83fcd8fa7\scratchpad\pptbuild\v2\assets\icons\globe-cyan.png">    </p:cNvPr>
          <p:cNvPicPr>
            <a:picLocks noChangeAspect="1"/>
          </p:cNvPicPr>
          <p:nvPr/>
        </p:nvPicPr>
        <p:blipFill>
          <a:blip r:embed="rId1"/>
          <a:stretch>
            <a:fillRect/>
          </a:stretch>
        </p:blipFill>
        <p:spPr>
          <a:xfrm>
            <a:off x="931225" y="1891345"/>
            <a:ext cx="313822" cy="313822"/>
          </a:xfrm>
          <a:prstGeom prst="rect">
            <a:avLst/>
          </a:prstGeom>
        </p:spPr>
      </p:pic>
      <p:sp>
        <p:nvSpPr>
          <p:cNvPr id="8" name="Text 4"/>
          <p:cNvSpPr/>
          <p:nvPr/>
        </p:nvSpPr>
        <p:spPr>
          <a:xfrm>
            <a:off x="786384"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Web front-end</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Vercel / Netlify — connect repo → auto-deploy on push</a:t>
            </a:r>
            <a:endParaRPr lang="en-US" sz="1600" dirty="0"/>
          </a:p>
        </p:txBody>
      </p:sp>
      <p:sp>
        <p:nvSpPr>
          <p:cNvPr id="9" name="Shape 5"/>
          <p:cNvSpPr/>
          <p:nvPr/>
        </p:nvSpPr>
        <p:spPr>
          <a:xfrm>
            <a:off x="4337304"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0" name="Shape 6"/>
          <p:cNvSpPr/>
          <p:nvPr/>
        </p:nvSpPr>
        <p:spPr>
          <a:xfrm>
            <a:off x="4575048" y="1746504"/>
            <a:ext cx="603504" cy="603504"/>
          </a:xfrm>
          <a:prstGeom prst="ellipse">
            <a:avLst/>
          </a:prstGeom>
          <a:solidFill>
            <a:srgbClr val="1B2842"/>
          </a:solidFill>
          <a:ln/>
        </p:spPr>
      </p:sp>
      <p:pic>
        <p:nvPicPr>
          <p:cNvPr id="11" name="Image 1" descr="C:\Users\User\AppData\Local\Temp\claude\C--Users-User-OneDrive-Music-Hackathon\67e3d9e6-0718-4380-8c09-13d83fcd8fa7\scratchpad\pptbuild\v2\assets\icons\layers-cyan.png">    </p:cNvPr>
          <p:cNvPicPr>
            <a:picLocks noChangeAspect="1"/>
          </p:cNvPicPr>
          <p:nvPr/>
        </p:nvPicPr>
        <p:blipFill>
          <a:blip r:embed="rId2"/>
          <a:stretch>
            <a:fillRect/>
          </a:stretch>
        </p:blipFill>
        <p:spPr>
          <a:xfrm>
            <a:off x="4719889" y="1891345"/>
            <a:ext cx="313822" cy="313822"/>
          </a:xfrm>
          <a:prstGeom prst="rect">
            <a:avLst/>
          </a:prstGeom>
        </p:spPr>
      </p:pic>
      <p:sp>
        <p:nvSpPr>
          <p:cNvPr id="12" name="Text 7"/>
          <p:cNvSpPr/>
          <p:nvPr/>
        </p:nvSpPr>
        <p:spPr>
          <a:xfrm>
            <a:off x="4575048"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Next.js full-stack</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Vercel — front + API routes together</a:t>
            </a:r>
            <a:endParaRPr lang="en-US" sz="1600" dirty="0"/>
          </a:p>
        </p:txBody>
      </p:sp>
      <p:sp>
        <p:nvSpPr>
          <p:cNvPr id="13" name="Shape 8"/>
          <p:cNvSpPr/>
          <p:nvPr/>
        </p:nvSpPr>
        <p:spPr>
          <a:xfrm>
            <a:off x="8125968"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4" name="Shape 9"/>
          <p:cNvSpPr/>
          <p:nvPr/>
        </p:nvSpPr>
        <p:spPr>
          <a:xfrm>
            <a:off x="8363712" y="1746504"/>
            <a:ext cx="603504" cy="603504"/>
          </a:xfrm>
          <a:prstGeom prst="ellipse">
            <a:avLst/>
          </a:prstGeom>
          <a:solidFill>
            <a:srgbClr val="1B2842"/>
          </a:solidFill>
          <a:ln/>
        </p:spPr>
      </p:sp>
      <p:pic>
        <p:nvPicPr>
          <p:cNvPr id="15" name="Image 2" descr="C:\Users\User\AppData\Local\Temp\claude\C--Users-User-OneDrive-Music-Hackathon\67e3d9e6-0718-4380-8c09-13d83fcd8fa7\scratchpad\pptbuild\v2\assets\icons\server-cyan.png">    </p:cNvPr>
          <p:cNvPicPr>
            <a:picLocks noChangeAspect="1"/>
          </p:cNvPicPr>
          <p:nvPr/>
        </p:nvPicPr>
        <p:blipFill>
          <a:blip r:embed="rId3"/>
          <a:stretch>
            <a:fillRect/>
          </a:stretch>
        </p:blipFill>
        <p:spPr>
          <a:xfrm>
            <a:off x="8508553" y="1891345"/>
            <a:ext cx="313822" cy="313822"/>
          </a:xfrm>
          <a:prstGeom prst="rect">
            <a:avLst/>
          </a:prstGeom>
        </p:spPr>
      </p:pic>
      <p:sp>
        <p:nvSpPr>
          <p:cNvPr id="16" name="Text 10"/>
          <p:cNvSpPr/>
          <p:nvPr/>
        </p:nvSpPr>
        <p:spPr>
          <a:xfrm>
            <a:off x="8363712"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Separate backend</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Render / Railway / Fly.io — env vars in dashboard</a:t>
            </a:r>
            <a:endParaRPr lang="en-US" sz="1600" dirty="0"/>
          </a:p>
        </p:txBody>
      </p:sp>
      <p:sp>
        <p:nvSpPr>
          <p:cNvPr id="17" name="Shape 11"/>
          <p:cNvSpPr/>
          <p:nvPr/>
        </p:nvSpPr>
        <p:spPr>
          <a:xfrm>
            <a:off x="548640"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8" name="Shape 12"/>
          <p:cNvSpPr/>
          <p:nvPr/>
        </p:nvSpPr>
        <p:spPr>
          <a:xfrm>
            <a:off x="786384" y="4123944"/>
            <a:ext cx="603504" cy="603504"/>
          </a:xfrm>
          <a:prstGeom prst="ellipse">
            <a:avLst/>
          </a:prstGeom>
          <a:solidFill>
            <a:srgbClr val="1B2842"/>
          </a:solidFill>
          <a:ln/>
        </p:spPr>
      </p:sp>
      <p:pic>
        <p:nvPicPr>
          <p:cNvPr id="19" name="Image 3" descr="C:\Users\User\AppData\Local\Temp\claude\C--Users-User-OneDrive-Music-Hackathon\67e3d9e6-0718-4380-8c09-13d83fcd8fa7\scratchpad\pptbuild\v2\assets\icons\smartphone-cyan.png">    </p:cNvPr>
          <p:cNvPicPr>
            <a:picLocks noChangeAspect="1"/>
          </p:cNvPicPr>
          <p:nvPr/>
        </p:nvPicPr>
        <p:blipFill>
          <a:blip r:embed="rId4"/>
          <a:stretch>
            <a:fillRect/>
          </a:stretch>
        </p:blipFill>
        <p:spPr>
          <a:xfrm>
            <a:off x="931225" y="4268785"/>
            <a:ext cx="313822" cy="313822"/>
          </a:xfrm>
          <a:prstGeom prst="rect">
            <a:avLst/>
          </a:prstGeom>
        </p:spPr>
      </p:pic>
      <p:sp>
        <p:nvSpPr>
          <p:cNvPr id="20" name="Text 13"/>
          <p:cNvSpPr/>
          <p:nvPr/>
        </p:nvSpPr>
        <p:spPr>
          <a:xfrm>
            <a:off x="786384"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Mobile</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Expo link / QR build — or demo a PWA URL. App stores = too slow</a:t>
            </a:r>
            <a:endParaRPr lang="en-US" sz="1600" dirty="0"/>
          </a:p>
        </p:txBody>
      </p:sp>
      <p:sp>
        <p:nvSpPr>
          <p:cNvPr id="21" name="Shape 14"/>
          <p:cNvSpPr/>
          <p:nvPr/>
        </p:nvSpPr>
        <p:spPr>
          <a:xfrm>
            <a:off x="4337304"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2" name="Shape 15"/>
          <p:cNvSpPr/>
          <p:nvPr/>
        </p:nvSpPr>
        <p:spPr>
          <a:xfrm>
            <a:off x="4575048" y="4123944"/>
            <a:ext cx="603504" cy="603504"/>
          </a:xfrm>
          <a:prstGeom prst="ellipse">
            <a:avLst/>
          </a:prstGeom>
          <a:solidFill>
            <a:srgbClr val="1B2842"/>
          </a:solidFill>
          <a:ln/>
        </p:spPr>
      </p:sp>
      <p:pic>
        <p:nvPicPr>
          <p:cNvPr id="23" name="Image 4" descr="C:\Users\User\AppData\Local\Temp\claude\C--Users-User-OneDrive-Music-Hackathon\67e3d9e6-0718-4380-8c09-13d83fcd8fa7\scratchpad\pptbuild\v2\assets\icons\brain-cyan.png">    </p:cNvPr>
          <p:cNvPicPr>
            <a:picLocks noChangeAspect="1"/>
          </p:cNvPicPr>
          <p:nvPr/>
        </p:nvPicPr>
        <p:blipFill>
          <a:blip r:embed="rId5"/>
          <a:stretch>
            <a:fillRect/>
          </a:stretch>
        </p:blipFill>
        <p:spPr>
          <a:xfrm>
            <a:off x="4719889" y="4268785"/>
            <a:ext cx="313822" cy="313822"/>
          </a:xfrm>
          <a:prstGeom prst="rect">
            <a:avLst/>
          </a:prstGeom>
        </p:spPr>
      </p:pic>
      <p:sp>
        <p:nvSpPr>
          <p:cNvPr id="24" name="Text 16"/>
          <p:cNvSpPr/>
          <p:nvPr/>
        </p:nvSpPr>
        <p:spPr>
          <a:xfrm>
            <a:off x="4575048"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AI apps</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deploy like web — AI is just an API call; key in host env vars</a:t>
            </a:r>
            <a:endParaRPr lang="en-US" sz="1600" dirty="0"/>
          </a:p>
        </p:txBody>
      </p:sp>
      <p:sp>
        <p:nvSpPr>
          <p:cNvPr id="25" name="Shape 17"/>
          <p:cNvSpPr/>
          <p:nvPr/>
        </p:nvSpPr>
        <p:spPr>
          <a:xfrm>
            <a:off x="8125968"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6" name="Shape 18"/>
          <p:cNvSpPr/>
          <p:nvPr/>
        </p:nvSpPr>
        <p:spPr>
          <a:xfrm>
            <a:off x="8363712" y="4123944"/>
            <a:ext cx="603504" cy="603504"/>
          </a:xfrm>
          <a:prstGeom prst="ellipse">
            <a:avLst/>
          </a:prstGeom>
          <a:solidFill>
            <a:srgbClr val="1B2842"/>
          </a:solidFill>
          <a:ln/>
        </p:spPr>
      </p:sp>
      <p:pic>
        <p:nvPicPr>
          <p:cNvPr id="27" name="Image 5" descr="C:\Users\User\AppData\Local\Temp\claude\C--Users-User-OneDrive-Music-Hackathon\67e3d9e6-0718-4380-8c09-13d83fcd8fa7\scratchpad\pptbuild\v2\assets\icons\database-cyan.png">    </p:cNvPr>
          <p:cNvPicPr>
            <a:picLocks noChangeAspect="1"/>
          </p:cNvPicPr>
          <p:nvPr/>
        </p:nvPicPr>
        <p:blipFill>
          <a:blip r:embed="rId6"/>
          <a:stretch>
            <a:fillRect/>
          </a:stretch>
        </p:blipFill>
        <p:spPr>
          <a:xfrm>
            <a:off x="8508553" y="4268785"/>
            <a:ext cx="313822" cy="313822"/>
          </a:xfrm>
          <a:prstGeom prst="rect">
            <a:avLst/>
          </a:prstGeom>
        </p:spPr>
      </p:pic>
      <p:sp>
        <p:nvSpPr>
          <p:cNvPr id="28" name="Text 19"/>
          <p:cNvSpPr/>
          <p:nvPr/>
        </p:nvSpPr>
        <p:spPr>
          <a:xfrm>
            <a:off x="8363712"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Databases</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managed only (Supabase / Firebase) — don't run your own</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98080" y="1097280"/>
            <a:ext cx="4663440" cy="4663440"/>
          </a:xfrm>
          <a:prstGeom prst="rect">
            <a:avLst/>
          </a:prstGeom>
          <a:noFill/>
          <a:ln/>
        </p:spPr>
        <p:txBody>
          <a:bodyPr wrap="square" lIns="0" tIns="0" rIns="0" bIns="0" rtlCol="0" anchor="ctr"/>
          <a:lstStyle/>
          <a:p>
            <a:pPr algn="r" indent="0" marL="0">
              <a:buNone/>
            </a:pPr>
            <a:r>
              <a:rPr lang="en-US" sz="30000" dirty="0">
                <a:solidFill>
                  <a:srgbClr val="0E2A3B"/>
                </a:solidFill>
                <a:latin typeface="Arial Black" pitchFamily="34" charset="0"/>
                <a:ea typeface="Arial Black" pitchFamily="34" charset="-122"/>
                <a:cs typeface="Arial Black" pitchFamily="34" charset="-120"/>
              </a:rPr>
              <a:t>5</a:t>
            </a:r>
            <a:endParaRPr lang="en-US" sz="30000" dirty="0"/>
          </a:p>
        </p:txBody>
      </p:sp>
      <p:sp>
        <p:nvSpPr>
          <p:cNvPr id="4" name="Text 1"/>
          <p:cNvSpPr/>
          <p:nvPr/>
        </p:nvSpPr>
        <p:spPr>
          <a:xfrm>
            <a:off x="822960" y="2148840"/>
            <a:ext cx="7315200" cy="329184"/>
          </a:xfrm>
          <a:prstGeom prst="rect">
            <a:avLst/>
          </a:prstGeom>
          <a:noFill/>
          <a:ln/>
        </p:spPr>
        <p:txBody>
          <a:bodyPr wrap="square" lIns="0" tIns="0" rIns="0" bIns="0" rtlCol="0" anchor="ctr"/>
          <a:lstStyle/>
          <a:p>
            <a:pPr indent="0" marL="0">
              <a:buNone/>
            </a:pPr>
            <a:r>
              <a:rPr lang="en-US" sz="1500" spc="500" kern="0" dirty="0">
                <a:solidFill>
                  <a:srgbClr val="22D3EE"/>
                </a:solidFill>
                <a:latin typeface="Consolas" pitchFamily="34" charset="0"/>
                <a:ea typeface="Consolas" pitchFamily="34" charset="-122"/>
                <a:cs typeface="Consolas" pitchFamily="34" charset="-120"/>
              </a:rPr>
              <a:t>PART 5 OF 5</a:t>
            </a:r>
            <a:endParaRPr lang="en-US" sz="1500" dirty="0"/>
          </a:p>
        </p:txBody>
      </p:sp>
      <p:sp>
        <p:nvSpPr>
          <p:cNvPr id="5" name="Text 2"/>
          <p:cNvSpPr/>
          <p:nvPr/>
        </p:nvSpPr>
        <p:spPr>
          <a:xfrm>
            <a:off x="822960" y="2514600"/>
            <a:ext cx="9692640" cy="1554480"/>
          </a:xfrm>
          <a:prstGeom prst="rect">
            <a:avLst/>
          </a:prstGeom>
          <a:noFill/>
          <a:ln/>
        </p:spPr>
        <p:txBody>
          <a:bodyPr wrap="square" lIns="0" tIns="0" rIns="0" bIns="0" rtlCol="0" anchor="ctr"/>
          <a:lstStyle/>
          <a:p>
            <a:pPr indent="0" marL="0">
              <a:buNone/>
            </a:pPr>
            <a:r>
              <a:rPr lang="en-US" sz="4600" dirty="0">
                <a:solidFill>
                  <a:srgbClr val="FFFFFF"/>
                </a:solidFill>
                <a:latin typeface="Arial Black" pitchFamily="34" charset="0"/>
                <a:ea typeface="Arial Black" pitchFamily="34" charset="-122"/>
                <a:cs typeface="Arial Black" pitchFamily="34" charset="-120"/>
              </a:rPr>
              <a:t>Winning on Engineering</a:t>
            </a:r>
            <a:endParaRPr lang="en-US" sz="4600" dirty="0"/>
          </a:p>
        </p:txBody>
      </p:sp>
      <p:sp>
        <p:nvSpPr>
          <p:cNvPr id="6" name="Text 3"/>
          <p:cNvSpPr/>
          <p:nvPr/>
        </p:nvSpPr>
        <p:spPr>
          <a:xfrm>
            <a:off x="822960" y="4160520"/>
            <a:ext cx="9144000" cy="38404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Read the rubric as a spec, use patterns that impress, avoid the classic mistakes.</a:t>
            </a:r>
            <a:endParaRPr lang="en-US" sz="1700" dirty="0"/>
          </a:p>
        </p:txBody>
      </p:sp>
      <p:sp>
        <p:nvSpPr>
          <p:cNvPr id="7" name="Shape 4"/>
          <p:cNvSpPr/>
          <p:nvPr/>
        </p:nvSpPr>
        <p:spPr>
          <a:xfrm>
            <a:off x="822960" y="4892040"/>
            <a:ext cx="1348740" cy="402336"/>
          </a:xfrm>
          <a:prstGeom prst="roundRect">
            <a:avLst>
              <a:gd name="adj" fmla="val 15909"/>
            </a:avLst>
          </a:prstGeom>
          <a:solidFill>
            <a:srgbClr val="141E33"/>
          </a:solidFill>
          <a:ln/>
        </p:spPr>
      </p:sp>
      <p:sp>
        <p:nvSpPr>
          <p:cNvPr id="8" name="Text 5"/>
          <p:cNvSpPr/>
          <p:nvPr/>
        </p:nvSpPr>
        <p:spPr>
          <a:xfrm>
            <a:off x="877824" y="4892040"/>
            <a:ext cx="1239012"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M15 judging</a:t>
            </a:r>
            <a:endParaRPr lang="en-US" sz="1250" dirty="0"/>
          </a:p>
        </p:txBody>
      </p:sp>
      <p:sp>
        <p:nvSpPr>
          <p:cNvPr id="9" name="Shape 6"/>
          <p:cNvSpPr/>
          <p:nvPr/>
        </p:nvSpPr>
        <p:spPr>
          <a:xfrm>
            <a:off x="2400300" y="4892040"/>
            <a:ext cx="2020824" cy="402336"/>
          </a:xfrm>
          <a:prstGeom prst="roundRect">
            <a:avLst>
              <a:gd name="adj" fmla="val 15909"/>
            </a:avLst>
          </a:prstGeom>
          <a:solidFill>
            <a:srgbClr val="141E33"/>
          </a:solidFill>
          <a:ln/>
        </p:spPr>
      </p:sp>
      <p:sp>
        <p:nvSpPr>
          <p:cNvPr id="10" name="Text 7"/>
          <p:cNvSpPr/>
          <p:nvPr/>
        </p:nvSpPr>
        <p:spPr>
          <a:xfrm>
            <a:off x="2455164" y="4892040"/>
            <a:ext cx="1911096"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M16 best practices</a:t>
            </a:r>
            <a:endParaRPr lang="en-US" sz="1250" dirty="0"/>
          </a:p>
        </p:txBody>
      </p:sp>
      <p:sp>
        <p:nvSpPr>
          <p:cNvPr id="11" name="Shape 8"/>
          <p:cNvSpPr/>
          <p:nvPr/>
        </p:nvSpPr>
        <p:spPr>
          <a:xfrm>
            <a:off x="4649724" y="4892040"/>
            <a:ext cx="2404872" cy="402336"/>
          </a:xfrm>
          <a:prstGeom prst="roundRect">
            <a:avLst>
              <a:gd name="adj" fmla="val 15909"/>
            </a:avLst>
          </a:prstGeom>
          <a:solidFill>
            <a:srgbClr val="141E33"/>
          </a:solidFill>
          <a:ln/>
        </p:spPr>
      </p:sp>
      <p:sp>
        <p:nvSpPr>
          <p:cNvPr id="12" name="Text 9"/>
          <p:cNvSpPr/>
          <p:nvPr/>
        </p:nvSpPr>
        <p:spPr>
          <a:xfrm>
            <a:off x="4704588" y="4892040"/>
            <a:ext cx="2295144" cy="402336"/>
          </a:xfrm>
          <a:prstGeom prst="rect">
            <a:avLst/>
          </a:prstGeom>
          <a:noFill/>
          <a:ln/>
        </p:spPr>
        <p:txBody>
          <a:bodyPr wrap="square" lIns="0" tIns="0" rIns="0" bIns="0" rtlCol="0" anchor="ctr"/>
          <a:lstStyle/>
          <a:p>
            <a:pPr algn="ctr" indent="0" marL="0">
              <a:buNone/>
            </a:pPr>
            <a:r>
              <a:rPr lang="en-US" sz="1250" dirty="0">
                <a:solidFill>
                  <a:srgbClr val="22D3EE"/>
                </a:solidFill>
                <a:latin typeface="Consolas" pitchFamily="34" charset="0"/>
                <a:ea typeface="Consolas" pitchFamily="34" charset="-122"/>
                <a:cs typeface="Consolas" pitchFamily="34" charset="-120"/>
              </a:rPr>
              <a:t>M17 mistakes &amp; lessons</a:t>
            </a:r>
            <a:endParaRPr lang="en-US" sz="1250" dirty="0"/>
          </a:p>
        </p:txBody>
      </p:sp>
      <p:sp>
        <p:nvSpPr>
          <p:cNvPr id="13" name="Text 10"/>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15 — TECHNICAL JUDGING</a:t>
            </a:r>
            <a:endParaRPr lang="en-US" sz="1300" dirty="0"/>
          </a:p>
        </p:txBody>
      </p:sp>
      <p:sp>
        <p:nvSpPr>
          <p:cNvPr id="3" name="Text 1"/>
          <p:cNvSpPr/>
          <p:nvPr/>
        </p:nvSpPr>
        <p:spPr>
          <a:xfrm>
            <a:off x="548640" y="1828800"/>
            <a:ext cx="11091672" cy="320040"/>
          </a:xfrm>
          <a:prstGeom prst="rect">
            <a:avLst/>
          </a:prstGeom>
          <a:noFill/>
          <a:ln/>
        </p:spPr>
        <p:txBody>
          <a:bodyPr wrap="square" lIns="0" tIns="0" rIns="0" bIns="0" rtlCol="0" anchor="ctr"/>
          <a:lstStyle/>
          <a:p>
            <a:pPr algn="ctr" indent="0" marL="0">
              <a:buNone/>
            </a:pPr>
            <a:r>
              <a:rPr lang="en-US" sz="1400" spc="400" kern="0" dirty="0">
                <a:solidFill>
                  <a:srgbClr val="7C8CA5"/>
                </a:solidFill>
                <a:latin typeface="Consolas" pitchFamily="34" charset="0"/>
                <a:ea typeface="Consolas" pitchFamily="34" charset="-122"/>
                <a:cs typeface="Consolas" pitchFamily="34" charset="-120"/>
              </a:rPr>
              <a:t>THE JUDGING RUBRIC IS THE SCORING SHEET — IT TELLS YOU EXACTLY WHERE POINTS COME FROM</a:t>
            </a:r>
            <a:endParaRPr lang="en-US" sz="1400" dirty="0"/>
          </a:p>
        </p:txBody>
      </p:sp>
      <p:sp>
        <p:nvSpPr>
          <p:cNvPr id="4" name="Text 2"/>
          <p:cNvSpPr/>
          <p:nvPr/>
        </p:nvSpPr>
        <p:spPr>
          <a:xfrm>
            <a:off x="548640" y="2194560"/>
            <a:ext cx="11091672" cy="2011680"/>
          </a:xfrm>
          <a:prstGeom prst="rect">
            <a:avLst/>
          </a:prstGeom>
          <a:noFill/>
          <a:ln/>
        </p:spPr>
        <p:txBody>
          <a:bodyPr wrap="square" lIns="0" tIns="0" rIns="0" bIns="0" rtlCol="0" anchor="ctr"/>
          <a:lstStyle/>
          <a:p>
            <a:pPr algn="ctr" indent="0" marL="0">
              <a:buNone/>
            </a:pPr>
            <a:r>
              <a:rPr lang="en-US" sz="5400" dirty="0">
                <a:solidFill>
                  <a:srgbClr val="FFFFFF"/>
                </a:solidFill>
                <a:latin typeface="Arial Black" pitchFamily="34" charset="0"/>
                <a:ea typeface="Arial Black" pitchFamily="34" charset="-122"/>
                <a:cs typeface="Arial Black" pitchFamily="34" charset="-120"/>
              </a:rPr>
              <a:t>The rubric is a spec.</a:t>
            </a:r>
            <a:endParaRPr lang="en-US" sz="5400" dirty="0"/>
          </a:p>
        </p:txBody>
      </p:sp>
      <p:sp>
        <p:nvSpPr>
          <p:cNvPr id="5" name="Text 3"/>
          <p:cNvSpPr/>
          <p:nvPr/>
        </p:nvSpPr>
        <p:spPr>
          <a:xfrm>
            <a:off x="1463040" y="4389120"/>
            <a:ext cx="9262872" cy="822960"/>
          </a:xfrm>
          <a:prstGeom prst="rect">
            <a:avLst/>
          </a:prstGeom>
          <a:noFill/>
          <a:ln/>
        </p:spPr>
        <p:txBody>
          <a:bodyPr wrap="square" lIns="0" tIns="0" rIns="0" bIns="0" rtlCol="0" anchor="t"/>
          <a:lstStyle/>
          <a:p>
            <a:pPr algn="ctr" indent="0" marL="0">
              <a:buNone/>
            </a:pPr>
            <a:r>
              <a:rPr lang="en-US" sz="1800" dirty="0">
                <a:solidFill>
                  <a:srgbClr val="F1F5F9"/>
                </a:solidFill>
                <a:latin typeface="Calibri" pitchFamily="34" charset="0"/>
                <a:ea typeface="Calibri" pitchFamily="34" charset="-122"/>
                <a:cs typeface="Calibri" pitchFamily="34" charset="-120"/>
              </a:rPr>
              <a:t>Deployment scored → deploy. README scored → write it. AI weighted → budget there.</a:t>
            </a:r>
            <a:endParaRPr lang="en-US" sz="1800" dirty="0"/>
          </a:p>
          <a:p>
            <a:pPr algn="ctr" indent="0" marL="0">
              <a:buNone/>
            </a:pPr>
            <a:r>
              <a:rPr lang="en-US" sz="1800" dirty="0">
                <a:solidFill>
                  <a:srgbClr val="F1F5F9"/>
                </a:solidFill>
                <a:latin typeface="Calibri" pitchFamily="34" charset="0"/>
                <a:ea typeface="Calibri" pitchFamily="34" charset="-122"/>
                <a:cs typeface="Calibri" pitchFamily="34" charset="-120"/>
              </a:rPr>
              <a:t>Reading it early is an engineering act — not admin.</a:t>
            </a:r>
            <a:endParaRPr lang="en-US" sz="1800" dirty="0"/>
          </a:p>
        </p:txBody>
      </p:sp>
      <p:sp>
        <p:nvSpPr>
          <p:cNvPr id="6" name="Text 4"/>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Judging Dimensions — How to Win</a:t>
            </a:r>
            <a:endParaRPr lang="en-US" sz="32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67</a:t>
            </a:r>
            <a:endParaRPr lang="en-US" sz="10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440680" cy="914400"/>
        </p:xfrm>
        <a:graphic>
          <a:graphicData uri="http://schemas.openxmlformats.org/drawingml/2006/table">
            <a:tbl>
              <a:tblPr/>
              <a:tblGrid>
                <a:gridCol w="1783080"/>
                <a:gridCol w="3657600"/>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How to win it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Innovation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One genuinely novel element — your “scary thing”</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Complexity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Showcase the one hard component clearly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Implementation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Tested critical path — no crashes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Architecture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Clean diagrams + sensible stack</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Scalability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Note how it would grow — realistically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Usability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Clear UX on the demo path</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AI integration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Purposeful + grounded (RAG) — not gimmicky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bl>
          </a:graphicData>
        </a:graphic>
      </p:graphicFrame>
      <p:graphicFrame>
        <p:nvGraphicFramePr>
          <p:cNvPr id="135" name="Table 1"/>
          <p:cNvGraphicFramePr>
            <a:graphicFrameLocks noGrp="1"/>
          </p:cNvGraphicFramePr>
          <p:nvPr>
            <p:extLst>
              <p:ext uri="{D42A27DB-BD31-4B8C-83A1-F6EECF244321}">
                <p14:modId xmlns:p14="http://schemas.microsoft.com/office/powerpoint/2010/main" val="1579011935"/>
              </p:ext>
            </p:extLst>
          </p:nvPr>
        </p:nvGraphicFramePr>
        <p:xfrm>
          <a:off x="6263640" y="1508760"/>
          <a:ext cx="5376672" cy="914400"/>
        </p:xfrm>
        <a:graphic>
          <a:graphicData uri="http://schemas.openxmlformats.org/drawingml/2006/table">
            <a:tbl>
              <a:tblPr/>
              <a:tblGrid>
                <a:gridCol w="1783080"/>
                <a:gridCol w="3593592"/>
              </a:tblGrid>
              <a:tr h="512064">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Dimension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c>
                  <a:txBody>
                    <a:bodyPr/>
                    <a:lstStyle/>
                    <a:p>
                      <a:pPr algn="l" indent="0" marL="0">
                        <a:buNone/>
                      </a:pPr>
                      <a:r>
                        <a:rPr lang="en-US" sz="1400" b="1" dirty="0">
                          <a:solidFill>
                            <a:srgbClr val="22D3EE"/>
                          </a:solidFill>
                          <a:latin typeface="Calibri" pitchFamily="34" charset="0"/>
                          <a:ea typeface="Calibri" pitchFamily="34" charset="-122"/>
                          <a:cs typeface="Calibri" pitchFamily="34" charset="-120"/>
                        </a:rPr>
                        <a:t>How to win it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E293B"/>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Robustness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Handles edge cases · graceful failures</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Code quality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Structure · naming · no dead code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Documentation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A strong README</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Testing</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Evidence of critical-path testing</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Deployment</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c>
                  <a:txBody>
                    <a:bodyPr/>
                    <a:lstStyle/>
                    <a:p>
                      <a:pPr algn="l" indent="0" marL="0">
                        <a:buNone/>
                      </a:pPr>
                      <a:r>
                        <a:rPr lang="en-US" sz="1400" dirty="0">
                          <a:solidFill>
                            <a:srgbClr val="A3E635"/>
                          </a:solidFill>
                          <a:latin typeface="Calibri" pitchFamily="34" charset="0"/>
                          <a:ea typeface="Calibri" pitchFamily="34" charset="-122"/>
                          <a:cs typeface="Calibri" pitchFamily="34" charset="-120"/>
                        </a:rPr>
                        <a:t>A working public URL</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41E33"/>
                    </a:solidFill>
                  </a:tcPr>
                </a:tc>
              </a:tr>
              <a:tr h="512064">
                <a:tc>
                  <a:txBody>
                    <a:bodyPr/>
                    <a:lstStyle/>
                    <a:p>
                      <a:pPr algn="l" indent="0" marL="0">
                        <a:buNone/>
                      </a:pPr>
                      <a:r>
                        <a:rPr lang="en-US" sz="1400" b="1" dirty="0">
                          <a:solidFill>
                            <a:srgbClr val="F1F5F9"/>
                          </a:solidFill>
                          <a:latin typeface="Calibri" pitchFamily="34" charset="0"/>
                          <a:ea typeface="Calibri" pitchFamily="34" charset="-122"/>
                          <a:cs typeface="Calibri" pitchFamily="34" charset="-120"/>
                        </a:rPr>
                        <a:t>Maintainability</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c>
                  <a:txBody>
                    <a:bodyPr/>
                    <a:lstStyle/>
                    <a:p>
                      <a:pPr algn="l" indent="0" marL="0">
                        <a:buNone/>
                      </a:pPr>
                      <a:r>
                        <a:rPr lang="en-US" sz="1400" dirty="0">
                          <a:solidFill>
                            <a:srgbClr val="F1F5F9"/>
                          </a:solidFill>
                          <a:latin typeface="Calibri" pitchFamily="34" charset="0"/>
                          <a:ea typeface="Calibri" pitchFamily="34" charset="-122"/>
                          <a:cs typeface="Calibri" pitchFamily="34" charset="-120"/>
                        </a:rPr>
                        <a:t>Modular code others could build on</a:t>
                      </a:r>
                      <a:endParaRPr lang="en-US" sz="1400" dirty="0">
                        <a:latin typeface="Calibri" charset="0"/>
                        <a:ea typeface="Calibri" charset="0"/>
                        <a:cs typeface="Calibri" charset="0"/>
                      </a:endParaRPr>
                    </a:p>
                  </a:txBody>
                  <a:tcPr marL="128016" marR="128016" marT="54864" marB="54864" anchor="ctr">
                    <a:lnL w="0" cap="flat" cmpd="sng" algn="ctr">
                      <a:noFill/>
                    </a:lnL>
                    <a:lnR w="0" cap="flat" cmpd="sng" algn="ctr">
                      <a:noFill/>
                    </a:lnR>
                    <a:lnT w="25400" cap="flat" cmpd="sng" algn="ctr">
                      <a:solidFill>
                        <a:srgbClr val="0B1220"/>
                      </a:solidFill>
                      <a:prstDash val="solid"/>
                      <a:round/>
                      <a:headEnd type="none" w="med" len="med"/>
                      <a:tailEnd type="none" w="med" len="med"/>
                    </a:lnT>
                    <a:lnB w="25400" cap="flat" cmpd="sng" algn="ctr">
                      <a:solidFill>
                        <a:srgbClr val="0B1220"/>
                      </a:solidFill>
                      <a:prstDash val="solid"/>
                      <a:round/>
                      <a:headEnd type="none" w="med" len="med"/>
                      <a:tailEnd type="none" w="med" len="med"/>
                    </a:lnB>
                    <a:solidFill>
                      <a:srgbClr val="111A2E"/>
                    </a:solidFill>
                  </a:tcPr>
                </a:tc>
              </a:tr>
            </a:tbl>
          </a:graphicData>
        </a:graphic>
      </p:graphicFrame>
      <p:sp>
        <p:nvSpPr>
          <p:cNvPr id="7" name="Text 2"/>
          <p:cNvSpPr/>
          <p:nvPr/>
        </p:nvSpPr>
        <p:spPr>
          <a:xfrm>
            <a:off x="548640" y="5806440"/>
            <a:ext cx="11091672" cy="320040"/>
          </a:xfrm>
          <a:prstGeom prst="rect">
            <a:avLst/>
          </a:prstGeom>
          <a:noFill/>
          <a:ln/>
        </p:spPr>
        <p:txBody>
          <a:bodyPr wrap="square" lIns="0" tIns="0" rIns="0" bIns="0" rtlCol="0" anchor="ctr"/>
          <a:lstStyle/>
          <a:p>
            <a:pPr algn="ctr" indent="0" marL="0">
              <a:buNone/>
            </a:pPr>
            <a:r>
              <a:rPr lang="en-US" sz="1350" dirty="0">
                <a:solidFill>
                  <a:srgbClr val="22D3EE"/>
                </a:solidFill>
                <a:latin typeface="Consolas" pitchFamily="34" charset="0"/>
                <a:ea typeface="Consolas" pitchFamily="34" charset="-122"/>
                <a:cs typeface="Consolas" pitchFamily="34" charset="-120"/>
              </a:rPr>
              <a:t>invest engineering effort exactly where the points are</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16 — BEST PRACTICES &amp; PATTERNS</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Beginner-Safe Design Patterns</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68</a:t>
            </a:r>
            <a:endParaRPr lang="en-US" sz="1000" dirty="0"/>
          </a:p>
        </p:txBody>
      </p:sp>
      <p:sp>
        <p:nvSpPr>
          <p:cNvPr id="6" name="Shape 3"/>
          <p:cNvSpPr/>
          <p:nvPr/>
        </p:nvSpPr>
        <p:spPr>
          <a:xfrm>
            <a:off x="548640"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7" name="Shape 4"/>
          <p:cNvSpPr/>
          <p:nvPr/>
        </p:nvSpPr>
        <p:spPr>
          <a:xfrm>
            <a:off x="786384" y="1746504"/>
            <a:ext cx="603504" cy="603504"/>
          </a:xfrm>
          <a:prstGeom prst="ellipse">
            <a:avLst/>
          </a:prstGeom>
          <a:solidFill>
            <a:srgbClr val="1B2842"/>
          </a:solidFill>
          <a:ln/>
        </p:spPr>
      </p:sp>
      <p:pic>
        <p:nvPicPr>
          <p:cNvPr id="8" name="Image 0" descr="C:\Users\User\AppData\Local\Temp\claude\C--Users-User-OneDrive-Music-Hackathon\67e3d9e6-0718-4380-8c09-13d83fcd8fa7\scratchpad\pptbuild\v2\assets\icons\puzzle-cyan.png">    </p:cNvPr>
          <p:cNvPicPr>
            <a:picLocks noChangeAspect="1"/>
          </p:cNvPicPr>
          <p:nvPr/>
        </p:nvPicPr>
        <p:blipFill>
          <a:blip r:embed="rId1"/>
          <a:stretch>
            <a:fillRect/>
          </a:stretch>
        </p:blipFill>
        <p:spPr>
          <a:xfrm>
            <a:off x="931225" y="1891345"/>
            <a:ext cx="313822" cy="313822"/>
          </a:xfrm>
          <a:prstGeom prst="rect">
            <a:avLst/>
          </a:prstGeom>
        </p:spPr>
      </p:pic>
      <p:sp>
        <p:nvSpPr>
          <p:cNvPr id="9" name="Text 5"/>
          <p:cNvSpPr/>
          <p:nvPr/>
        </p:nvSpPr>
        <p:spPr>
          <a:xfrm>
            <a:off x="786384"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Component-based UI</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screens from small reusable pieces — the front-end default</a:t>
            </a:r>
            <a:endParaRPr lang="en-US" sz="1600" dirty="0"/>
          </a:p>
        </p:txBody>
      </p:sp>
      <p:sp>
        <p:nvSpPr>
          <p:cNvPr id="10" name="Shape 6"/>
          <p:cNvSpPr/>
          <p:nvPr/>
        </p:nvSpPr>
        <p:spPr>
          <a:xfrm>
            <a:off x="4337304"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1" name="Shape 7"/>
          <p:cNvSpPr/>
          <p:nvPr/>
        </p:nvSpPr>
        <p:spPr>
          <a:xfrm>
            <a:off x="4575048" y="1746504"/>
            <a:ext cx="603504" cy="603504"/>
          </a:xfrm>
          <a:prstGeom prst="ellipse">
            <a:avLst/>
          </a:prstGeom>
          <a:solidFill>
            <a:srgbClr val="1B2842"/>
          </a:solidFill>
          <a:ln/>
        </p:spPr>
      </p:sp>
      <p:pic>
        <p:nvPicPr>
          <p:cNvPr id="12" name="Image 1" descr="C:\Users\User\AppData\Local\Temp\claude\C--Users-User-OneDrive-Music-Hackathon\67e3d9e6-0718-4380-8c09-13d83fcd8fa7\scratchpad\pptbuild\v2\assets\icons\layers-cyan.png">    </p:cNvPr>
          <p:cNvPicPr>
            <a:picLocks noChangeAspect="1"/>
          </p:cNvPicPr>
          <p:nvPr/>
        </p:nvPicPr>
        <p:blipFill>
          <a:blip r:embed="rId2"/>
          <a:stretch>
            <a:fillRect/>
          </a:stretch>
        </p:blipFill>
        <p:spPr>
          <a:xfrm>
            <a:off x="4719889" y="1891345"/>
            <a:ext cx="313822" cy="313822"/>
          </a:xfrm>
          <a:prstGeom prst="rect">
            <a:avLst/>
          </a:prstGeom>
        </p:spPr>
      </p:pic>
      <p:sp>
        <p:nvSpPr>
          <p:cNvPr id="13" name="Text 8"/>
          <p:cNvSpPr/>
          <p:nvPr/>
        </p:nvSpPr>
        <p:spPr>
          <a:xfrm>
            <a:off x="4575048"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Layered / MVC</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routes → business logic → data access</a:t>
            </a:r>
            <a:endParaRPr lang="en-US" sz="1600" dirty="0"/>
          </a:p>
        </p:txBody>
      </p:sp>
      <p:sp>
        <p:nvSpPr>
          <p:cNvPr id="14" name="Shape 9"/>
          <p:cNvSpPr/>
          <p:nvPr/>
        </p:nvSpPr>
        <p:spPr>
          <a:xfrm>
            <a:off x="8125968" y="150876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5" name="Shape 10"/>
          <p:cNvSpPr/>
          <p:nvPr/>
        </p:nvSpPr>
        <p:spPr>
          <a:xfrm>
            <a:off x="8363712" y="1746504"/>
            <a:ext cx="603504" cy="603504"/>
          </a:xfrm>
          <a:prstGeom prst="ellipse">
            <a:avLst/>
          </a:prstGeom>
          <a:solidFill>
            <a:srgbClr val="1B2842"/>
          </a:solidFill>
          <a:ln/>
        </p:spPr>
      </p:sp>
      <p:pic>
        <p:nvPicPr>
          <p:cNvPr id="16" name="Image 2" descr="C:\Users\User\AppData\Local\Temp\claude\C--Users-User-OneDrive-Music-Hackathon\67e3d9e6-0718-4380-8c09-13d83fcd8fa7\scratchpad\pptbuild\v2\assets\icons\database-cyan.png">    </p:cNvPr>
          <p:cNvPicPr>
            <a:picLocks noChangeAspect="1"/>
          </p:cNvPicPr>
          <p:nvPr/>
        </p:nvPicPr>
        <p:blipFill>
          <a:blip r:embed="rId3"/>
          <a:stretch>
            <a:fillRect/>
          </a:stretch>
        </p:blipFill>
        <p:spPr>
          <a:xfrm>
            <a:off x="8508553" y="1891345"/>
            <a:ext cx="313822" cy="313822"/>
          </a:xfrm>
          <a:prstGeom prst="rect">
            <a:avLst/>
          </a:prstGeom>
        </p:spPr>
      </p:pic>
      <p:sp>
        <p:nvSpPr>
          <p:cNvPr id="17" name="Text 11"/>
          <p:cNvSpPr/>
          <p:nvPr/>
        </p:nvSpPr>
        <p:spPr>
          <a:xfrm>
            <a:off x="8363712" y="245973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Repository (light)</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all DB access behind a few functions — swap / mock easily</a:t>
            </a:r>
            <a:endParaRPr lang="en-US" sz="1600" dirty="0"/>
          </a:p>
        </p:txBody>
      </p:sp>
      <p:sp>
        <p:nvSpPr>
          <p:cNvPr id="18" name="Shape 12"/>
          <p:cNvSpPr/>
          <p:nvPr/>
        </p:nvSpPr>
        <p:spPr>
          <a:xfrm>
            <a:off x="548640"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19" name="Shape 13"/>
          <p:cNvSpPr/>
          <p:nvPr/>
        </p:nvSpPr>
        <p:spPr>
          <a:xfrm>
            <a:off x="786384" y="4123944"/>
            <a:ext cx="603504" cy="603504"/>
          </a:xfrm>
          <a:prstGeom prst="ellipse">
            <a:avLst/>
          </a:prstGeom>
          <a:solidFill>
            <a:srgbClr val="1B2842"/>
          </a:solidFill>
          <a:ln/>
        </p:spPr>
      </p:sp>
      <p:pic>
        <p:nvPicPr>
          <p:cNvPr id="20" name="Image 3" descr="C:\Users\User\AppData\Local\Temp\claude\C--Users-User-OneDrive-Music-Hackathon\67e3d9e6-0718-4380-8c09-13d83fcd8fa7\scratchpad\pptbuild\v2\assets\icons\link-cyan.png">    </p:cNvPr>
          <p:cNvPicPr>
            <a:picLocks noChangeAspect="1"/>
          </p:cNvPicPr>
          <p:nvPr/>
        </p:nvPicPr>
        <p:blipFill>
          <a:blip r:embed="rId4"/>
          <a:stretch>
            <a:fillRect/>
          </a:stretch>
        </p:blipFill>
        <p:spPr>
          <a:xfrm>
            <a:off x="931225" y="4268785"/>
            <a:ext cx="313822" cy="313822"/>
          </a:xfrm>
          <a:prstGeom prst="rect">
            <a:avLst/>
          </a:prstGeom>
        </p:spPr>
      </p:pic>
      <p:sp>
        <p:nvSpPr>
          <p:cNvPr id="21" name="Text 14"/>
          <p:cNvSpPr/>
          <p:nvPr/>
        </p:nvSpPr>
        <p:spPr>
          <a:xfrm>
            <a:off x="786384"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Client–server</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front ↔ back via your API contract — the standard shape</a:t>
            </a:r>
            <a:endParaRPr lang="en-US" sz="1600" dirty="0"/>
          </a:p>
        </p:txBody>
      </p:sp>
      <p:sp>
        <p:nvSpPr>
          <p:cNvPr id="22" name="Shape 15"/>
          <p:cNvSpPr/>
          <p:nvPr/>
        </p:nvSpPr>
        <p:spPr>
          <a:xfrm>
            <a:off x="4337304"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3" name="Shape 16"/>
          <p:cNvSpPr/>
          <p:nvPr/>
        </p:nvSpPr>
        <p:spPr>
          <a:xfrm>
            <a:off x="4575048" y="4123944"/>
            <a:ext cx="603504" cy="603504"/>
          </a:xfrm>
          <a:prstGeom prst="ellipse">
            <a:avLst/>
          </a:prstGeom>
          <a:solidFill>
            <a:srgbClr val="1B2842"/>
          </a:solidFill>
          <a:ln/>
        </p:spPr>
      </p:sp>
      <p:pic>
        <p:nvPicPr>
          <p:cNvPr id="24" name="Image 4" descr="C:\Users\User\AppData\Local\Temp\claude\C--Users-User-OneDrive-Music-Hackathon\67e3d9e6-0718-4380-8c09-13d83fcd8fa7\scratchpad\pptbuild\v2\assets\icons\box-cyan.png">    </p:cNvPr>
          <p:cNvPicPr>
            <a:picLocks noChangeAspect="1"/>
          </p:cNvPicPr>
          <p:nvPr/>
        </p:nvPicPr>
        <p:blipFill>
          <a:blip r:embed="rId5"/>
          <a:stretch>
            <a:fillRect/>
          </a:stretch>
        </p:blipFill>
        <p:spPr>
          <a:xfrm>
            <a:off x="4719889" y="4268785"/>
            <a:ext cx="313822" cy="313822"/>
          </a:xfrm>
          <a:prstGeom prst="rect">
            <a:avLst/>
          </a:prstGeom>
        </p:spPr>
      </p:pic>
      <p:sp>
        <p:nvSpPr>
          <p:cNvPr id="25" name="Text 17"/>
          <p:cNvSpPr/>
          <p:nvPr/>
        </p:nvSpPr>
        <p:spPr>
          <a:xfrm>
            <a:off x="4575048"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A3E635"/>
                </a:solidFill>
                <a:latin typeface="Calibri" pitchFamily="34" charset="0"/>
                <a:ea typeface="Calibri" pitchFamily="34" charset="-122"/>
                <a:cs typeface="Calibri" pitchFamily="34" charset="-120"/>
              </a:rPr>
              <a:t>Adapter / wrapper</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wrap each 3rd-party API in your own module — one place to fix or mock</a:t>
            </a:r>
            <a:endParaRPr lang="en-US" sz="1600" dirty="0"/>
          </a:p>
        </p:txBody>
      </p:sp>
      <p:sp>
        <p:nvSpPr>
          <p:cNvPr id="26" name="Shape 18"/>
          <p:cNvSpPr/>
          <p:nvPr/>
        </p:nvSpPr>
        <p:spPr>
          <a:xfrm>
            <a:off x="8125968" y="3886200"/>
            <a:ext cx="3514344" cy="2103120"/>
          </a:xfrm>
          <a:prstGeom prst="roundRect">
            <a:avLst>
              <a:gd name="adj" fmla="val 3913"/>
            </a:avLst>
          </a:prstGeom>
          <a:solidFill>
            <a:srgbClr val="141E33"/>
          </a:solidFill>
          <a:ln/>
          <a:effectLst>
            <a:outerShdw sx="100000" sy="100000" kx="0" ky="0" algn="bl" rotWithShape="0" blurRad="114300" dist="38100" dir="5400000">
              <a:srgbClr val="000000">
                <a:alpha val="45000"/>
              </a:srgbClr>
            </a:outerShdw>
          </a:effectLst>
        </p:spPr>
      </p:sp>
      <p:sp>
        <p:nvSpPr>
          <p:cNvPr id="27" name="Shape 19"/>
          <p:cNvSpPr/>
          <p:nvPr/>
        </p:nvSpPr>
        <p:spPr>
          <a:xfrm>
            <a:off x="8363712" y="4123944"/>
            <a:ext cx="603504" cy="603504"/>
          </a:xfrm>
          <a:prstGeom prst="ellipse">
            <a:avLst/>
          </a:prstGeom>
          <a:solidFill>
            <a:srgbClr val="1B2842"/>
          </a:solidFill>
          <a:ln/>
        </p:spPr>
      </p:sp>
      <p:pic>
        <p:nvPicPr>
          <p:cNvPr id="28" name="Image 5" descr="C:\Users\User\AppData\Local\Temp\claude\C--Users-User-OneDrive-Music-Hackathon\67e3d9e6-0718-4380-8c09-13d83fcd8fa7\scratchpad\pptbuild\v2\assets\icons\compass-cyan.png">    </p:cNvPr>
          <p:cNvPicPr>
            <a:picLocks noChangeAspect="1"/>
          </p:cNvPicPr>
          <p:nvPr/>
        </p:nvPicPr>
        <p:blipFill>
          <a:blip r:embed="rId6"/>
          <a:stretch>
            <a:fillRect/>
          </a:stretch>
        </p:blipFill>
        <p:spPr>
          <a:xfrm>
            <a:off x="8508553" y="4268785"/>
            <a:ext cx="313822" cy="313822"/>
          </a:xfrm>
          <a:prstGeom prst="rect">
            <a:avLst/>
          </a:prstGeom>
        </p:spPr>
      </p:pic>
      <p:sp>
        <p:nvSpPr>
          <p:cNvPr id="29" name="Text 20"/>
          <p:cNvSpPr/>
          <p:nvPr/>
        </p:nvSpPr>
        <p:spPr>
          <a:xfrm>
            <a:off x="8363712" y="4837176"/>
            <a:ext cx="3038856" cy="1014984"/>
          </a:xfrm>
          <a:prstGeom prst="rect">
            <a:avLst/>
          </a:prstGeom>
          <a:noFill/>
          <a:ln/>
        </p:spPr>
        <p:txBody>
          <a:bodyPr wrap="square" lIns="0" tIns="0" rIns="0" bIns="0" rtlCol="0" anchor="t"/>
          <a:lstStyle/>
          <a:p>
            <a:pPr indent="0" marL="0">
              <a:lnSpc>
                <a:spcPct val="106000"/>
              </a:lnSpc>
              <a:spcAft>
                <a:spcPts val="400"/>
              </a:spcAft>
              <a:buNone/>
            </a:pPr>
            <a:r>
              <a:rPr lang="en-US" sz="1600" b="1" dirty="0">
                <a:solidFill>
                  <a:srgbClr val="F1F5F9"/>
                </a:solidFill>
                <a:latin typeface="Calibri" pitchFamily="34" charset="0"/>
                <a:ea typeface="Calibri" pitchFamily="34" charset="-122"/>
                <a:cs typeface="Calibri" pitchFamily="34" charset="-120"/>
              </a:rPr>
              <a:t>Pattern ≠ dogma</a:t>
            </a:r>
            <a:endParaRPr lang="en-US" sz="1600" dirty="0"/>
          </a:p>
          <a:p>
            <a:pPr indent="0" marL="0">
              <a:lnSpc>
                <a:spcPct val="106000"/>
              </a:lnSpc>
              <a:buNone/>
            </a:pPr>
            <a:r>
              <a:rPr lang="en-US" sz="1350" dirty="0">
                <a:solidFill>
                  <a:srgbClr val="7C8CA5"/>
                </a:solidFill>
                <a:latin typeface="Calibri" pitchFamily="34" charset="0"/>
                <a:ea typeface="Calibri" pitchFamily="34" charset="-122"/>
                <a:cs typeface="Calibri" pitchFamily="34" charset="-120"/>
              </a:rPr>
              <a:t>know a few. Don't over-apply.</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The README That Earns Points</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69</a:t>
            </a:r>
            <a:endParaRPr lang="en-US" sz="1000" dirty="0"/>
          </a:p>
        </p:txBody>
      </p:sp>
      <p:sp>
        <p:nvSpPr>
          <p:cNvPr id="5" name="Shape 2"/>
          <p:cNvSpPr/>
          <p:nvPr/>
        </p:nvSpPr>
        <p:spPr>
          <a:xfrm>
            <a:off x="548640" y="1463040"/>
            <a:ext cx="6035040" cy="4480560"/>
          </a:xfrm>
          <a:prstGeom prst="roundRect">
            <a:avLst>
              <a:gd name="adj" fmla="val 1837"/>
            </a:avLst>
          </a:prstGeom>
          <a:solidFill>
            <a:srgbClr val="141E33"/>
          </a:solidFill>
          <a:ln/>
          <a:effectLst>
            <a:outerShdw sx="100000" sy="100000" kx="0" ky="0" algn="bl" rotWithShape="0" blurRad="114300" dist="38100" dir="5400000">
              <a:srgbClr val="000000">
                <a:alpha val="45000"/>
              </a:srgbClr>
            </a:outerShdw>
          </a:effectLst>
        </p:spPr>
      </p:sp>
      <p:sp>
        <p:nvSpPr>
          <p:cNvPr id="6" name="Shape 3"/>
          <p:cNvSpPr/>
          <p:nvPr/>
        </p:nvSpPr>
        <p:spPr>
          <a:xfrm>
            <a:off x="548640" y="1463040"/>
            <a:ext cx="6035040" cy="438912"/>
          </a:xfrm>
          <a:prstGeom prst="roundRect">
            <a:avLst>
              <a:gd name="adj" fmla="val 18750"/>
            </a:avLst>
          </a:prstGeom>
          <a:solidFill>
            <a:srgbClr val="1B2842"/>
          </a:solidFill>
          <a:ln/>
        </p:spPr>
      </p:sp>
      <p:sp>
        <p:nvSpPr>
          <p:cNvPr id="7" name="Shape 4"/>
          <p:cNvSpPr/>
          <p:nvPr/>
        </p:nvSpPr>
        <p:spPr>
          <a:xfrm>
            <a:off x="822960" y="1618488"/>
            <a:ext cx="118872" cy="118872"/>
          </a:xfrm>
          <a:prstGeom prst="ellipse">
            <a:avLst/>
          </a:prstGeom>
          <a:solidFill>
            <a:srgbClr val="F59E0B"/>
          </a:solidFill>
          <a:ln/>
        </p:spPr>
      </p:sp>
      <p:sp>
        <p:nvSpPr>
          <p:cNvPr id="8" name="Shape 5"/>
          <p:cNvSpPr/>
          <p:nvPr/>
        </p:nvSpPr>
        <p:spPr>
          <a:xfrm>
            <a:off x="1051560" y="1618488"/>
            <a:ext cx="118872" cy="118872"/>
          </a:xfrm>
          <a:prstGeom prst="ellipse">
            <a:avLst/>
          </a:prstGeom>
          <a:solidFill>
            <a:srgbClr val="A3E635"/>
          </a:solidFill>
          <a:ln/>
        </p:spPr>
      </p:sp>
      <p:sp>
        <p:nvSpPr>
          <p:cNvPr id="9" name="Shape 6"/>
          <p:cNvSpPr/>
          <p:nvPr/>
        </p:nvSpPr>
        <p:spPr>
          <a:xfrm>
            <a:off x="1280160" y="1618488"/>
            <a:ext cx="118872" cy="118872"/>
          </a:xfrm>
          <a:prstGeom prst="ellipse">
            <a:avLst/>
          </a:prstGeom>
          <a:solidFill>
            <a:srgbClr val="22D3EE"/>
          </a:solidFill>
          <a:ln/>
        </p:spPr>
      </p:sp>
      <p:sp>
        <p:nvSpPr>
          <p:cNvPr id="10" name="Text 7"/>
          <p:cNvSpPr/>
          <p:nvPr/>
        </p:nvSpPr>
        <p:spPr>
          <a:xfrm>
            <a:off x="1554480" y="1463040"/>
            <a:ext cx="2743200" cy="438912"/>
          </a:xfrm>
          <a:prstGeom prst="rect">
            <a:avLst/>
          </a:prstGeom>
          <a:noFill/>
          <a:ln/>
        </p:spPr>
        <p:txBody>
          <a:bodyPr wrap="square" lIns="0" tIns="0" rIns="0" bIns="0" rtlCol="0" anchor="ctr"/>
          <a:lstStyle/>
          <a:p>
            <a:pPr indent="0" marL="0">
              <a:buNone/>
            </a:pPr>
            <a:r>
              <a:rPr lang="en-US" sz="1200" dirty="0">
                <a:solidFill>
                  <a:srgbClr val="7C8CA5"/>
                </a:solidFill>
                <a:latin typeface="Consolas" pitchFamily="34" charset="0"/>
                <a:ea typeface="Consolas" pitchFamily="34" charset="-122"/>
                <a:cs typeface="Consolas" pitchFamily="34" charset="-120"/>
              </a:rPr>
              <a:t>README.md</a:t>
            </a:r>
            <a:endParaRPr lang="en-US" sz="1200" dirty="0"/>
          </a:p>
        </p:txBody>
      </p:sp>
      <p:sp>
        <p:nvSpPr>
          <p:cNvPr id="11" name="Text 8"/>
          <p:cNvSpPr/>
          <p:nvPr/>
        </p:nvSpPr>
        <p:spPr>
          <a:xfrm>
            <a:off x="868680" y="2029968"/>
            <a:ext cx="5394960" cy="3749040"/>
          </a:xfrm>
          <a:prstGeom prst="rect">
            <a:avLst/>
          </a:prstGeom>
          <a:noFill/>
          <a:ln/>
        </p:spPr>
        <p:txBody>
          <a:bodyPr wrap="square" lIns="0" tIns="0" rIns="0" bIns="0" rtlCol="0" anchor="ctr"/>
          <a:lstStyle/>
          <a:p>
            <a:pPr indent="0" marL="0">
              <a:lnSpc>
                <a:spcPct val="128000"/>
              </a:lnSpc>
              <a:buNone/>
            </a:pPr>
            <a:r>
              <a:rPr lang="en-US" sz="1250" b="1" dirty="0">
                <a:solidFill>
                  <a:srgbClr val="22D3EE"/>
                </a:solidFill>
                <a:latin typeface="Consolas" pitchFamily="34" charset="0"/>
                <a:ea typeface="Consolas" pitchFamily="34" charset="-122"/>
                <a:cs typeface="Consolas" pitchFamily="34" charset="-120"/>
              </a:rPr>
              <a:t># Project Name</a:t>
            </a:r>
            <a:endParaRPr lang="en-US" sz="1250" dirty="0"/>
          </a:p>
          <a:p>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one sentence: what + for whom</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Problem</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the pain + who has it</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Solution</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the magic moment</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Live Demo</a:t>
            </a:r>
            <a:pPr indent="0" marL="0">
              <a:lnSpc>
                <a:spcPct val="128000"/>
              </a:lnSpc>
              <a:buNone/>
            </a:pPr>
            <a:r>
              <a:rPr lang="en-US" sz="1250" dirty="0">
                <a:solidFill>
                  <a:srgbClr val="F1F5F9"/>
                </a:solidFill>
                <a:latin typeface="Consolas" pitchFamily="34" charset="0"/>
                <a:ea typeface="Consolas" pitchFamily="34" charset="-122"/>
                <a:cs typeface="Consolas" pitchFamily="34" charset="-120"/>
              </a:rPr>
              <a:t>   public URL ← judges click</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Tech Stack</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front·back·DB·auth·AI·host</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Architecture</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embed the diagrams</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Key Features</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incl. the differentiator</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How It Works</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the hard problem, solved</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Run Locally</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clone → install → env → run</a:t>
            </a:r>
            <a:endParaRPr lang="en-US" sz="1250" dirty="0"/>
          </a:p>
          <a:p>
            <a:pPr indent="0" marL="0">
              <a:lnSpc>
                <a:spcPct val="128000"/>
              </a:lnSpc>
              <a:buNone/>
            </a:pPr>
            <a:r>
              <a:rPr lang="en-US" sz="1250" dirty="0">
                <a:solidFill>
                  <a:srgbClr val="A3E635"/>
                </a:solidFill>
                <a:latin typeface="Consolas" pitchFamily="34" charset="0"/>
                <a:ea typeface="Consolas" pitchFamily="34" charset="-122"/>
                <a:cs typeface="Consolas" pitchFamily="34" charset="-120"/>
              </a:rPr>
              <a:t>## Team</a:t>
            </a:r>
            <a:pPr indent="0" marL="0">
              <a:lnSpc>
                <a:spcPct val="128000"/>
              </a:lnSpc>
              <a:buNone/>
            </a:pPr>
            <a:r>
              <a:rPr lang="en-US" sz="1250" dirty="0">
                <a:solidFill>
                  <a:srgbClr val="7C8CA5"/>
                </a:solidFill>
                <a:latin typeface="Consolas" pitchFamily="34" charset="0"/>
                <a:ea typeface="Consolas" pitchFamily="34" charset="-122"/>
                <a:cs typeface="Consolas" pitchFamily="34" charset="-120"/>
              </a:rPr>
              <a:t>        names + roles</a:t>
            </a:r>
            <a:endParaRPr lang="en-US" sz="1250" dirty="0"/>
          </a:p>
        </p:txBody>
      </p:sp>
      <p:sp>
        <p:nvSpPr>
          <p:cNvPr id="12" name="Text 9"/>
          <p:cNvSpPr/>
          <p:nvPr/>
        </p:nvSpPr>
        <p:spPr>
          <a:xfrm>
            <a:off x="6949440" y="1737360"/>
            <a:ext cx="4663440" cy="2103120"/>
          </a:xfrm>
          <a:prstGeom prst="rect">
            <a:avLst/>
          </a:prstGeom>
          <a:noFill/>
          <a:ln/>
        </p:spPr>
        <p:txBody>
          <a:bodyPr wrap="square" lIns="0" tIns="0" rIns="0" bIns="0" rtlCol="0" anchor="t"/>
          <a:lstStyle/>
          <a:p>
            <a:pPr algn="l" marL="177800" indent="-177800">
              <a:lnSpc>
                <a:spcPct val="110000"/>
              </a:lnSpc>
              <a:spcAft>
                <a:spcPts val="1200"/>
              </a:spcAft>
              <a:buSzPct val="100000"/>
              <a:buChar char="•"/>
            </a:pPr>
            <a:r>
              <a:rPr lang="en-US" sz="1500" b="1" dirty="0">
                <a:solidFill>
                  <a:srgbClr val="A3E635"/>
                </a:solidFill>
                <a:latin typeface="Calibri" pitchFamily="34" charset="0"/>
                <a:ea typeface="Calibri" pitchFamily="34" charset="-122"/>
                <a:cs typeface="Calibri" pitchFamily="34" charset="-120"/>
              </a:rPr>
              <a:t>Documentation points are the cheapest points on the rubric</a:t>
            </a:r>
            <a:endParaRPr lang="en-US" sz="1500" dirty="0"/>
          </a:p>
          <a:p>
            <a:pPr algn="l" marL="177800" indent="-177800">
              <a:lnSpc>
                <a:spcPct val="110000"/>
              </a:lnSpc>
              <a:spcAft>
                <a:spcPts val="1200"/>
              </a:spcAft>
              <a:buSzPct val="100000"/>
              <a:buChar char="•"/>
            </a:pPr>
            <a:r>
              <a:rPr lang="en-US" sz="1500" dirty="0">
                <a:solidFill>
                  <a:srgbClr val="F1F5F9"/>
                </a:solidFill>
                <a:latin typeface="Calibri" pitchFamily="34" charset="0"/>
                <a:ea typeface="Calibri" pitchFamily="34" charset="-122"/>
                <a:cs typeface="Calibri" pitchFamily="34" charset="-120"/>
              </a:rPr>
              <a:t>Write it as you go — not at 3 AM</a:t>
            </a:r>
            <a:endParaRPr lang="en-US" sz="1500" dirty="0"/>
          </a:p>
          <a:p>
            <a:pPr algn="l" marL="177800" indent="-177800">
              <a:lnSpc>
                <a:spcPct val="110000"/>
              </a:lnSpc>
              <a:spcAft>
                <a:spcPts val="1200"/>
              </a:spcAft>
              <a:buSzPct val="100000"/>
              <a:buChar char="•"/>
            </a:pPr>
            <a:r>
              <a:rPr lang="en-US" sz="1500" dirty="0">
                <a:solidFill>
                  <a:srgbClr val="F1F5F9"/>
                </a:solidFill>
                <a:latin typeface="Calibri" pitchFamily="34" charset="0"/>
                <a:ea typeface="Calibri" pitchFamily="34" charset="-122"/>
                <a:cs typeface="Calibri" pitchFamily="34" charset="-120"/>
              </a:rPr>
              <a:t>Live-demo link near the top — judges click it</a:t>
            </a:r>
            <a:endParaRPr lang="en-US" sz="1500" dirty="0"/>
          </a:p>
        </p:txBody>
      </p:sp>
      <p:sp>
        <p:nvSpPr>
          <p:cNvPr id="13" name="Shape 10"/>
          <p:cNvSpPr/>
          <p:nvPr/>
        </p:nvSpPr>
        <p:spPr>
          <a:xfrm>
            <a:off x="6949440" y="3977640"/>
            <a:ext cx="4690872" cy="1554480"/>
          </a:xfrm>
          <a:prstGeom prst="roundRect">
            <a:avLst>
              <a:gd name="adj" fmla="val 5294"/>
            </a:avLst>
          </a:prstGeom>
          <a:solidFill>
            <a:srgbClr val="141E33"/>
          </a:solidFill>
          <a:ln/>
          <a:effectLst>
            <a:outerShdw sx="100000" sy="100000" kx="0" ky="0" algn="bl" rotWithShape="0" blurRad="114300" dist="38100" dir="5400000">
              <a:srgbClr val="000000">
                <a:alpha val="45000"/>
              </a:srgbClr>
            </a:outerShdw>
          </a:effectLst>
        </p:spPr>
      </p:sp>
      <p:sp>
        <p:nvSpPr>
          <p:cNvPr id="14" name="Text 11"/>
          <p:cNvSpPr/>
          <p:nvPr/>
        </p:nvSpPr>
        <p:spPr>
          <a:xfrm>
            <a:off x="7223760" y="3977640"/>
            <a:ext cx="4206240" cy="1554480"/>
          </a:xfrm>
          <a:prstGeom prst="rect">
            <a:avLst/>
          </a:prstGeom>
          <a:noFill/>
          <a:ln/>
        </p:spPr>
        <p:txBody>
          <a:bodyPr wrap="square" lIns="0" tIns="0" rIns="0" bIns="0" rtlCol="0" anchor="ctr"/>
          <a:lstStyle/>
          <a:p>
            <a:pPr indent="0" marL="0">
              <a:lnSpc>
                <a:spcPct val="120000"/>
              </a:lnSpc>
              <a:buNone/>
            </a:pPr>
            <a:r>
              <a:rPr lang="en-US" sz="1350" dirty="0">
                <a:solidFill>
                  <a:srgbClr val="7C8CA5"/>
                </a:solidFill>
                <a:latin typeface="Consolas" pitchFamily="34" charset="0"/>
                <a:ea typeface="Consolas" pitchFamily="34" charset="-122"/>
                <a:cs typeface="Consolas" pitchFamily="34" charset="-120"/>
              </a:rPr>
              <a:t>// comments
</a:t>
            </a:r>
            <a:pPr indent="0" marL="0">
              <a:lnSpc>
                <a:spcPct val="120000"/>
              </a:lnSpc>
              <a:buNone/>
            </a:pPr>
            <a:r>
              <a:rPr lang="en-US" sz="1350" dirty="0">
                <a:solidFill>
                  <a:srgbClr val="F1F5F9"/>
                </a:solidFill>
                <a:latin typeface="Consolas" pitchFamily="34" charset="0"/>
                <a:ea typeface="Consolas" pitchFamily="34" charset="-122"/>
                <a:cs typeface="Consolas" pitchFamily="34" charset="-120"/>
              </a:rPr>
              <a:t>explain WHY, not what —</a:t>
            </a:r>
            <a:endParaRPr lang="en-US" sz="1350" dirty="0"/>
          </a:p>
          <a:p>
            <a:pPr indent="0" marL="0">
              <a:lnSpc>
                <a:spcPct val="120000"/>
              </a:lnSpc>
              <a:buNone/>
            </a:pPr>
            <a:r>
              <a:rPr lang="en-US" sz="1350" dirty="0">
                <a:solidFill>
                  <a:srgbClr val="F1F5F9"/>
                </a:solidFill>
                <a:latin typeface="Consolas" pitchFamily="34" charset="0"/>
                <a:ea typeface="Consolas" pitchFamily="34" charset="-122"/>
                <a:cs typeface="Consolas" pitchFamily="34" charset="-120"/>
              </a:rPr>
              <a:t>the tricky bits, not obvious lines</a:t>
            </a:r>
            <a:endParaRPr lang="en-US" sz="13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201168"/>
            <a:ext cx="8229600" cy="256032"/>
          </a:xfrm>
          <a:prstGeom prst="rect">
            <a:avLst/>
          </a:prstGeom>
          <a:noFill/>
          <a:ln/>
        </p:spPr>
        <p:txBody>
          <a:bodyPr wrap="square" lIns="0" tIns="0" rIns="0" bIns="0" rtlCol="0" anchor="ctr"/>
          <a:lstStyle/>
          <a:p>
            <a:pPr indent="0" marL="0">
              <a:buNone/>
            </a:pPr>
            <a:r>
              <a:rPr lang="en-US" sz="1300" spc="200" kern="0" dirty="0">
                <a:solidFill>
                  <a:srgbClr val="22D3EE"/>
                </a:solidFill>
                <a:latin typeface="Consolas" pitchFamily="34" charset="0"/>
                <a:ea typeface="Consolas" pitchFamily="34" charset="-122"/>
                <a:cs typeface="Consolas" pitchFamily="34" charset="-120"/>
              </a:rPr>
              <a:t>MODULE 17 — MISTAKES &amp; LESSONS</a:t>
            </a:r>
            <a:endParaRPr lang="en-US" sz="1300" dirty="0"/>
          </a:p>
        </p:txBody>
      </p:sp>
      <p:sp>
        <p:nvSpPr>
          <p:cNvPr id="3" name="Text 1"/>
          <p:cNvSpPr/>
          <p:nvPr/>
        </p:nvSpPr>
        <p:spPr>
          <a:xfrm>
            <a:off x="548640" y="457200"/>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Mistake → Fix</a:t>
            </a:r>
            <a:endParaRPr lang="en-US" sz="3400" dirty="0"/>
          </a:p>
        </p:txBody>
      </p:sp>
      <p:sp>
        <p:nvSpPr>
          <p:cNvPr id="4" name="Text 2"/>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70</a:t>
            </a:r>
            <a:endParaRPr lang="en-US" sz="1000" dirty="0"/>
          </a:p>
        </p:txBody>
      </p:sp>
      <p:sp>
        <p:nvSpPr>
          <p:cNvPr id="6" name="Text 3"/>
          <p:cNvSpPr/>
          <p:nvPr/>
        </p:nvSpPr>
        <p:spPr>
          <a:xfrm>
            <a:off x="548640" y="1417320"/>
            <a:ext cx="5394960" cy="292608"/>
          </a:xfrm>
          <a:prstGeom prst="rect">
            <a:avLst/>
          </a:prstGeom>
          <a:noFill/>
          <a:ln/>
        </p:spPr>
        <p:txBody>
          <a:bodyPr wrap="square" lIns="0" tIns="0" rIns="0" bIns="0" rtlCol="0" anchor="ctr"/>
          <a:lstStyle/>
          <a:p>
            <a:pPr indent="0" marL="0">
              <a:buNone/>
            </a:pPr>
            <a:r>
              <a:rPr lang="en-US" sz="1200" spc="200" kern="0" dirty="0">
                <a:solidFill>
                  <a:srgbClr val="22D3EE"/>
                </a:solidFill>
                <a:latin typeface="Consolas" pitchFamily="34" charset="0"/>
                <a:ea typeface="Consolas" pitchFamily="34" charset="-122"/>
                <a:cs typeface="Consolas" pitchFamily="34" charset="-120"/>
              </a:rPr>
              <a:t>CHOOSING &amp; SCOPING</a:t>
            </a:r>
            <a:endParaRPr lang="en-US" sz="1200" dirty="0"/>
          </a:p>
        </p:txBody>
      </p:sp>
      <p:sp>
        <p:nvSpPr>
          <p:cNvPr id="7" name="Text 4"/>
          <p:cNvSpPr/>
          <p:nvPr/>
        </p:nvSpPr>
        <p:spPr>
          <a:xfrm>
            <a:off x="548640" y="1783080"/>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Imaginary problem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validate with real users</a:t>
            </a:r>
            <a:endParaRPr lang="en-US" sz="1250" dirty="0"/>
          </a:p>
        </p:txBody>
      </p:sp>
      <p:sp>
        <p:nvSpPr>
          <p:cNvPr id="8" name="Text 5"/>
          <p:cNvSpPr/>
          <p:nvPr/>
        </p:nvSpPr>
        <p:spPr>
          <a:xfrm>
            <a:off x="548640" y="2121408"/>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Problem too big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one persona + one pain</a:t>
            </a:r>
            <a:endParaRPr lang="en-US" sz="1250" dirty="0"/>
          </a:p>
        </p:txBody>
      </p:sp>
      <p:sp>
        <p:nvSpPr>
          <p:cNvPr id="9" name="Text 6"/>
          <p:cNvSpPr/>
          <p:nvPr/>
        </p:nvSpPr>
        <p:spPr>
          <a:xfrm>
            <a:off x="548640" y="2459736"/>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First-idea love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alternatives, then choose</a:t>
            </a:r>
            <a:endParaRPr lang="en-US" sz="1250" dirty="0"/>
          </a:p>
        </p:txBody>
      </p:sp>
      <p:sp>
        <p:nvSpPr>
          <p:cNvPr id="10" name="Text 7"/>
          <p:cNvSpPr/>
          <p:nvPr/>
        </p:nvSpPr>
        <p:spPr>
          <a:xfrm>
            <a:off x="548640" y="2798064"/>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Feature creep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MoSCoW — defend the “Won't”</a:t>
            </a:r>
            <a:endParaRPr lang="en-US" sz="1250" dirty="0"/>
          </a:p>
        </p:txBody>
      </p:sp>
      <p:sp>
        <p:nvSpPr>
          <p:cNvPr id="11" name="Text 8"/>
          <p:cNvSpPr/>
          <p:nvPr/>
        </p:nvSpPr>
        <p:spPr>
          <a:xfrm>
            <a:off x="548640" y="3392424"/>
            <a:ext cx="5394960" cy="292608"/>
          </a:xfrm>
          <a:prstGeom prst="rect">
            <a:avLst/>
          </a:prstGeom>
          <a:noFill/>
          <a:ln/>
        </p:spPr>
        <p:txBody>
          <a:bodyPr wrap="square" lIns="0" tIns="0" rIns="0" bIns="0" rtlCol="0" anchor="ctr"/>
          <a:lstStyle/>
          <a:p>
            <a:pPr indent="0" marL="0">
              <a:buNone/>
            </a:pPr>
            <a:r>
              <a:rPr lang="en-US" sz="1200" spc="200" kern="0" dirty="0">
                <a:solidFill>
                  <a:srgbClr val="22D3EE"/>
                </a:solidFill>
                <a:latin typeface="Consolas" pitchFamily="34" charset="0"/>
                <a:ea typeface="Consolas" pitchFamily="34" charset="-122"/>
                <a:cs typeface="Consolas" pitchFamily="34" charset="-120"/>
              </a:rPr>
              <a:t>TECH CHOICES</a:t>
            </a:r>
            <a:endParaRPr lang="en-US" sz="1200" dirty="0"/>
          </a:p>
        </p:txBody>
      </p:sp>
      <p:sp>
        <p:nvSpPr>
          <p:cNvPr id="12" name="Text 9"/>
          <p:cNvSpPr/>
          <p:nvPr/>
        </p:nvSpPr>
        <p:spPr>
          <a:xfrm>
            <a:off x="548640" y="3758184"/>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New framework mid-event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known tools only</a:t>
            </a:r>
            <a:endParaRPr lang="en-US" sz="1250" dirty="0"/>
          </a:p>
        </p:txBody>
      </p:sp>
      <p:sp>
        <p:nvSpPr>
          <p:cNvPr id="13" name="Text 10"/>
          <p:cNvSpPr/>
          <p:nvPr/>
        </p:nvSpPr>
        <p:spPr>
          <a:xfrm>
            <a:off x="548640" y="4096512"/>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Auth/payments from scratch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integrate providers</a:t>
            </a:r>
            <a:endParaRPr lang="en-US" sz="1250" dirty="0"/>
          </a:p>
        </p:txBody>
      </p:sp>
      <p:sp>
        <p:nvSpPr>
          <p:cNvPr id="14" name="Text 11"/>
          <p:cNvSpPr/>
          <p:nvPr/>
        </p:nvSpPr>
        <p:spPr>
          <a:xfrm>
            <a:off x="548640" y="4434840"/>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Microservices / k8s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monolith + managed services</a:t>
            </a:r>
            <a:endParaRPr lang="en-US" sz="1250" dirty="0"/>
          </a:p>
        </p:txBody>
      </p:sp>
      <p:sp>
        <p:nvSpPr>
          <p:cNvPr id="15" name="Text 12"/>
          <p:cNvSpPr/>
          <p:nvPr/>
        </p:nvSpPr>
        <p:spPr>
          <a:xfrm>
            <a:off x="6263640" y="1417320"/>
            <a:ext cx="5394960" cy="292608"/>
          </a:xfrm>
          <a:prstGeom prst="rect">
            <a:avLst/>
          </a:prstGeom>
          <a:noFill/>
          <a:ln/>
        </p:spPr>
        <p:txBody>
          <a:bodyPr wrap="square" lIns="0" tIns="0" rIns="0" bIns="0" rtlCol="0" anchor="ctr"/>
          <a:lstStyle/>
          <a:p>
            <a:pPr indent="0" marL="0">
              <a:buNone/>
            </a:pPr>
            <a:r>
              <a:rPr lang="en-US" sz="1200" spc="200" kern="0" dirty="0">
                <a:solidFill>
                  <a:srgbClr val="22D3EE"/>
                </a:solidFill>
                <a:latin typeface="Consolas" pitchFamily="34" charset="0"/>
                <a:ea typeface="Consolas" pitchFamily="34" charset="-122"/>
                <a:cs typeface="Consolas" pitchFamily="34" charset="-120"/>
              </a:rPr>
              <a:t>BUILDING</a:t>
            </a:r>
            <a:endParaRPr lang="en-US" sz="1200" dirty="0"/>
          </a:p>
        </p:txBody>
      </p:sp>
      <p:sp>
        <p:nvSpPr>
          <p:cNvPr id="16" name="Text 13"/>
          <p:cNvSpPr/>
          <p:nvPr/>
        </p:nvSpPr>
        <p:spPr>
          <a:xfrm>
            <a:off x="6263640" y="1783080"/>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No deploy until the end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hello-world in hour one</a:t>
            </a:r>
            <a:endParaRPr lang="en-US" sz="1250" dirty="0"/>
          </a:p>
        </p:txBody>
      </p:sp>
      <p:sp>
        <p:nvSpPr>
          <p:cNvPr id="17" name="Text 14"/>
          <p:cNvSpPr/>
          <p:nvPr/>
        </p:nvSpPr>
        <p:spPr>
          <a:xfrm>
            <a:off x="6263640" y="2121408"/>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Breadth before a slice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vertical slice first</a:t>
            </a:r>
            <a:endParaRPr lang="en-US" sz="1250" dirty="0"/>
          </a:p>
        </p:txBody>
      </p:sp>
      <p:sp>
        <p:nvSpPr>
          <p:cNvPr id="18" name="Text 15"/>
          <p:cNvSpPr/>
          <p:nvPr/>
        </p:nvSpPr>
        <p:spPr>
          <a:xfrm>
            <a:off x="6263640" y="2459736"/>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Hard-coded secrets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env vars + .gitignore</a:t>
            </a:r>
            <a:endParaRPr lang="en-US" sz="1250" dirty="0"/>
          </a:p>
        </p:txBody>
      </p:sp>
      <p:sp>
        <p:nvSpPr>
          <p:cNvPr id="19" name="Text 16"/>
          <p:cNvSpPr/>
          <p:nvPr/>
        </p:nvSpPr>
        <p:spPr>
          <a:xfrm>
            <a:off x="6263640" y="2798064"/>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Stacked integrations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one at a time, tested</a:t>
            </a:r>
            <a:endParaRPr lang="en-US" sz="1250" dirty="0"/>
          </a:p>
        </p:txBody>
      </p:sp>
      <p:sp>
        <p:nvSpPr>
          <p:cNvPr id="20" name="Text 17"/>
          <p:cNvSpPr/>
          <p:nvPr/>
        </p:nvSpPr>
        <p:spPr>
          <a:xfrm>
            <a:off x="6263640" y="3392424"/>
            <a:ext cx="5394960" cy="292608"/>
          </a:xfrm>
          <a:prstGeom prst="rect">
            <a:avLst/>
          </a:prstGeom>
          <a:noFill/>
          <a:ln/>
        </p:spPr>
        <p:txBody>
          <a:bodyPr wrap="square" lIns="0" tIns="0" rIns="0" bIns="0" rtlCol="0" anchor="ctr"/>
          <a:lstStyle/>
          <a:p>
            <a:pPr indent="0" marL="0">
              <a:buNone/>
            </a:pPr>
            <a:r>
              <a:rPr lang="en-US" sz="1200" spc="200" kern="0" dirty="0">
                <a:solidFill>
                  <a:srgbClr val="22D3EE"/>
                </a:solidFill>
                <a:latin typeface="Consolas" pitchFamily="34" charset="0"/>
                <a:ea typeface="Consolas" pitchFamily="34" charset="-122"/>
                <a:cs typeface="Consolas" pitchFamily="34" charset="-120"/>
              </a:rPr>
              <a:t>TEST · DEMO · TEAM</a:t>
            </a:r>
            <a:endParaRPr lang="en-US" sz="1200" dirty="0"/>
          </a:p>
        </p:txBody>
      </p:sp>
      <p:sp>
        <p:nvSpPr>
          <p:cNvPr id="21" name="Text 18"/>
          <p:cNvSpPr/>
          <p:nvPr/>
        </p:nvSpPr>
        <p:spPr>
          <a:xfrm>
            <a:off x="6263640" y="3758184"/>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Only tested on localhost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test the deployed build</a:t>
            </a:r>
            <a:endParaRPr lang="en-US" sz="1250" dirty="0"/>
          </a:p>
        </p:txBody>
      </p:sp>
      <p:sp>
        <p:nvSpPr>
          <p:cNvPr id="22" name="Text 19"/>
          <p:cNvSpPr/>
          <p:nvPr/>
        </p:nvSpPr>
        <p:spPr>
          <a:xfrm>
            <a:off x="6263640" y="4096512"/>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Last-minute code changes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freeze + tag the build</a:t>
            </a:r>
            <a:endParaRPr lang="en-US" sz="1250" dirty="0"/>
          </a:p>
        </p:txBody>
      </p:sp>
      <p:sp>
        <p:nvSpPr>
          <p:cNvPr id="23" name="Text 20"/>
          <p:cNvSpPr/>
          <p:nvPr/>
        </p:nvSpPr>
        <p:spPr>
          <a:xfrm>
            <a:off x="6263640" y="4434840"/>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No Git · one shared file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Git from minute one</a:t>
            </a:r>
            <a:endParaRPr lang="en-US" sz="1250" dirty="0"/>
          </a:p>
        </p:txBody>
      </p:sp>
      <p:sp>
        <p:nvSpPr>
          <p:cNvPr id="24" name="Text 21"/>
          <p:cNvSpPr/>
          <p:nvPr/>
        </p:nvSpPr>
        <p:spPr>
          <a:xfrm>
            <a:off x="6263640" y="4773168"/>
            <a:ext cx="5394960" cy="310896"/>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 </a:t>
            </a:r>
            <a:pPr indent="0" marL="0">
              <a:buNone/>
            </a:pPr>
            <a:r>
              <a:rPr lang="en-US" sz="1250" dirty="0">
                <a:solidFill>
                  <a:srgbClr val="F1F5F9"/>
                </a:solidFill>
                <a:latin typeface="Calibri" pitchFamily="34" charset="0"/>
                <a:ea typeface="Calibri" pitchFamily="34" charset="-122"/>
                <a:cs typeface="Calibri" pitchFamily="34" charset="-120"/>
              </a:rPr>
              <a:t>No sleep · no README  </a:t>
            </a:r>
            <a:pPr indent="0" marL="0">
              <a:buNone/>
            </a:pPr>
            <a:r>
              <a:rPr lang="en-US" sz="1250" dirty="0">
                <a:solidFill>
                  <a:srgbClr val="7C8CA5"/>
                </a:solidFill>
                <a:latin typeface="Calibri" pitchFamily="34" charset="0"/>
                <a:ea typeface="Calibri" pitchFamily="34" charset="-122"/>
                <a:cs typeface="Calibri" pitchFamily="34" charset="-120"/>
              </a:rPr>
              <a:t>→ </a:t>
            </a:r>
            <a:pPr indent="0" marL="0">
              <a:buNone/>
            </a:pPr>
            <a:r>
              <a:rPr lang="en-US" sz="1250" dirty="0">
                <a:solidFill>
                  <a:srgbClr val="A3E635"/>
                </a:solidFill>
                <a:latin typeface="Calibri" pitchFamily="34" charset="0"/>
                <a:ea typeface="Calibri" pitchFamily="34" charset="-122"/>
                <a:cs typeface="Calibri" pitchFamily="34" charset="-120"/>
              </a:rPr>
              <a:t>✓ rest in shifts · docs as you go</a:t>
            </a:r>
            <a:endParaRPr lang="en-US" sz="1250" dirty="0"/>
          </a:p>
        </p:txBody>
      </p:sp>
      <p:sp>
        <p:nvSpPr>
          <p:cNvPr id="25" name="Text 22"/>
          <p:cNvSpPr/>
          <p:nvPr/>
        </p:nvSpPr>
        <p:spPr>
          <a:xfrm>
            <a:off x="548640" y="5897880"/>
            <a:ext cx="11091672" cy="320040"/>
          </a:xfrm>
          <a:prstGeom prst="rect">
            <a:avLst/>
          </a:prstGeom>
          <a:noFill/>
          <a:ln/>
        </p:spPr>
        <p:txBody>
          <a:bodyPr wrap="square" lIns="0" tIns="0" rIns="0" bIns="0" rtlCol="0" anchor="ctr"/>
          <a:lstStyle/>
          <a:p>
            <a:pPr algn="ctr" indent="0" marL="0">
              <a:buNone/>
            </a:pPr>
            <a:r>
              <a:rPr lang="en-US" sz="1300" dirty="0">
                <a:solidFill>
                  <a:srgbClr val="22D3EE"/>
                </a:solidFill>
                <a:latin typeface="Consolas" pitchFamily="34" charset="0"/>
                <a:ea typeface="Consolas" pitchFamily="34" charset="-122"/>
                <a:cs typeface="Consolas" pitchFamily="34" charset="-120"/>
              </a:rPr>
              <a:t>every fix is something you set up in the first hour</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47472"/>
            <a:ext cx="11091672" cy="713232"/>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What Winning Teams Do</a:t>
            </a:r>
            <a:endParaRPr lang="en-US" sz="3400" dirty="0"/>
          </a:p>
        </p:txBody>
      </p:sp>
      <p:sp>
        <p:nvSpPr>
          <p:cNvPr id="3" name="Text 1"/>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71</a:t>
            </a:r>
            <a:endParaRPr lang="en-US" sz="1000" dirty="0"/>
          </a:p>
        </p:txBody>
      </p:sp>
      <p:sp>
        <p:nvSpPr>
          <p:cNvPr id="5" name="Text 2"/>
          <p:cNvSpPr/>
          <p:nvPr/>
        </p:nvSpPr>
        <p:spPr>
          <a:xfrm>
            <a:off x="548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LESSONS FROM WINNING TEAMS — 17.2</a:t>
            </a:r>
            <a:endParaRPr lang="en-US" sz="1400" dirty="0"/>
          </a:p>
        </p:txBody>
      </p:sp>
      <p:sp>
        <p:nvSpPr>
          <p:cNvPr id="6" name="Text 3"/>
          <p:cNvSpPr/>
          <p:nvPr/>
        </p:nvSpPr>
        <p:spPr>
          <a:xfrm>
            <a:off x="548640" y="1783080"/>
            <a:ext cx="5394960" cy="4023360"/>
          </a:xfrm>
          <a:prstGeom prst="rect">
            <a:avLst/>
          </a:prstGeom>
          <a:noFill/>
          <a:ln/>
        </p:spPr>
        <p:txBody>
          <a:bodyPr wrap="square" lIns="0" tIns="0" rIns="0" bIns="0" rtlCol="0" anchor="t"/>
          <a:lstStyle/>
          <a:p>
            <a:pPr algn="l" marL="177800" indent="-177800">
              <a:lnSpc>
                <a:spcPct val="110000"/>
              </a:lnSpc>
              <a:spcAft>
                <a:spcPts val="900"/>
              </a:spcAft>
              <a:buSzPct val="100000"/>
              <a:buChar char="•"/>
            </a:pPr>
            <a:r>
              <a:rPr lang="en-US" sz="1450" b="1" dirty="0">
                <a:solidFill>
                  <a:srgbClr val="A3E635"/>
                </a:solidFill>
                <a:latin typeface="Calibri" pitchFamily="34" charset="0"/>
                <a:ea typeface="Calibri" pitchFamily="34" charset="-122"/>
                <a:cs typeface="Calibri" pitchFamily="34" charset="-120"/>
              </a:rPr>
              <a:t>Scope tiny and finish — one polished feature + a delighter</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Deploy day one · keep main always working</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Integrate, not reinvent</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Attack the scariest risk first — spike it, pivot early</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Document + diagram — make engineering legible</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Test the demo path on the real deployed build</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Rest — clear heads ship working software</a:t>
            </a:r>
            <a:endParaRPr lang="en-US" sz="1450" dirty="0"/>
          </a:p>
        </p:txBody>
      </p:sp>
      <p:sp>
        <p:nvSpPr>
          <p:cNvPr id="7" name="Text 4"/>
          <p:cNvSpPr/>
          <p:nvPr/>
        </p:nvSpPr>
        <p:spPr>
          <a:xfrm>
            <a:off x="6263640" y="1371600"/>
            <a:ext cx="5394960" cy="292608"/>
          </a:xfrm>
          <a:prstGeom prst="rect">
            <a:avLst/>
          </a:prstGeom>
          <a:noFill/>
          <a:ln/>
        </p:spPr>
        <p:txBody>
          <a:bodyPr wrap="square" lIns="0" tIns="0" rIns="0" bIns="0" rtlCol="0" anchor="ctr"/>
          <a:lstStyle/>
          <a:p>
            <a:pPr indent="0" marL="0">
              <a:buNone/>
            </a:pPr>
            <a:r>
              <a:rPr lang="en-US" sz="1400" spc="200" kern="0" dirty="0">
                <a:solidFill>
                  <a:srgbClr val="22D3EE"/>
                </a:solidFill>
                <a:latin typeface="Consolas" pitchFamily="34" charset="0"/>
                <a:ea typeface="Consolas" pitchFamily="34" charset="-122"/>
                <a:cs typeface="Consolas" pitchFamily="34" charset="-120"/>
              </a:rPr>
              <a:t>TRANSFERS TO REAL ENGINEERING — 17.3</a:t>
            </a:r>
            <a:endParaRPr lang="en-US" sz="1400" dirty="0"/>
          </a:p>
        </p:txBody>
      </p:sp>
      <p:sp>
        <p:nvSpPr>
          <p:cNvPr id="8" name="Text 5"/>
          <p:cNvSpPr/>
          <p:nvPr/>
        </p:nvSpPr>
        <p:spPr>
          <a:xfrm>
            <a:off x="6263640" y="1783080"/>
            <a:ext cx="5394960" cy="3017520"/>
          </a:xfrm>
          <a:prstGeom prst="rect">
            <a:avLst/>
          </a:prstGeom>
          <a:noFill/>
          <a:ln/>
        </p:spPr>
        <p:txBody>
          <a:bodyPr wrap="square" lIns="0" tIns="0" rIns="0" bIns="0" rtlCol="0" anchor="t"/>
          <a:lstStyle/>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Version control · PRs · small commits</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Design before building · contracts → parallel work</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Env-var secrets + security hygiene</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Deploy-early / continuous deployment</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Read errors · debug methodically</a:t>
            </a:r>
            <a:endParaRPr lang="en-US" sz="1450" dirty="0"/>
          </a:p>
          <a:p>
            <a:pPr algn="l" marL="177800" indent="-177800">
              <a:lnSpc>
                <a:spcPct val="110000"/>
              </a:lnSpc>
              <a:spcAft>
                <a:spcPts val="900"/>
              </a:spcAft>
              <a:buSzPct val="100000"/>
              <a:buChar char="•"/>
            </a:pPr>
            <a:r>
              <a:rPr lang="en-US" sz="1450" dirty="0">
                <a:solidFill>
                  <a:srgbClr val="F1F5F9"/>
                </a:solidFill>
                <a:latin typeface="Calibri" pitchFamily="34" charset="0"/>
                <a:ea typeface="Calibri" pitchFamily="34" charset="-122"/>
                <a:cs typeface="Calibri" pitchFamily="34" charset="-120"/>
              </a:rPr>
              <a:t>Managed services &amp; APIs to move fast</a:t>
            </a:r>
            <a:endParaRPr lang="en-US" sz="1450" dirty="0"/>
          </a:p>
        </p:txBody>
      </p:sp>
      <p:sp>
        <p:nvSpPr>
          <p:cNvPr id="9" name="Shape 6"/>
          <p:cNvSpPr/>
          <p:nvPr/>
        </p:nvSpPr>
        <p:spPr>
          <a:xfrm>
            <a:off x="6263640" y="5074920"/>
            <a:ext cx="5376672" cy="777240"/>
          </a:xfrm>
          <a:prstGeom prst="roundRect">
            <a:avLst>
              <a:gd name="adj" fmla="val 10588"/>
            </a:avLst>
          </a:prstGeom>
          <a:solidFill>
            <a:srgbClr val="1B2842"/>
          </a:solidFill>
          <a:ln/>
          <a:effectLst>
            <a:outerShdw sx="100000" sy="100000" kx="0" ky="0" algn="bl" rotWithShape="0" blurRad="114300" dist="38100" dir="5400000">
              <a:srgbClr val="000000">
                <a:alpha val="45000"/>
              </a:srgbClr>
            </a:outerShdw>
          </a:effectLst>
        </p:spPr>
      </p:sp>
      <p:sp>
        <p:nvSpPr>
          <p:cNvPr id="10" name="Text 7"/>
          <p:cNvSpPr/>
          <p:nvPr/>
        </p:nvSpPr>
        <p:spPr>
          <a:xfrm>
            <a:off x="6537960" y="5074920"/>
            <a:ext cx="4846320" cy="777240"/>
          </a:xfrm>
          <a:prstGeom prst="rect">
            <a:avLst/>
          </a:prstGeom>
          <a:noFill/>
          <a:ln/>
        </p:spPr>
        <p:txBody>
          <a:bodyPr wrap="square" lIns="0" tIns="0" rIns="0" bIns="0" rtlCol="0" anchor="ctr"/>
          <a:lstStyle/>
          <a:p>
            <a:pPr indent="0" marL="0">
              <a:buNone/>
            </a:pPr>
            <a:r>
              <a:rPr lang="en-US" sz="1400" i="1" dirty="0">
                <a:solidFill>
                  <a:srgbClr val="F1F5F9"/>
                </a:solidFill>
                <a:latin typeface="Calibri" pitchFamily="34" charset="0"/>
                <a:ea typeface="Calibri" pitchFamily="34" charset="-122"/>
                <a:cs typeface="Calibri" pitchFamily="34" charset="-120"/>
              </a:rPr>
              <a:t>A hackathon = professional software work, compressed.</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B1220"/>
        </a:solidFill>
      </p:bgPr>
    </p:bg>
    <p:spTree>
      <p:nvGrpSpPr>
        <p:cNvPr id="1" name=""/>
        <p:cNvGrpSpPr/>
        <p:nvPr/>
      </p:nvGrpSpPr>
      <p:grpSpPr>
        <a:xfrm>
          <a:off x="0" y="0"/>
          <a:ext cx="0" cy="0"/>
          <a:chOff x="0" y="0"/>
          <a:chExt cx="0" cy="0"/>
        </a:xfrm>
      </p:grpSpPr>
      <p:pic>
        <p:nvPicPr>
          <p:cNvPr id="2" name="Image 0" descr="C:\Users\User\AppData\Local\Temp\claude\C--Users-User-OneDrive-Music-Hackathon\67e3d9e6-0718-4380-8c09-13d83fcd8fa7\scratchpad\pptbuild\v2\assets\dotgri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1554480"/>
            <a:ext cx="11091672" cy="320040"/>
          </a:xfrm>
          <a:prstGeom prst="rect">
            <a:avLst/>
          </a:prstGeom>
          <a:noFill/>
          <a:ln/>
        </p:spPr>
        <p:txBody>
          <a:bodyPr wrap="square" lIns="0" tIns="0" rIns="0" bIns="0" rtlCol="0" anchor="ctr"/>
          <a:lstStyle/>
          <a:p>
            <a:pPr algn="ctr" indent="0" marL="0">
              <a:buNone/>
            </a:pPr>
            <a:r>
              <a:rPr lang="en-US" sz="1400" spc="400" kern="0" dirty="0">
                <a:solidFill>
                  <a:srgbClr val="7C8CA5"/>
                </a:solidFill>
                <a:latin typeface="Consolas" pitchFamily="34" charset="0"/>
                <a:ea typeface="Consolas" pitchFamily="34" charset="-122"/>
                <a:cs typeface="Consolas" pitchFamily="34" charset="-120"/>
              </a:rPr>
              <a:t>THE TECHNICAL HACKATHON PLAYBOOK — WRAP</a:t>
            </a:r>
            <a:endParaRPr lang="en-US" sz="1400" dirty="0"/>
          </a:p>
        </p:txBody>
      </p:sp>
      <p:sp>
        <p:nvSpPr>
          <p:cNvPr id="4" name="Text 1"/>
          <p:cNvSpPr/>
          <p:nvPr/>
        </p:nvSpPr>
        <p:spPr>
          <a:xfrm>
            <a:off x="548640" y="2011680"/>
            <a:ext cx="11091672" cy="2194560"/>
          </a:xfrm>
          <a:prstGeom prst="rect">
            <a:avLst/>
          </a:prstGeom>
          <a:noFill/>
          <a:ln/>
        </p:spPr>
        <p:txBody>
          <a:bodyPr wrap="square" lIns="0" tIns="0" rIns="0" bIns="0" rtlCol="0" anchor="ctr"/>
          <a:lstStyle/>
          <a:p>
            <a:pPr algn="ctr" indent="0" marL="0">
              <a:buNone/>
            </a:pPr>
            <a:r>
              <a:rPr lang="en-US" sz="5000" dirty="0">
                <a:solidFill>
                  <a:srgbClr val="FFFFFF"/>
                </a:solidFill>
                <a:latin typeface="Arial Black" pitchFamily="34" charset="0"/>
                <a:ea typeface="Arial Black" pitchFamily="34" charset="-122"/>
                <a:cs typeface="Arial Black" pitchFamily="34" charset="-120"/>
              </a:rPr>
              <a:t>Ship small. Ship working.
</a:t>
            </a:r>
            <a:pPr algn="ctr" indent="0" marL="0">
              <a:buNone/>
            </a:pPr>
            <a:r>
              <a:rPr lang="en-US" sz="5000" dirty="0">
                <a:solidFill>
                  <a:srgbClr val="22D3EE"/>
                </a:solidFill>
                <a:latin typeface="Arial Black" pitchFamily="34" charset="0"/>
                <a:ea typeface="Arial Black" pitchFamily="34" charset="-122"/>
                <a:cs typeface="Arial Black" pitchFamily="34" charset="-120"/>
              </a:rPr>
              <a:t>Ship deployed.</a:t>
            </a:r>
            <a:endParaRPr lang="en-US" sz="5000" dirty="0"/>
          </a:p>
        </p:txBody>
      </p:sp>
      <p:sp>
        <p:nvSpPr>
          <p:cNvPr id="5" name="Text 2"/>
          <p:cNvSpPr/>
          <p:nvPr/>
        </p:nvSpPr>
        <p:spPr>
          <a:xfrm>
            <a:off x="1463040" y="4343400"/>
            <a:ext cx="9262872" cy="457200"/>
          </a:xfrm>
          <a:prstGeom prst="rect">
            <a:avLst/>
          </a:prstGeom>
          <a:noFill/>
          <a:ln/>
        </p:spPr>
        <p:txBody>
          <a:bodyPr wrap="square" lIns="0" tIns="0" rIns="0" bIns="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A small finished thing beats a large broken one. Every single time.</a:t>
            </a:r>
            <a:endParaRPr lang="en-US" sz="1800" dirty="0"/>
          </a:p>
        </p:txBody>
      </p:sp>
      <p:sp>
        <p:nvSpPr>
          <p:cNvPr id="6" name="Shape 3"/>
          <p:cNvSpPr/>
          <p:nvPr/>
        </p:nvSpPr>
        <p:spPr>
          <a:xfrm>
            <a:off x="4041648" y="5257800"/>
            <a:ext cx="4114800" cy="457200"/>
          </a:xfrm>
          <a:prstGeom prst="roundRect">
            <a:avLst>
              <a:gd name="adj" fmla="val 14000"/>
            </a:avLst>
          </a:prstGeom>
          <a:solidFill>
            <a:srgbClr val="141E33"/>
          </a:solidFill>
          <a:ln/>
        </p:spPr>
      </p:sp>
      <p:sp>
        <p:nvSpPr>
          <p:cNvPr id="7" name="Text 4"/>
          <p:cNvSpPr/>
          <p:nvPr/>
        </p:nvSpPr>
        <p:spPr>
          <a:xfrm>
            <a:off x="4096512" y="5257800"/>
            <a:ext cx="4005072" cy="457200"/>
          </a:xfrm>
          <a:prstGeom prst="rect">
            <a:avLst/>
          </a:prstGeom>
          <a:noFill/>
          <a:ln/>
        </p:spPr>
        <p:txBody>
          <a:bodyPr wrap="square" lIns="0" tIns="0" rIns="0" bIns="0" rtlCol="0" anchor="ctr"/>
          <a:lstStyle/>
          <a:p>
            <a:pPr algn="ctr" indent="0" marL="0">
              <a:buNone/>
            </a:pPr>
            <a:r>
              <a:rPr lang="en-US" sz="1400" dirty="0">
                <a:solidFill>
                  <a:srgbClr val="A3E635"/>
                </a:solidFill>
                <a:latin typeface="Consolas" pitchFamily="34" charset="0"/>
                <a:ea typeface="Consolas" pitchFamily="34" charset="-122"/>
                <a:cs typeface="Consolas" pitchFamily="34" charset="-120"/>
              </a:rPr>
              <a:t>&gt; questions? find me during the build_</a:t>
            </a:r>
            <a:endParaRPr lang="en-US" sz="1400" dirty="0"/>
          </a:p>
        </p:txBody>
      </p:sp>
      <p:sp>
        <p:nvSpPr>
          <p:cNvPr id="8" name="Text 5"/>
          <p:cNvSpPr/>
          <p:nvPr/>
        </p:nvSpPr>
        <p:spPr>
          <a:xfrm>
            <a:off x="11567160" y="6510528"/>
            <a:ext cx="457200" cy="256032"/>
          </a:xfrm>
          <a:prstGeom prst="rect">
            <a:avLst/>
          </a:prstGeom>
          <a:noFill/>
          <a:ln/>
        </p:spPr>
        <p:txBody>
          <a:bodyPr wrap="square" lIns="0" tIns="0" rIns="0" bIns="0" rtlCol="0" anchor="ctr"/>
          <a:lstStyle/>
          <a:p>
            <a:pPr algn="r" indent="0" marL="0">
              <a:buNone/>
            </a:pPr>
            <a:r>
              <a:rPr lang="en-US" sz="1000" dirty="0">
                <a:solidFill>
                  <a:srgbClr val="7C8CA5"/>
                </a:solidFill>
                <a:latin typeface="Consolas" pitchFamily="34" charset="0"/>
                <a:ea typeface="Consolas" pitchFamily="34" charset="-122"/>
                <a:cs typeface="Consolas" pitchFamily="34" charset="-120"/>
              </a:rPr>
              <a:t>72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Technical Hackathon Playbook — v2</dc:title>
  <dc:subject>PptxGenJS Presentation</dc:subject>
  <dc:creator>Hackathon Mentor</dc:creator>
  <cp:lastModifiedBy>Hackathon Mentor</cp:lastModifiedBy>
  <cp:revision>1</cp:revision>
  <dcterms:created xsi:type="dcterms:W3CDTF">2026-07-20T01:56:27Z</dcterms:created>
  <dcterms:modified xsi:type="dcterms:W3CDTF">2026-07-20T01:56:27Z</dcterms:modified>
</cp:coreProperties>
</file>